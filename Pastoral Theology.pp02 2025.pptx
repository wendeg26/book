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25A26F03-27FB-4D4E-A3C9-1B0B2F5A7B29}" type="datetimeFigureOut">
              <a:rPr lang="en-GB" smtClean="0"/>
              <a:t>23/04/2025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2515531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5A26F03-27FB-4D4E-A3C9-1B0B2F5A7B29}" type="datetimeFigureOut">
              <a:rPr lang="en-GB" smtClean="0"/>
              <a:t>23/04/2025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1646316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5A26F03-27FB-4D4E-A3C9-1B0B2F5A7B29}" type="datetimeFigureOut">
              <a:rPr lang="en-GB" smtClean="0"/>
              <a:t>23/04/2025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87604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25A26F03-27FB-4D4E-A3C9-1B0B2F5A7B29}" type="datetimeFigureOut">
              <a:rPr lang="en-GB" smtClean="0"/>
              <a:t>23/04/2025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3600666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25A26F03-27FB-4D4E-A3C9-1B0B2F5A7B29}" type="datetimeFigureOut">
              <a:rPr lang="en-GB" smtClean="0"/>
              <a:t>23/04/2025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1211592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25A26F03-27FB-4D4E-A3C9-1B0B2F5A7B29}" type="datetimeFigureOut">
              <a:rPr lang="en-GB" smtClean="0"/>
              <a:t>23/04/2025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2542384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A26F03-27FB-4D4E-A3C9-1B0B2F5A7B29}" type="datetimeFigureOut">
              <a:rPr lang="en-GB" smtClean="0"/>
              <a:t>23/04/2025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23448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5A26F03-27FB-4D4E-A3C9-1B0B2F5A7B29}" type="datetimeFigureOut">
              <a:rPr lang="en-GB" smtClean="0"/>
              <a:t>23/04/2025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1507121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5A26F03-27FB-4D4E-A3C9-1B0B2F5A7B29}" type="datetimeFigureOut">
              <a:rPr lang="en-GB" smtClean="0"/>
              <a:t>23/04/2025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3459053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5A26F03-27FB-4D4E-A3C9-1B0B2F5A7B29}" type="datetimeFigureOut">
              <a:rPr lang="en-GB" smtClean="0"/>
              <a:t>23/04/2025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3568320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5A26F03-27FB-4D4E-A3C9-1B0B2F5A7B29}" type="datetimeFigureOut">
              <a:rPr lang="en-GB" smtClean="0"/>
              <a:t>23/04/2025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74B3CD-E7EA-4678-A8D8-599FCCDD9489}" type="slidenum">
              <a:rPr lang="en-GB" smtClean="0"/>
              <a:t>‹#›</a:t>
            </a:fld>
            <a:endParaRPr lang="en-GB"/>
          </a:p>
        </p:txBody>
      </p:sp>
    </p:spTree>
    <p:extLst>
      <p:ext uri="{BB962C8B-B14F-4D97-AF65-F5344CB8AC3E}">
        <p14:creationId xmlns:p14="http://schemas.microsoft.com/office/powerpoint/2010/main" val="4188684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A26F03-27FB-4D4E-A3C9-1B0B2F5A7B29}" type="datetimeFigureOut">
              <a:rPr lang="en-GB" smtClean="0"/>
              <a:t>23/04/2025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74B3CD-E7EA-4678-A8D8-599FCCDD9489}" type="slidenum">
              <a:rPr lang="en-GB" smtClean="0"/>
              <a:t>‹#›</a:t>
            </a:fld>
            <a:endParaRPr lang="en-GB"/>
          </a:p>
        </p:txBody>
      </p:sp>
    </p:spTree>
    <p:extLst>
      <p:ext uri="{BB962C8B-B14F-4D97-AF65-F5344CB8AC3E}">
        <p14:creationId xmlns:p14="http://schemas.microsoft.com/office/powerpoint/2010/main" val="2070783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latin typeface="Times New Roman" pitchFamily="18" charset="0"/>
                <a:cs typeface="Times New Roman" pitchFamily="18" charset="0"/>
              </a:rPr>
              <a:t>Pastoral Theology</a:t>
            </a:r>
            <a:endParaRPr lang="en-GB"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GB" dirty="0" smtClean="0">
                <a:latin typeface="Times New Roman" pitchFamily="18" charset="0"/>
                <a:cs typeface="Times New Roman" pitchFamily="18" charset="0"/>
              </a:rPr>
              <a:t>CHAPTER ONE</a:t>
            </a: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091883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500" b="1" dirty="0">
                <a:solidFill>
                  <a:prstClr val="black"/>
                </a:solidFill>
                <a:latin typeface="Times New Roman"/>
                <a:ea typeface="Times New Roman"/>
                <a:cs typeface="+mn-cs"/>
              </a:rPr>
              <a:t>Pastoral Theology</a:t>
            </a:r>
            <a:endParaRPr lang="en-GB"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GB" dirty="0" smtClean="0">
                <a:effectLst/>
                <a:latin typeface="Times New Roman"/>
                <a:ea typeface="Times New Roman"/>
              </a:rPr>
              <a:t>is a specialized branch of practical theology that focuses on applying theological principles within the context of regular church ministry. This field seeks to bridge the gap between theoretical theology and its practical implementation in the life of the church. While it is often viewed as a means of "equipping" ministers, pastoral theology is typically considered more pragmatic than speculative, positioning it as a practical science rather than an abstract discipline. Its primary concern is to address those theological areas that directly support and enrich the ministry of clergy. Key topics within this field include homiletics, pastoral care, sacramental theology, and ethics, all of which aim to provide ministers with the knowledge and skills necessary for effective pastoral leadership.</a:t>
            </a:r>
          </a:p>
          <a:p>
            <a:endParaRPr lang="en-GB" dirty="0"/>
          </a:p>
        </p:txBody>
      </p:sp>
    </p:spTree>
    <p:extLst>
      <p:ext uri="{BB962C8B-B14F-4D97-AF65-F5344CB8AC3E}">
        <p14:creationId xmlns:p14="http://schemas.microsoft.com/office/powerpoint/2010/main" val="3179367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b="1" dirty="0" smtClean="0">
                <a:solidFill>
                  <a:prstClr val="black"/>
                </a:solidFill>
                <a:latin typeface="Times New Roman" pitchFamily="18" charset="0"/>
                <a:ea typeface="Times New Roman"/>
                <a:cs typeface="Times New Roman" pitchFamily="18" charset="0"/>
              </a:rPr>
              <a:t>Pragmatic &amp; </a:t>
            </a:r>
            <a:r>
              <a:rPr lang="en-GB" sz="2400" b="1" dirty="0">
                <a:solidFill>
                  <a:prstClr val="black"/>
                </a:solidFill>
                <a:latin typeface="Times New Roman" pitchFamily="18" charset="0"/>
                <a:ea typeface="Times New Roman"/>
                <a:cs typeface="Times New Roman" pitchFamily="18" charset="0"/>
              </a:rPr>
              <a:t>Speculative</a:t>
            </a:r>
            <a:endParaRPr lang="en-GB" sz="2400" dirty="0"/>
          </a:p>
        </p:txBody>
      </p:sp>
      <p:sp>
        <p:nvSpPr>
          <p:cNvPr id="3" name="Content Placeholder 2"/>
          <p:cNvSpPr>
            <a:spLocks noGrp="1"/>
          </p:cNvSpPr>
          <p:nvPr>
            <p:ph idx="1"/>
          </p:nvPr>
        </p:nvSpPr>
        <p:spPr/>
        <p:txBody>
          <a:bodyPr>
            <a:normAutofit/>
          </a:bodyPr>
          <a:lstStyle/>
          <a:p>
            <a:pPr marL="0" lvl="0" indent="0" algn="just">
              <a:lnSpc>
                <a:spcPct val="115000"/>
              </a:lnSpc>
              <a:spcAft>
                <a:spcPts val="1000"/>
              </a:spcAft>
              <a:buNone/>
              <a:tabLst>
                <a:tab pos="457200" algn="l"/>
              </a:tabLst>
            </a:pPr>
            <a:r>
              <a:rPr lang="en-GB" sz="1600" b="1" dirty="0" smtClean="0">
                <a:effectLst/>
                <a:latin typeface="Times New Roman" pitchFamily="18" charset="0"/>
                <a:ea typeface="Times New Roman"/>
                <a:cs typeface="Times New Roman" pitchFamily="18" charset="0"/>
              </a:rPr>
              <a:t>Pragmatic</a:t>
            </a:r>
            <a:r>
              <a:rPr lang="en-GB" sz="1600" dirty="0" smtClean="0">
                <a:effectLst/>
                <a:latin typeface="Times New Roman" pitchFamily="18" charset="0"/>
                <a:ea typeface="Times New Roman"/>
                <a:cs typeface="Times New Roman" pitchFamily="18" charset="0"/>
              </a:rPr>
              <a:t> (in the context of pastoral theology):</a:t>
            </a:r>
            <a:r>
              <a:rPr lang="en-GB" sz="1600" dirty="0" smtClean="0">
                <a:latin typeface="Times New Roman" pitchFamily="18" charset="0"/>
                <a:ea typeface="Times New Roman"/>
                <a:cs typeface="Times New Roman" pitchFamily="18" charset="0"/>
              </a:rPr>
              <a:t> </a:t>
            </a:r>
            <a:r>
              <a:rPr lang="en-GB" sz="1600" dirty="0" smtClean="0">
                <a:effectLst/>
                <a:latin typeface="Times New Roman" pitchFamily="18" charset="0"/>
                <a:ea typeface="Times New Roman"/>
                <a:cs typeface="Times New Roman" pitchFamily="18" charset="0"/>
              </a:rPr>
              <a:t>A pragmatic approach in pastoral theology would focus on methods and practices that directly aid ministers in their day-to-day ministry work. For instance, practical aspects of pastoral care—such as </a:t>
            </a:r>
            <a:r>
              <a:rPr lang="en-GB" sz="1600" dirty="0" err="1" smtClean="0">
                <a:effectLst/>
                <a:latin typeface="Times New Roman" pitchFamily="18" charset="0"/>
                <a:ea typeface="Times New Roman"/>
                <a:cs typeface="Times New Roman" pitchFamily="18" charset="0"/>
              </a:rPr>
              <a:t>counseling</a:t>
            </a:r>
            <a:r>
              <a:rPr lang="en-GB" sz="1600" dirty="0" smtClean="0">
                <a:effectLst/>
                <a:latin typeface="Times New Roman" pitchFamily="18" charset="0"/>
                <a:ea typeface="Times New Roman"/>
                <a:cs typeface="Times New Roman" pitchFamily="18" charset="0"/>
              </a:rPr>
              <a:t>, crisis intervention, and community building—would be emphasized. The goal is to equip clergy with actionable skills to address the real-life challenges they encounter in their congregational settings.</a:t>
            </a:r>
            <a:endParaRPr lang="en-GB" sz="1600" dirty="0">
              <a:latin typeface="Times New Roman" pitchFamily="18" charset="0"/>
              <a:ea typeface="Calibri"/>
              <a:cs typeface="Times New Roman" pitchFamily="18" charset="0"/>
            </a:endParaRPr>
          </a:p>
          <a:p>
            <a:pPr marL="0" lvl="0" indent="0" algn="just">
              <a:lnSpc>
                <a:spcPct val="115000"/>
              </a:lnSpc>
              <a:spcAft>
                <a:spcPts val="1000"/>
              </a:spcAft>
              <a:buNone/>
              <a:tabLst>
                <a:tab pos="457200" algn="l"/>
              </a:tabLst>
            </a:pPr>
            <a:r>
              <a:rPr lang="en-GB" sz="1600" b="1" dirty="0" smtClean="0">
                <a:effectLst/>
                <a:latin typeface="Times New Roman" pitchFamily="18" charset="0"/>
                <a:ea typeface="Times New Roman"/>
                <a:cs typeface="Times New Roman" pitchFamily="18" charset="0"/>
              </a:rPr>
              <a:t>Speculative</a:t>
            </a:r>
            <a:r>
              <a:rPr lang="en-GB" sz="1600" dirty="0" smtClean="0">
                <a:effectLst/>
                <a:latin typeface="Times New Roman" pitchFamily="18" charset="0"/>
                <a:ea typeface="Times New Roman"/>
                <a:cs typeface="Times New Roman" pitchFamily="18" charset="0"/>
              </a:rPr>
              <a:t> (in the context of pastoral theology):</a:t>
            </a:r>
            <a:r>
              <a:rPr lang="en-GB" sz="1600" dirty="0" smtClean="0">
                <a:latin typeface="Times New Roman" pitchFamily="18" charset="0"/>
                <a:ea typeface="Times New Roman"/>
                <a:cs typeface="Times New Roman" pitchFamily="18" charset="0"/>
              </a:rPr>
              <a:t> </a:t>
            </a:r>
            <a:r>
              <a:rPr lang="en-GB" sz="1600" dirty="0" smtClean="0">
                <a:effectLst/>
                <a:latin typeface="Times New Roman" pitchFamily="18" charset="0"/>
                <a:ea typeface="Times New Roman"/>
                <a:cs typeface="Times New Roman" pitchFamily="18" charset="0"/>
              </a:rPr>
              <a:t>A speculative approach in pastoral theology might focus more on theoretical discussions about the nature of ministry or theological debates that explore concepts such as the ideal form of the church, the nature of divine calling, or the theological implications of sacred rituals. It would involve a more abstract, intellectual inquiry into the underpinnings of ministry rather than focusing on direct, immediate applications.</a:t>
            </a:r>
            <a:endParaRPr lang="en-GB" sz="1600" dirty="0">
              <a:latin typeface="Times New Roman" pitchFamily="18" charset="0"/>
              <a:ea typeface="Calibri"/>
              <a:cs typeface="Times New Roman" pitchFamily="18" charset="0"/>
            </a:endParaRPr>
          </a:p>
          <a:p>
            <a:pPr marL="0" indent="0" algn="just">
              <a:lnSpc>
                <a:spcPct val="115000"/>
              </a:lnSpc>
              <a:spcAft>
                <a:spcPts val="1000"/>
              </a:spcAft>
              <a:buNone/>
            </a:pPr>
            <a:r>
              <a:rPr lang="en-GB" sz="1600" dirty="0" smtClean="0">
                <a:effectLst/>
                <a:latin typeface="Times New Roman" pitchFamily="18" charset="0"/>
                <a:ea typeface="Times New Roman"/>
                <a:cs typeface="Times New Roman" pitchFamily="18" charset="0"/>
              </a:rPr>
              <a:t>In summary, a </a:t>
            </a:r>
            <a:r>
              <a:rPr lang="en-GB" sz="1600" b="1" dirty="0" smtClean="0">
                <a:effectLst/>
                <a:latin typeface="Times New Roman" pitchFamily="18" charset="0"/>
                <a:ea typeface="Times New Roman"/>
                <a:cs typeface="Times New Roman" pitchFamily="18" charset="0"/>
              </a:rPr>
              <a:t>pragmatic</a:t>
            </a:r>
            <a:r>
              <a:rPr lang="en-GB" sz="1600" dirty="0" smtClean="0">
                <a:effectLst/>
                <a:latin typeface="Times New Roman" pitchFamily="18" charset="0"/>
                <a:ea typeface="Times New Roman"/>
                <a:cs typeface="Times New Roman" pitchFamily="18" charset="0"/>
              </a:rPr>
              <a:t> approach to pastoral theology focuses on </a:t>
            </a:r>
            <a:r>
              <a:rPr lang="en-GB" sz="1600" b="1" dirty="0" smtClean="0">
                <a:effectLst/>
                <a:latin typeface="Times New Roman" pitchFamily="18" charset="0"/>
                <a:ea typeface="Times New Roman"/>
                <a:cs typeface="Times New Roman" pitchFamily="18" charset="0"/>
              </a:rPr>
              <a:t>practical, real-world ministry</a:t>
            </a:r>
            <a:r>
              <a:rPr lang="en-GB" sz="1600" dirty="0" smtClean="0">
                <a:effectLst/>
                <a:latin typeface="Times New Roman" pitchFamily="18" charset="0"/>
                <a:ea typeface="Times New Roman"/>
                <a:cs typeface="Times New Roman" pitchFamily="18" charset="0"/>
              </a:rPr>
              <a:t> and how to effectively serve congregants, while a </a:t>
            </a:r>
            <a:r>
              <a:rPr lang="en-GB" sz="1600" b="1" dirty="0" smtClean="0">
                <a:effectLst/>
                <a:latin typeface="Times New Roman" pitchFamily="18" charset="0"/>
                <a:ea typeface="Times New Roman"/>
                <a:cs typeface="Times New Roman" pitchFamily="18" charset="0"/>
              </a:rPr>
              <a:t>speculative</a:t>
            </a:r>
            <a:r>
              <a:rPr lang="en-GB" sz="1600" dirty="0" smtClean="0">
                <a:effectLst/>
                <a:latin typeface="Times New Roman" pitchFamily="18" charset="0"/>
                <a:ea typeface="Times New Roman"/>
                <a:cs typeface="Times New Roman" pitchFamily="18" charset="0"/>
              </a:rPr>
              <a:t> approach might involve </a:t>
            </a:r>
            <a:r>
              <a:rPr lang="en-GB" sz="1600" b="1" dirty="0" smtClean="0">
                <a:effectLst/>
                <a:latin typeface="Times New Roman" pitchFamily="18" charset="0"/>
                <a:ea typeface="Times New Roman"/>
                <a:cs typeface="Times New Roman" pitchFamily="18" charset="0"/>
              </a:rPr>
              <a:t>theoretical and abstract theological discussions</a:t>
            </a:r>
            <a:r>
              <a:rPr lang="en-GB" sz="1600" dirty="0" smtClean="0">
                <a:effectLst/>
                <a:latin typeface="Times New Roman" pitchFamily="18" charset="0"/>
                <a:ea typeface="Times New Roman"/>
                <a:cs typeface="Times New Roman" pitchFamily="18" charset="0"/>
              </a:rPr>
              <a:t> that don't immediately translate into everyday pastoral practice.</a:t>
            </a:r>
            <a:endParaRPr lang="en-GB" sz="1600" dirty="0">
              <a:latin typeface="Times New Roman" pitchFamily="18" charset="0"/>
              <a:ea typeface="Calibri"/>
              <a:cs typeface="Times New Roman" pitchFamily="18" charset="0"/>
            </a:endParaRPr>
          </a:p>
        </p:txBody>
      </p:sp>
    </p:spTree>
    <p:extLst>
      <p:ext uri="{BB962C8B-B14F-4D97-AF65-F5344CB8AC3E}">
        <p14:creationId xmlns:p14="http://schemas.microsoft.com/office/powerpoint/2010/main" val="3368869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700" b="1" dirty="0">
                <a:solidFill>
                  <a:prstClr val="black"/>
                </a:solidFill>
                <a:latin typeface="Times New Roman" pitchFamily="18" charset="0"/>
                <a:ea typeface="Calibri"/>
                <a:cs typeface="Times New Roman" pitchFamily="18" charset="0"/>
              </a:rPr>
              <a:t>Pastoral theology</a:t>
            </a:r>
            <a:endParaRPr lang="en-GB" dirty="0"/>
          </a:p>
        </p:txBody>
      </p:sp>
      <p:sp>
        <p:nvSpPr>
          <p:cNvPr id="3" name="Content Placeholder 2"/>
          <p:cNvSpPr>
            <a:spLocks noGrp="1"/>
          </p:cNvSpPr>
          <p:nvPr>
            <p:ph idx="1"/>
          </p:nvPr>
        </p:nvSpPr>
        <p:spPr/>
        <p:txBody>
          <a:bodyPr>
            <a:normAutofit fontScale="85000" lnSpcReduction="20000"/>
          </a:bodyPr>
          <a:lstStyle/>
          <a:p>
            <a:pPr marL="0" indent="0" algn="just">
              <a:lnSpc>
                <a:spcPct val="115000"/>
              </a:lnSpc>
              <a:spcAft>
                <a:spcPts val="1000"/>
              </a:spcAft>
              <a:buNone/>
            </a:pPr>
            <a:r>
              <a:rPr lang="en-GB" dirty="0" smtClean="0">
                <a:latin typeface="Times New Roman" pitchFamily="18" charset="0"/>
                <a:ea typeface="Calibri"/>
                <a:cs typeface="Times New Roman" pitchFamily="18" charset="0"/>
              </a:rPr>
              <a:t>It </a:t>
            </a:r>
            <a:r>
              <a:rPr lang="en-GB" dirty="0" smtClean="0">
                <a:effectLst/>
                <a:latin typeface="Times New Roman" pitchFamily="18" charset="0"/>
                <a:ea typeface="Calibri"/>
                <a:cs typeface="Times New Roman" pitchFamily="18" charset="0"/>
              </a:rPr>
              <a:t>is a branch of Christian theology focused on the role, gifts, and responsibilities of pastors. It examines how the pastor's duties align with the teachings and principles found in Christian faith. As a theological discipline, pastoral theology aims to reflect on how God reveals Himself through Scripture &amp; tradition, while also considering how these insights are experienced personally and socially in the life of the church. It seeks to understand the ways in which these elements shape the practice of pastoral ministry.</a:t>
            </a:r>
            <a:endParaRPr lang="en-GB" sz="2800" dirty="0">
              <a:latin typeface="Times New Roman" pitchFamily="18" charset="0"/>
              <a:ea typeface="Calibri"/>
              <a:cs typeface="Times New Roman" pitchFamily="18" charset="0"/>
            </a:endParaRPr>
          </a:p>
          <a:p>
            <a:endParaRPr lang="en-GB" dirty="0"/>
          </a:p>
        </p:txBody>
      </p:sp>
    </p:spTree>
    <p:extLst>
      <p:ext uri="{BB962C8B-B14F-4D97-AF65-F5344CB8AC3E}">
        <p14:creationId xmlns:p14="http://schemas.microsoft.com/office/powerpoint/2010/main" val="1847184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42900" lvl="0" indent="-342900">
              <a:lnSpc>
                <a:spcPct val="150000"/>
              </a:lnSpc>
              <a:spcBef>
                <a:spcPct val="20000"/>
              </a:spcBef>
              <a:spcAft>
                <a:spcPts val="1000"/>
              </a:spcAft>
            </a:pPr>
            <a:r>
              <a:rPr lang="en-GB" sz="2000" b="1" dirty="0">
                <a:solidFill>
                  <a:prstClr val="black"/>
                </a:solidFill>
                <a:latin typeface="Times New Roman"/>
                <a:ea typeface="Times New Roman"/>
                <a:cs typeface="Times New Roman"/>
              </a:rPr>
              <a:t>Terms refer to the pastoral office: </a:t>
            </a:r>
            <a:endParaRPr lang="en-GB" sz="2000" dirty="0">
              <a:solidFill>
                <a:prstClr val="black"/>
              </a:solidFill>
              <a:ea typeface="Times New Roman"/>
              <a:cs typeface="Times New Roman"/>
            </a:endParaRPr>
          </a:p>
        </p:txBody>
      </p:sp>
      <p:sp>
        <p:nvSpPr>
          <p:cNvPr id="3" name="Content Placeholder 2"/>
          <p:cNvSpPr>
            <a:spLocks noGrp="1"/>
          </p:cNvSpPr>
          <p:nvPr>
            <p:ph idx="1"/>
          </p:nvPr>
        </p:nvSpPr>
        <p:spPr/>
        <p:txBody>
          <a:bodyPr>
            <a:normAutofit fontScale="47500" lnSpcReduction="20000"/>
          </a:bodyPr>
          <a:lstStyle/>
          <a:p>
            <a:pPr marL="0" indent="0" algn="just">
              <a:lnSpc>
                <a:spcPct val="150000"/>
              </a:lnSpc>
              <a:spcAft>
                <a:spcPts val="1000"/>
              </a:spcAft>
              <a:buNone/>
            </a:pPr>
            <a:r>
              <a:rPr lang="en-GB" sz="4000" dirty="0" smtClean="0">
                <a:effectLst/>
                <a:latin typeface="Times New Roman" pitchFamily="18" charset="0"/>
                <a:ea typeface="Times New Roman"/>
                <a:cs typeface="Times New Roman" pitchFamily="18" charset="0"/>
              </a:rPr>
              <a:t>Five distinct terms refer to the pastoral office are: (1) </a:t>
            </a:r>
            <a:r>
              <a:rPr lang="en-GB" sz="4000" b="1" dirty="0" smtClean="0">
                <a:effectLst/>
                <a:latin typeface="Times New Roman" pitchFamily="18" charset="0"/>
                <a:ea typeface="Times New Roman"/>
                <a:cs typeface="Times New Roman" pitchFamily="18" charset="0"/>
              </a:rPr>
              <a:t>elder</a:t>
            </a:r>
            <a:r>
              <a:rPr lang="en-GB" sz="4000" dirty="0" smtClean="0">
                <a:effectLst/>
                <a:latin typeface="Times New Roman" pitchFamily="18" charset="0"/>
                <a:ea typeface="Times New Roman"/>
                <a:cs typeface="Times New Roman" pitchFamily="18" charset="0"/>
              </a:rPr>
              <a:t> (</a:t>
            </a:r>
            <a:r>
              <a:rPr lang="en-GB" sz="4000" i="1" dirty="0" err="1" smtClean="0">
                <a:effectLst/>
                <a:latin typeface="Times New Roman" pitchFamily="18" charset="0"/>
                <a:ea typeface="Times New Roman"/>
                <a:cs typeface="Times New Roman" pitchFamily="18" charset="0"/>
              </a:rPr>
              <a:t>presbyteros</a:t>
            </a:r>
            <a:r>
              <a:rPr lang="en-GB" sz="4000" dirty="0" smtClean="0">
                <a:effectLst/>
                <a:latin typeface="Times New Roman" pitchFamily="18" charset="0"/>
                <a:ea typeface="Times New Roman"/>
                <a:cs typeface="Times New Roman" pitchFamily="18" charset="0"/>
              </a:rPr>
              <a:t>), a title highlighting the administration and spiritual guidance of the church (Acts 15:6; 1 Tim. 5:17; Jas. 5:14; 1 Pet. 5:1-4); (2) </a:t>
            </a:r>
            <a:r>
              <a:rPr lang="en-GB" sz="4000" b="1" dirty="0" smtClean="0">
                <a:effectLst/>
                <a:latin typeface="Times New Roman" pitchFamily="18" charset="0"/>
                <a:ea typeface="Times New Roman"/>
                <a:cs typeface="Times New Roman" pitchFamily="18" charset="0"/>
              </a:rPr>
              <a:t>bishop or overseer </a:t>
            </a:r>
            <a:r>
              <a:rPr lang="en-GB" sz="4000" dirty="0" smtClean="0">
                <a:effectLst/>
                <a:latin typeface="Times New Roman" pitchFamily="18" charset="0"/>
                <a:ea typeface="Times New Roman"/>
                <a:cs typeface="Times New Roman" pitchFamily="18" charset="0"/>
              </a:rPr>
              <a:t>(</a:t>
            </a:r>
            <a:r>
              <a:rPr lang="en-GB" sz="4000" i="1" dirty="0" err="1" smtClean="0">
                <a:effectLst/>
                <a:latin typeface="Times New Roman" pitchFamily="18" charset="0"/>
                <a:ea typeface="Times New Roman"/>
                <a:cs typeface="Times New Roman" pitchFamily="18" charset="0"/>
              </a:rPr>
              <a:t>episkopos</a:t>
            </a:r>
            <a:r>
              <a:rPr lang="en-GB" sz="4000" dirty="0" smtClean="0">
                <a:effectLst/>
                <a:latin typeface="Times New Roman" pitchFamily="18" charset="0"/>
                <a:ea typeface="Times New Roman"/>
                <a:cs typeface="Times New Roman" pitchFamily="18" charset="0"/>
              </a:rPr>
              <a:t>), which emphasizes guidance, oversight, and leadership in the church (Acts 20:28; Phil. 1:1; 1 Tim. 3:2-5; Tit. 1:7); (3) </a:t>
            </a:r>
            <a:r>
              <a:rPr lang="en-GB" sz="4000" b="1" dirty="0" smtClean="0">
                <a:effectLst/>
                <a:latin typeface="Times New Roman" pitchFamily="18" charset="0"/>
                <a:ea typeface="Times New Roman"/>
                <a:cs typeface="Times New Roman" pitchFamily="18" charset="0"/>
              </a:rPr>
              <a:t>shepherd or pastor </a:t>
            </a:r>
            <a:r>
              <a:rPr lang="en-GB" sz="4000" dirty="0" smtClean="0">
                <a:effectLst/>
                <a:latin typeface="Times New Roman" pitchFamily="18" charset="0"/>
                <a:ea typeface="Times New Roman"/>
                <a:cs typeface="Times New Roman" pitchFamily="18" charset="0"/>
              </a:rPr>
              <a:t>(</a:t>
            </a:r>
            <a:r>
              <a:rPr lang="en-GB" sz="4000" i="1" dirty="0" err="1" smtClean="0">
                <a:effectLst/>
                <a:latin typeface="Times New Roman" pitchFamily="18" charset="0"/>
                <a:ea typeface="Times New Roman"/>
                <a:cs typeface="Times New Roman" pitchFamily="18" charset="0"/>
              </a:rPr>
              <a:t>poim~en</a:t>
            </a:r>
            <a:r>
              <a:rPr lang="en-GB" sz="4000" dirty="0" smtClean="0">
                <a:effectLst/>
                <a:latin typeface="Times New Roman" pitchFamily="18" charset="0"/>
                <a:ea typeface="Times New Roman"/>
                <a:cs typeface="Times New Roman" pitchFamily="18" charset="0"/>
              </a:rPr>
              <a:t>), a position denoting leadership and authority (Acts 20:28-31; Eph. 4:11) as well as guidance and provision (1 Pet. 5:2-3; cf. 2:25); (4) </a:t>
            </a:r>
            <a:r>
              <a:rPr lang="en-GB" sz="4000" b="1" dirty="0" smtClean="0">
                <a:effectLst/>
                <a:latin typeface="Times New Roman" pitchFamily="18" charset="0"/>
                <a:ea typeface="Times New Roman"/>
                <a:cs typeface="Times New Roman" pitchFamily="18" charset="0"/>
              </a:rPr>
              <a:t>preache</a:t>
            </a:r>
            <a:r>
              <a:rPr lang="en-GB" sz="4000" dirty="0" smtClean="0">
                <a:effectLst/>
                <a:latin typeface="Times New Roman" pitchFamily="18" charset="0"/>
                <a:ea typeface="Times New Roman"/>
                <a:cs typeface="Times New Roman" pitchFamily="18" charset="0"/>
              </a:rPr>
              <a:t>r (</a:t>
            </a:r>
            <a:r>
              <a:rPr lang="en-GB" sz="4000" i="1" dirty="0" err="1" smtClean="0">
                <a:effectLst/>
                <a:latin typeface="Times New Roman" pitchFamily="18" charset="0"/>
                <a:ea typeface="Times New Roman"/>
                <a:cs typeface="Times New Roman" pitchFamily="18" charset="0"/>
              </a:rPr>
              <a:t>k~erux</a:t>
            </a:r>
            <a:r>
              <a:rPr lang="en-GB" sz="4000" dirty="0" smtClean="0">
                <a:effectLst/>
                <a:latin typeface="Times New Roman" pitchFamily="18" charset="0"/>
                <a:ea typeface="Times New Roman"/>
                <a:cs typeface="Times New Roman" pitchFamily="18" charset="0"/>
              </a:rPr>
              <a:t>), which points to public proclamation of the gospel and teaching of the flock (Rom. 10:14; 1 Tim. 2:7; 2 Tim. 1:11); and (5) </a:t>
            </a:r>
            <a:r>
              <a:rPr lang="en-GB" sz="4000" b="1" dirty="0" smtClean="0">
                <a:effectLst/>
                <a:latin typeface="Times New Roman" pitchFamily="18" charset="0"/>
                <a:ea typeface="Times New Roman"/>
                <a:cs typeface="Times New Roman" pitchFamily="18" charset="0"/>
              </a:rPr>
              <a:t>teacher</a:t>
            </a:r>
            <a:r>
              <a:rPr lang="en-GB" sz="4000" dirty="0" smtClean="0">
                <a:effectLst/>
                <a:latin typeface="Times New Roman" pitchFamily="18" charset="0"/>
                <a:ea typeface="Times New Roman"/>
                <a:cs typeface="Times New Roman" pitchFamily="18" charset="0"/>
              </a:rPr>
              <a:t> (</a:t>
            </a:r>
            <a:r>
              <a:rPr lang="en-GB" sz="4000" i="1" dirty="0" err="1" smtClean="0">
                <a:effectLst/>
                <a:latin typeface="Times New Roman" pitchFamily="18" charset="0"/>
                <a:ea typeface="Times New Roman"/>
                <a:cs typeface="Times New Roman" pitchFamily="18" charset="0"/>
              </a:rPr>
              <a:t>didaskalos</a:t>
            </a:r>
            <a:r>
              <a:rPr lang="en-GB" sz="4000" dirty="0" smtClean="0">
                <a:effectLst/>
                <a:latin typeface="Times New Roman" pitchFamily="18" charset="0"/>
                <a:ea typeface="Times New Roman"/>
                <a:cs typeface="Times New Roman" pitchFamily="18" charset="0"/>
              </a:rPr>
              <a:t>), one responsible for instruction and exposition of the Scriptures. Such teaching is both instructive (1 Tim. 2:7) and corrective (1 Cor. 12:28-29).</a:t>
            </a:r>
            <a:endParaRPr lang="en-GB" sz="4000" dirty="0">
              <a:latin typeface="Times New Roman" pitchFamily="18" charset="0"/>
              <a:ea typeface="Times New Roman"/>
              <a:cs typeface="Times New Roman" pitchFamily="18" charset="0"/>
            </a:endParaRPr>
          </a:p>
          <a:p>
            <a:endParaRPr lang="en-GB" dirty="0"/>
          </a:p>
        </p:txBody>
      </p:sp>
    </p:spTree>
    <p:extLst>
      <p:ext uri="{BB962C8B-B14F-4D97-AF65-F5344CB8AC3E}">
        <p14:creationId xmlns:p14="http://schemas.microsoft.com/office/powerpoint/2010/main" val="2574454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000" b="1" dirty="0">
                <a:solidFill>
                  <a:prstClr val="black"/>
                </a:solidFill>
                <a:latin typeface="Times New Roman"/>
                <a:ea typeface="Times New Roman"/>
                <a:cs typeface="+mn-cs"/>
              </a:rPr>
              <a:t>The Scope of Pastoral Theology</a:t>
            </a:r>
            <a:endParaRPr lang="en-GB"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GB" dirty="0" smtClean="0">
                <a:effectLst/>
                <a:latin typeface="Times New Roman" pitchFamily="18" charset="0"/>
                <a:ea typeface="Times New Roman"/>
                <a:cs typeface="Times New Roman" pitchFamily="18" charset="0"/>
              </a:rPr>
              <a:t>Pastoral theology is a dynamic and multifaceted discipline that sits at the intersection of theology and practical ministry. It encompasses a wide range of topics that are essential for the spiritual formation and effective leadership of pastors, enabling them to </a:t>
            </a:r>
            <a:r>
              <a:rPr lang="en-GB" dirty="0" err="1" smtClean="0">
                <a:effectLst/>
                <a:latin typeface="Times New Roman" pitchFamily="18" charset="0"/>
                <a:ea typeface="Times New Roman"/>
                <a:cs typeface="Times New Roman" pitchFamily="18" charset="0"/>
              </a:rPr>
              <a:t>fulfill</a:t>
            </a:r>
            <a:r>
              <a:rPr lang="en-GB" dirty="0" smtClean="0">
                <a:effectLst/>
                <a:latin typeface="Times New Roman" pitchFamily="18" charset="0"/>
                <a:ea typeface="Times New Roman"/>
                <a:cs typeface="Times New Roman" pitchFamily="18" charset="0"/>
              </a:rPr>
              <a:t> their calling in a deeply impactful way. The scope of pastoral theology is both comprehensive and diverse, covering the theological foundations of ministry as well as the practical skills required for pastoral care.</a:t>
            </a:r>
          </a:p>
          <a:p>
            <a:endParaRPr lang="en-GB" dirty="0"/>
          </a:p>
        </p:txBody>
      </p:sp>
    </p:spTree>
    <p:extLst>
      <p:ext uri="{BB962C8B-B14F-4D97-AF65-F5344CB8AC3E}">
        <p14:creationId xmlns:p14="http://schemas.microsoft.com/office/powerpoint/2010/main" val="949473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000" b="1" dirty="0" smtClean="0">
                <a:solidFill>
                  <a:prstClr val="black"/>
                </a:solidFill>
                <a:latin typeface="Times New Roman"/>
                <a:ea typeface="Times New Roman"/>
                <a:cs typeface="+mn-cs"/>
              </a:rPr>
              <a:t>1/Theological </a:t>
            </a:r>
            <a:r>
              <a:rPr lang="en-GB" sz="3000" b="1" dirty="0">
                <a:solidFill>
                  <a:prstClr val="black"/>
                </a:solidFill>
                <a:latin typeface="Times New Roman"/>
                <a:ea typeface="Times New Roman"/>
                <a:cs typeface="+mn-cs"/>
              </a:rPr>
              <a:t>Foundations of Ministry</a:t>
            </a:r>
            <a:endParaRPr lang="en-GB" dirty="0"/>
          </a:p>
        </p:txBody>
      </p:sp>
      <p:sp>
        <p:nvSpPr>
          <p:cNvPr id="3" name="Content Placeholder 2"/>
          <p:cNvSpPr>
            <a:spLocks noGrp="1"/>
          </p:cNvSpPr>
          <p:nvPr>
            <p:ph idx="1"/>
          </p:nvPr>
        </p:nvSpPr>
        <p:spPr/>
        <p:txBody>
          <a:bodyPr>
            <a:normAutofit fontScale="92500" lnSpcReduction="10000"/>
          </a:bodyPr>
          <a:lstStyle/>
          <a:p>
            <a:pPr marL="0" lvl="0" indent="0" algn="just">
              <a:buNone/>
              <a:tabLst>
                <a:tab pos="457200" algn="l"/>
              </a:tabLst>
            </a:pPr>
            <a:r>
              <a:rPr lang="en-GB" dirty="0" smtClean="0">
                <a:effectLst/>
                <a:latin typeface="Times New Roman"/>
                <a:ea typeface="Times New Roman"/>
              </a:rPr>
              <a:t>At its core, pastoral theology explores the office of the pastor, reflecting on the spiritual and theological significance of the pastoral role. It examines the biblical and historical basis for pastoral leadership, the gifts and calling of pastors, and their responsibilities within the Christian community. This involves deep theological reflection on the nature of ministry, the church, and the ways in which pastors are entrusted with guiding and nurturing their congregations.</a:t>
            </a:r>
          </a:p>
          <a:p>
            <a:endParaRPr lang="en-GB" dirty="0"/>
          </a:p>
        </p:txBody>
      </p:sp>
    </p:spTree>
    <p:extLst>
      <p:ext uri="{BB962C8B-B14F-4D97-AF65-F5344CB8AC3E}">
        <p14:creationId xmlns:p14="http://schemas.microsoft.com/office/powerpoint/2010/main" val="3616522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000" b="1" dirty="0" smtClean="0">
                <a:solidFill>
                  <a:prstClr val="black"/>
                </a:solidFill>
                <a:latin typeface="Times New Roman"/>
                <a:ea typeface="Times New Roman"/>
                <a:cs typeface="+mn-cs"/>
              </a:rPr>
              <a:t>2/Pastoral </a:t>
            </a:r>
            <a:r>
              <a:rPr lang="en-GB" sz="3000" b="1" dirty="0">
                <a:solidFill>
                  <a:prstClr val="black"/>
                </a:solidFill>
                <a:latin typeface="Times New Roman"/>
                <a:ea typeface="Times New Roman"/>
                <a:cs typeface="+mn-cs"/>
              </a:rPr>
              <a:t>Care and </a:t>
            </a:r>
            <a:r>
              <a:rPr lang="en-GB" sz="3000" b="1" dirty="0" err="1">
                <a:solidFill>
                  <a:prstClr val="black"/>
                </a:solidFill>
                <a:latin typeface="Times New Roman"/>
                <a:ea typeface="Times New Roman"/>
                <a:cs typeface="+mn-cs"/>
              </a:rPr>
              <a:t>Counseling</a:t>
            </a:r>
            <a:endParaRPr lang="en-GB" dirty="0"/>
          </a:p>
        </p:txBody>
      </p:sp>
      <p:sp>
        <p:nvSpPr>
          <p:cNvPr id="3" name="Content Placeholder 2"/>
          <p:cNvSpPr>
            <a:spLocks noGrp="1"/>
          </p:cNvSpPr>
          <p:nvPr>
            <p:ph idx="1"/>
          </p:nvPr>
        </p:nvSpPr>
        <p:spPr/>
        <p:txBody>
          <a:bodyPr>
            <a:normAutofit fontScale="92500" lnSpcReduction="10000"/>
          </a:bodyPr>
          <a:lstStyle/>
          <a:p>
            <a:pPr marL="0" lvl="0" indent="0" algn="just">
              <a:buNone/>
              <a:tabLst>
                <a:tab pos="457200" algn="l"/>
              </a:tabLst>
            </a:pPr>
            <a:r>
              <a:rPr lang="en-GB" dirty="0" smtClean="0">
                <a:effectLst/>
                <a:latin typeface="Times New Roman"/>
                <a:ea typeface="Times New Roman"/>
              </a:rPr>
              <a:t>A key area of pastoral theology is </a:t>
            </a:r>
            <a:r>
              <a:rPr lang="en-GB" b="1" dirty="0" smtClean="0">
                <a:effectLst/>
                <a:latin typeface="Times New Roman"/>
                <a:ea typeface="Times New Roman"/>
              </a:rPr>
              <a:t>pastoral care</a:t>
            </a:r>
            <a:r>
              <a:rPr lang="en-GB" dirty="0" smtClean="0">
                <a:effectLst/>
                <a:latin typeface="Times New Roman"/>
                <a:ea typeface="Times New Roman"/>
              </a:rPr>
              <a:t>, which involves providing emotional, spiritual, and practical support to individuals and communities. Pastoral theology equips pastors with the tools to address the personal needs of their congregants, offering </a:t>
            </a:r>
            <a:r>
              <a:rPr lang="en-GB" dirty="0" err="1" smtClean="0">
                <a:effectLst/>
                <a:latin typeface="Times New Roman"/>
                <a:ea typeface="Times New Roman"/>
              </a:rPr>
              <a:t>counseling</a:t>
            </a:r>
            <a:r>
              <a:rPr lang="en-GB" dirty="0" smtClean="0">
                <a:effectLst/>
                <a:latin typeface="Times New Roman"/>
                <a:ea typeface="Times New Roman"/>
              </a:rPr>
              <a:t>, guidance, and comfort during times of crisis, loss, or spiritual struggle. It emphasizes the importance of empathy, active listening, and pastoral wisdom in providing compassionate care.</a:t>
            </a:r>
          </a:p>
          <a:p>
            <a:endParaRPr lang="en-GB" dirty="0"/>
          </a:p>
        </p:txBody>
      </p:sp>
    </p:spTree>
    <p:extLst>
      <p:ext uri="{BB962C8B-B14F-4D97-AF65-F5344CB8AC3E}">
        <p14:creationId xmlns:p14="http://schemas.microsoft.com/office/powerpoint/2010/main" val="242536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000" b="1" dirty="0" smtClean="0">
                <a:solidFill>
                  <a:prstClr val="black"/>
                </a:solidFill>
                <a:latin typeface="Times New Roman"/>
                <a:ea typeface="Times New Roman"/>
                <a:cs typeface="+mn-cs"/>
              </a:rPr>
              <a:t>3/ Preaching </a:t>
            </a:r>
            <a:r>
              <a:rPr lang="en-GB" sz="3000" b="1" dirty="0">
                <a:solidFill>
                  <a:prstClr val="black"/>
                </a:solidFill>
                <a:latin typeface="Times New Roman"/>
                <a:ea typeface="Times New Roman"/>
                <a:cs typeface="+mn-cs"/>
              </a:rPr>
              <a:t>and Homiletics</a:t>
            </a:r>
            <a:endParaRPr lang="en-GB" dirty="0"/>
          </a:p>
        </p:txBody>
      </p:sp>
      <p:sp>
        <p:nvSpPr>
          <p:cNvPr id="3" name="Content Placeholder 2"/>
          <p:cNvSpPr>
            <a:spLocks noGrp="1"/>
          </p:cNvSpPr>
          <p:nvPr>
            <p:ph idx="1"/>
          </p:nvPr>
        </p:nvSpPr>
        <p:spPr/>
        <p:txBody>
          <a:bodyPr>
            <a:normAutofit lnSpcReduction="10000"/>
          </a:bodyPr>
          <a:lstStyle/>
          <a:p>
            <a:pPr marL="0" lvl="0" indent="0" algn="just">
              <a:buNone/>
              <a:tabLst>
                <a:tab pos="457200" algn="l"/>
              </a:tabLst>
            </a:pPr>
            <a:r>
              <a:rPr lang="en-GB" dirty="0" smtClean="0">
                <a:effectLst/>
                <a:latin typeface="Times New Roman"/>
                <a:ea typeface="Times New Roman"/>
              </a:rPr>
              <a:t>Effective preaching is central to the work of a pastor. Pastoral theology explores </a:t>
            </a:r>
            <a:r>
              <a:rPr lang="en-GB" b="1" dirty="0" smtClean="0">
                <a:effectLst/>
                <a:latin typeface="Times New Roman"/>
                <a:ea typeface="Times New Roman"/>
              </a:rPr>
              <a:t>homiletics</a:t>
            </a:r>
            <a:r>
              <a:rPr lang="en-GB" dirty="0" smtClean="0">
                <a:effectLst/>
                <a:latin typeface="Times New Roman"/>
                <a:ea typeface="Times New Roman"/>
              </a:rPr>
              <a:t>, the art and science of sermon preparation and delivery. It emphasizes the need for pastors to communicate the message of Scripture clearly, powerfully, and relevantly, helping the congregation to apply biblical truths to their daily lives. This aspect of pastoral theology highlights the pastor's role as a spiritual leader and teacher within the community.</a:t>
            </a:r>
          </a:p>
          <a:p>
            <a:endParaRPr lang="en-GB" dirty="0"/>
          </a:p>
        </p:txBody>
      </p:sp>
    </p:spTree>
    <p:extLst>
      <p:ext uri="{BB962C8B-B14F-4D97-AF65-F5344CB8AC3E}">
        <p14:creationId xmlns:p14="http://schemas.microsoft.com/office/powerpoint/2010/main" val="1882210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b="1" dirty="0" smtClean="0">
                <a:solidFill>
                  <a:prstClr val="black"/>
                </a:solidFill>
                <a:latin typeface="Times New Roman"/>
                <a:ea typeface="Times New Roman"/>
                <a:cs typeface="+mn-cs"/>
              </a:rPr>
              <a:t>4/ Sacramental </a:t>
            </a:r>
            <a:r>
              <a:rPr lang="en-GB" sz="3200" b="1" dirty="0">
                <a:solidFill>
                  <a:prstClr val="black"/>
                </a:solidFill>
                <a:latin typeface="Times New Roman"/>
                <a:ea typeface="Times New Roman"/>
                <a:cs typeface="+mn-cs"/>
              </a:rPr>
              <a:t>Theology</a:t>
            </a:r>
            <a:endParaRPr lang="en-GB" dirty="0"/>
          </a:p>
        </p:txBody>
      </p:sp>
      <p:sp>
        <p:nvSpPr>
          <p:cNvPr id="3" name="Content Placeholder 2"/>
          <p:cNvSpPr>
            <a:spLocks noGrp="1"/>
          </p:cNvSpPr>
          <p:nvPr>
            <p:ph idx="1"/>
          </p:nvPr>
        </p:nvSpPr>
        <p:spPr/>
        <p:txBody>
          <a:bodyPr/>
          <a:lstStyle/>
          <a:p>
            <a:pPr marL="0" lvl="0" indent="0" algn="just">
              <a:buNone/>
              <a:tabLst>
                <a:tab pos="457200" algn="l"/>
              </a:tabLst>
            </a:pPr>
            <a:r>
              <a:rPr lang="en-GB" dirty="0" smtClean="0">
                <a:effectLst/>
                <a:latin typeface="Times New Roman"/>
                <a:ea typeface="Times New Roman"/>
              </a:rPr>
              <a:t>Pastoral theology also delves into </a:t>
            </a:r>
            <a:r>
              <a:rPr lang="en-GB" b="1" dirty="0" smtClean="0">
                <a:effectLst/>
                <a:latin typeface="Times New Roman"/>
                <a:ea typeface="Times New Roman"/>
              </a:rPr>
              <a:t>sacramental theology</a:t>
            </a:r>
            <a:r>
              <a:rPr lang="en-GB" dirty="0" smtClean="0">
                <a:effectLst/>
                <a:latin typeface="Times New Roman"/>
                <a:ea typeface="Times New Roman"/>
              </a:rPr>
              <a:t>, exploring the significance and practice of sacraments like baptism, communion, and marriage. Pastors are often called upon to administer these sacred rites, and pastoral theology helps them understand the theological depth of these practices and how to administer them with reverence and understanding.</a:t>
            </a:r>
          </a:p>
          <a:p>
            <a:endParaRPr lang="en-GB" dirty="0"/>
          </a:p>
        </p:txBody>
      </p:sp>
    </p:spTree>
    <p:extLst>
      <p:ext uri="{BB962C8B-B14F-4D97-AF65-F5344CB8AC3E}">
        <p14:creationId xmlns:p14="http://schemas.microsoft.com/office/powerpoint/2010/main" val="1263951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b="1" dirty="0" smtClean="0">
                <a:solidFill>
                  <a:prstClr val="black"/>
                </a:solidFill>
                <a:latin typeface="Times New Roman"/>
                <a:ea typeface="Times New Roman"/>
                <a:cs typeface="+mn-cs"/>
              </a:rPr>
              <a:t>5/ Ethics </a:t>
            </a:r>
            <a:r>
              <a:rPr lang="en-GB" sz="3200" b="1" dirty="0">
                <a:solidFill>
                  <a:prstClr val="black"/>
                </a:solidFill>
                <a:latin typeface="Times New Roman"/>
                <a:ea typeface="Times New Roman"/>
                <a:cs typeface="+mn-cs"/>
              </a:rPr>
              <a:t>and Moral Leadership</a:t>
            </a:r>
            <a:endParaRPr lang="en-GB" dirty="0"/>
          </a:p>
        </p:txBody>
      </p:sp>
      <p:sp>
        <p:nvSpPr>
          <p:cNvPr id="3" name="Content Placeholder 2"/>
          <p:cNvSpPr>
            <a:spLocks noGrp="1"/>
          </p:cNvSpPr>
          <p:nvPr>
            <p:ph idx="1"/>
          </p:nvPr>
        </p:nvSpPr>
        <p:spPr/>
        <p:txBody>
          <a:bodyPr/>
          <a:lstStyle/>
          <a:p>
            <a:pPr marL="0" lvl="0" indent="0" algn="just">
              <a:buNone/>
              <a:tabLst>
                <a:tab pos="457200" algn="l"/>
              </a:tabLst>
            </a:pPr>
            <a:r>
              <a:rPr lang="en-GB" dirty="0" smtClean="0">
                <a:effectLst/>
                <a:latin typeface="Times New Roman"/>
                <a:ea typeface="Times New Roman"/>
              </a:rPr>
              <a:t>Pastoral theology provides guidance on </a:t>
            </a:r>
            <a:r>
              <a:rPr lang="en-GB" b="1" dirty="0" smtClean="0">
                <a:effectLst/>
                <a:latin typeface="Times New Roman"/>
                <a:ea typeface="Times New Roman"/>
              </a:rPr>
              <a:t>Christian ethics</a:t>
            </a:r>
            <a:r>
              <a:rPr lang="en-GB" dirty="0" smtClean="0">
                <a:effectLst/>
                <a:latin typeface="Times New Roman"/>
                <a:ea typeface="Times New Roman"/>
              </a:rPr>
              <a:t>, helping pastors navigate moral dilemmas and offer ethical guidance to their congregations. It emphasizes the importance of integrity, justice, and compassion in the pastor's leadership, encouraging them to embody the moral teachings of Scripture in their personal lives and ministry.</a:t>
            </a:r>
          </a:p>
          <a:p>
            <a:endParaRPr lang="en-GB" dirty="0"/>
          </a:p>
        </p:txBody>
      </p:sp>
    </p:spTree>
    <p:extLst>
      <p:ext uri="{BB962C8B-B14F-4D97-AF65-F5344CB8AC3E}">
        <p14:creationId xmlns:p14="http://schemas.microsoft.com/office/powerpoint/2010/main" val="2903281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b="1" dirty="0" smtClean="0">
                <a:solidFill>
                  <a:prstClr val="black"/>
                </a:solidFill>
                <a:latin typeface="Times New Roman"/>
                <a:ea typeface="Times New Roman"/>
                <a:cs typeface="+mn-cs"/>
              </a:rPr>
              <a:t>6/ Church </a:t>
            </a:r>
            <a:r>
              <a:rPr lang="en-GB" sz="3200" b="1" dirty="0">
                <a:solidFill>
                  <a:prstClr val="black"/>
                </a:solidFill>
                <a:latin typeface="Times New Roman"/>
                <a:ea typeface="Times New Roman"/>
                <a:cs typeface="+mn-cs"/>
              </a:rPr>
              <a:t>Growth and Leadership</a:t>
            </a:r>
            <a:endParaRPr lang="en-GB" dirty="0"/>
          </a:p>
        </p:txBody>
      </p:sp>
      <p:sp>
        <p:nvSpPr>
          <p:cNvPr id="3" name="Content Placeholder 2"/>
          <p:cNvSpPr>
            <a:spLocks noGrp="1"/>
          </p:cNvSpPr>
          <p:nvPr>
            <p:ph idx="1"/>
          </p:nvPr>
        </p:nvSpPr>
        <p:spPr/>
        <p:txBody>
          <a:bodyPr>
            <a:normAutofit/>
          </a:bodyPr>
          <a:lstStyle/>
          <a:p>
            <a:pPr marL="0" lvl="0" indent="0" algn="just">
              <a:buNone/>
              <a:tabLst>
                <a:tab pos="457200" algn="l"/>
              </a:tabLst>
            </a:pPr>
            <a:r>
              <a:rPr lang="en-GB" sz="3000" b="1" dirty="0" smtClean="0">
                <a:effectLst/>
                <a:latin typeface="Times New Roman"/>
                <a:ea typeface="Times New Roman"/>
              </a:rPr>
              <a:t>Church Growth and Leadership</a:t>
            </a:r>
            <a:r>
              <a:rPr lang="en-GB" sz="3000" dirty="0" smtClean="0">
                <a:effectLst/>
                <a:latin typeface="Times New Roman"/>
                <a:ea typeface="Times New Roman"/>
              </a:rPr>
              <a:t>: The scope of pastoral theology also extends to </a:t>
            </a:r>
            <a:r>
              <a:rPr lang="en-GB" sz="3000" b="1" dirty="0" smtClean="0">
                <a:effectLst/>
                <a:latin typeface="Times New Roman"/>
                <a:ea typeface="Times New Roman"/>
              </a:rPr>
              <a:t>church growth and leadership</a:t>
            </a:r>
            <a:r>
              <a:rPr lang="en-GB" sz="3000" dirty="0" smtClean="0">
                <a:effectLst/>
                <a:latin typeface="Times New Roman"/>
                <a:ea typeface="Times New Roman"/>
              </a:rPr>
              <a:t>, addressing how pastors can lead their congregations in a way that fosters spiritual development, community engagement, and outreach. It involves understanding organizational structures, effective leadership principles, and strategies for building a vibrant, mission-oriented church.</a:t>
            </a:r>
          </a:p>
          <a:p>
            <a:endParaRPr lang="en-GB" sz="3000" dirty="0"/>
          </a:p>
        </p:txBody>
      </p:sp>
    </p:spTree>
    <p:extLst>
      <p:ext uri="{BB962C8B-B14F-4D97-AF65-F5344CB8AC3E}">
        <p14:creationId xmlns:p14="http://schemas.microsoft.com/office/powerpoint/2010/main" val="2308856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b="1" dirty="0" smtClean="0">
                <a:solidFill>
                  <a:prstClr val="black"/>
                </a:solidFill>
                <a:latin typeface="Times New Roman"/>
                <a:ea typeface="Times New Roman"/>
                <a:cs typeface="+mn-cs"/>
              </a:rPr>
              <a:t>7/ Contextual </a:t>
            </a:r>
            <a:r>
              <a:rPr lang="en-GB" sz="3200" b="1" dirty="0">
                <a:solidFill>
                  <a:prstClr val="black"/>
                </a:solidFill>
                <a:latin typeface="Times New Roman"/>
                <a:ea typeface="Times New Roman"/>
                <a:cs typeface="+mn-cs"/>
              </a:rPr>
              <a:t>and Cultural Awareness</a:t>
            </a:r>
            <a:endParaRPr lang="en-GB" dirty="0"/>
          </a:p>
        </p:txBody>
      </p:sp>
      <p:sp>
        <p:nvSpPr>
          <p:cNvPr id="3" name="Content Placeholder 2"/>
          <p:cNvSpPr>
            <a:spLocks noGrp="1"/>
          </p:cNvSpPr>
          <p:nvPr>
            <p:ph idx="1"/>
          </p:nvPr>
        </p:nvSpPr>
        <p:spPr/>
        <p:txBody>
          <a:bodyPr>
            <a:normAutofit/>
          </a:bodyPr>
          <a:lstStyle/>
          <a:p>
            <a:pPr marL="0" lvl="0" indent="0" algn="just">
              <a:buNone/>
              <a:tabLst>
                <a:tab pos="457200" algn="l"/>
              </a:tabLst>
            </a:pPr>
            <a:r>
              <a:rPr lang="en-GB" dirty="0" smtClean="0">
                <a:effectLst/>
                <a:latin typeface="Times New Roman"/>
                <a:ea typeface="Times New Roman"/>
              </a:rPr>
              <a:t>In a rapidly changing world, pastoral theology also considers the </a:t>
            </a:r>
            <a:r>
              <a:rPr lang="en-GB" b="1" dirty="0" smtClean="0">
                <a:effectLst/>
                <a:latin typeface="Times New Roman"/>
                <a:ea typeface="Times New Roman"/>
              </a:rPr>
              <a:t>cultural context</a:t>
            </a:r>
            <a:r>
              <a:rPr lang="en-GB" dirty="0" smtClean="0">
                <a:effectLst/>
                <a:latin typeface="Times New Roman"/>
                <a:ea typeface="Times New Roman"/>
              </a:rPr>
              <a:t> in which ministry takes place. Pastors are called to be aware of societal issues, cultural shifts, and the diverse needs of their communities. Pastoral theology encourages pastors to adapt their ministry approaches to meet the unique challenges and opportunities present in different cultural and social contexts.</a:t>
            </a:r>
          </a:p>
          <a:p>
            <a:endParaRPr lang="en-GB" dirty="0"/>
          </a:p>
        </p:txBody>
      </p:sp>
    </p:spTree>
    <p:extLst>
      <p:ext uri="{BB962C8B-B14F-4D97-AF65-F5344CB8AC3E}">
        <p14:creationId xmlns:p14="http://schemas.microsoft.com/office/powerpoint/2010/main" val="152688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marL="0" indent="0" algn="just">
              <a:buNone/>
            </a:pPr>
            <a:r>
              <a:rPr lang="en-GB" dirty="0" smtClean="0">
                <a:effectLst/>
                <a:latin typeface="Times New Roman"/>
                <a:ea typeface="Times New Roman"/>
              </a:rPr>
              <a:t>In summary, the scope of pastoral theology is vast and integral to the life of the church. It is not only prepares pastors for effective ministry but also helps them embody the love, wisdom, and care that are central to the Christian faith. By integrating theological study with practical application, pastoral theology ensures that pastors are well-equipped to serve their congregations, lead with integrity, and nurture the spiritual health of their communities.</a:t>
            </a:r>
          </a:p>
          <a:p>
            <a:endParaRPr lang="en-GB" dirty="0"/>
          </a:p>
        </p:txBody>
      </p:sp>
    </p:spTree>
    <p:extLst>
      <p:ext uri="{BB962C8B-B14F-4D97-AF65-F5344CB8AC3E}">
        <p14:creationId xmlns:p14="http://schemas.microsoft.com/office/powerpoint/2010/main" val="1609850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200" b="1" dirty="0">
                <a:solidFill>
                  <a:prstClr val="black"/>
                </a:solidFill>
                <a:latin typeface="Times New Roman"/>
                <a:ea typeface="Times New Roman"/>
                <a:cs typeface="Times New Roman"/>
              </a:rPr>
              <a:t>St. John Chrysostom</a:t>
            </a:r>
            <a:r>
              <a:rPr lang="en-GB" sz="2200" dirty="0">
                <a:solidFill>
                  <a:prstClr val="black"/>
                </a:solidFill>
                <a:latin typeface="Times New Roman"/>
                <a:ea typeface="Times New Roman"/>
                <a:cs typeface="Times New Roman"/>
              </a:rPr>
              <a:t> </a:t>
            </a:r>
            <a:endParaRPr lang="en-GB" dirty="0"/>
          </a:p>
        </p:txBody>
      </p:sp>
      <p:sp>
        <p:nvSpPr>
          <p:cNvPr id="3" name="Content Placeholder 2"/>
          <p:cNvSpPr>
            <a:spLocks noGrp="1"/>
          </p:cNvSpPr>
          <p:nvPr>
            <p:ph idx="1"/>
          </p:nvPr>
        </p:nvSpPr>
        <p:spPr/>
        <p:txBody>
          <a:bodyPr>
            <a:normAutofit/>
          </a:bodyPr>
          <a:lstStyle/>
          <a:p>
            <a:pPr marL="0" lvl="0" indent="0" algn="just">
              <a:lnSpc>
                <a:spcPct val="115000"/>
              </a:lnSpc>
              <a:spcAft>
                <a:spcPts val="1000"/>
              </a:spcAft>
              <a:buNone/>
              <a:tabLst>
                <a:tab pos="457200" algn="l"/>
              </a:tabLst>
            </a:pPr>
            <a:r>
              <a:rPr lang="en-GB" sz="2200" dirty="0" smtClean="0">
                <a:effectLst/>
                <a:latin typeface="Times New Roman" pitchFamily="18" charset="0"/>
                <a:ea typeface="Times New Roman"/>
                <a:cs typeface="Times New Roman" pitchFamily="18" charset="0"/>
              </a:rPr>
              <a:t>St. John Chrysostom is one of the most influential figures in Orthodox pastoral theology. His work </a:t>
            </a:r>
            <a:r>
              <a:rPr lang="en-GB" sz="2200" i="1" dirty="0" smtClean="0">
                <a:effectLst/>
                <a:latin typeface="Times New Roman" pitchFamily="18" charset="0"/>
                <a:ea typeface="Times New Roman"/>
                <a:cs typeface="Times New Roman" pitchFamily="18" charset="0"/>
              </a:rPr>
              <a:t>On the Priesthood</a:t>
            </a:r>
            <a:r>
              <a:rPr lang="en-GB" sz="2200" dirty="0" smtClean="0">
                <a:effectLst/>
                <a:latin typeface="Times New Roman" pitchFamily="18" charset="0"/>
                <a:ea typeface="Times New Roman"/>
                <a:cs typeface="Times New Roman" pitchFamily="18" charset="0"/>
              </a:rPr>
              <a:t> provides profound insights into the life and responsibilities of a priest. He speaks of the priesthood as a vocation that involves great responsibility and personal sacrifice. Chrysostom emphasizes that pastoral care requires not just theological knowledge but also the ability to guide and serve the community in a loving, humble manner.</a:t>
            </a:r>
            <a:endParaRPr lang="en-GB" sz="2200" dirty="0" smtClean="0">
              <a:latin typeface="Times New Roman" pitchFamily="18" charset="0"/>
              <a:ea typeface="Times New Roman"/>
              <a:cs typeface="Times New Roman" pitchFamily="18" charset="0"/>
            </a:endParaRPr>
          </a:p>
          <a:p>
            <a:pPr marL="0" lvl="0" indent="0" algn="just">
              <a:lnSpc>
                <a:spcPct val="115000"/>
              </a:lnSpc>
              <a:spcAft>
                <a:spcPts val="1000"/>
              </a:spcAft>
              <a:buNone/>
              <a:tabLst>
                <a:tab pos="457200" algn="l"/>
              </a:tabLst>
            </a:pPr>
            <a:r>
              <a:rPr lang="en-GB" sz="2200" b="1" dirty="0" smtClean="0">
                <a:effectLst/>
                <a:latin typeface="Times New Roman" pitchFamily="18" charset="0"/>
                <a:ea typeface="Times New Roman"/>
                <a:cs typeface="Times New Roman" pitchFamily="18" charset="0"/>
              </a:rPr>
              <a:t>Quote:</a:t>
            </a:r>
            <a:r>
              <a:rPr lang="en-GB" sz="2200" dirty="0" smtClean="0">
                <a:effectLst/>
                <a:latin typeface="Times New Roman" pitchFamily="18" charset="0"/>
                <a:ea typeface="Times New Roman"/>
                <a:cs typeface="Times New Roman" pitchFamily="18" charset="0"/>
              </a:rPr>
              <a:t> "The priesthood is the most </a:t>
            </a:r>
            <a:r>
              <a:rPr lang="en-GB" sz="2200" dirty="0" err="1" smtClean="0">
                <a:effectLst/>
                <a:latin typeface="Times New Roman" pitchFamily="18" charset="0"/>
                <a:ea typeface="Times New Roman"/>
                <a:cs typeface="Times New Roman" pitchFamily="18" charset="0"/>
              </a:rPr>
              <a:t>honored</a:t>
            </a:r>
            <a:r>
              <a:rPr lang="en-GB" sz="2200" dirty="0" smtClean="0">
                <a:effectLst/>
                <a:latin typeface="Times New Roman" pitchFamily="18" charset="0"/>
                <a:ea typeface="Times New Roman"/>
                <a:cs typeface="Times New Roman" pitchFamily="18" charset="0"/>
              </a:rPr>
              <a:t> and most glorious of all the professions, and a priest is called to become a mediator between God and men, offering up prayers and sacrifices for the people."</a:t>
            </a:r>
            <a:endParaRPr lang="en-GB" sz="2200" dirty="0">
              <a:latin typeface="Times New Roman" pitchFamily="18" charset="0"/>
              <a:ea typeface="Calibri"/>
              <a:cs typeface="Times New Roman" pitchFamily="18" charset="0"/>
            </a:endParaRPr>
          </a:p>
          <a:p>
            <a:pPr marL="0" indent="0">
              <a:buNone/>
            </a:pPr>
            <a:endParaRPr lang="en-GB" sz="2000" dirty="0">
              <a:latin typeface="Times New Roman" pitchFamily="18" charset="0"/>
              <a:cs typeface="Times New Roman" pitchFamily="18" charset="0"/>
            </a:endParaRPr>
          </a:p>
        </p:txBody>
      </p:sp>
    </p:spTree>
    <p:extLst>
      <p:ext uri="{BB962C8B-B14F-4D97-AF65-F5344CB8AC3E}">
        <p14:creationId xmlns:p14="http://schemas.microsoft.com/office/powerpoint/2010/main" val="661205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Times New Roman" pitchFamily="18" charset="0"/>
                <a:cs typeface="Times New Roman" pitchFamily="18" charset="0"/>
              </a:rPr>
              <a:t>Questions</a:t>
            </a:r>
            <a:r>
              <a:rPr lang="en-GB" dirty="0" smtClean="0"/>
              <a:t> </a:t>
            </a:r>
            <a:endParaRPr lang="en-GB" dirty="0"/>
          </a:p>
        </p:txBody>
      </p:sp>
      <p:sp>
        <p:nvSpPr>
          <p:cNvPr id="3" name="Content Placeholder 2"/>
          <p:cNvSpPr>
            <a:spLocks noGrp="1"/>
          </p:cNvSpPr>
          <p:nvPr>
            <p:ph idx="1"/>
          </p:nvPr>
        </p:nvSpPr>
        <p:spPr/>
        <p:txBody>
          <a:bodyPr>
            <a:normAutofit fontScale="92500" lnSpcReduction="20000"/>
          </a:bodyPr>
          <a:lstStyle/>
          <a:p>
            <a:pPr marL="0" indent="0" algn="just">
              <a:lnSpc>
                <a:spcPct val="115000"/>
              </a:lnSpc>
              <a:spcAft>
                <a:spcPts val="1000"/>
              </a:spcAft>
              <a:buNone/>
            </a:pPr>
            <a:r>
              <a:rPr lang="en-GB" dirty="0" smtClean="0">
                <a:effectLst/>
                <a:latin typeface="Times New Roman" pitchFamily="18" charset="0"/>
                <a:ea typeface="Times New Roman"/>
                <a:cs typeface="Times New Roman" pitchFamily="18" charset="0"/>
              </a:rPr>
              <a:t>1/ </a:t>
            </a:r>
            <a:r>
              <a:rPr lang="en-GB" sz="2400" dirty="0" smtClean="0">
                <a:effectLst/>
                <a:latin typeface="Times New Roman" pitchFamily="18" charset="0"/>
                <a:ea typeface="Times New Roman"/>
                <a:cs typeface="Times New Roman" pitchFamily="18" charset="0"/>
              </a:rPr>
              <a:t>How does the definition of pastoral theology differ across various Christian traditions, and what are the implications of these differences for pastoral practice in diverse cultural contexts?</a:t>
            </a:r>
          </a:p>
          <a:p>
            <a:pPr marL="0" indent="0" algn="just">
              <a:lnSpc>
                <a:spcPct val="115000"/>
              </a:lnSpc>
              <a:spcAft>
                <a:spcPts val="1000"/>
              </a:spcAft>
              <a:buNone/>
            </a:pPr>
            <a:r>
              <a:rPr lang="en-GB" sz="2400" dirty="0" smtClean="0">
                <a:effectLst/>
                <a:latin typeface="Times New Roman"/>
                <a:ea typeface="Times New Roman"/>
              </a:rPr>
              <a:t>2/ In what ways does pastoral theology intersect with other theological disciplines, such as biblical studies, ethics, and practical theology, and how does this interdisciplinary approach enrich the role of the pastor in contemporary society?</a:t>
            </a:r>
          </a:p>
          <a:p>
            <a:pPr marL="0" indent="0" algn="just">
              <a:lnSpc>
                <a:spcPct val="115000"/>
              </a:lnSpc>
              <a:spcAft>
                <a:spcPts val="1000"/>
              </a:spcAft>
              <a:buNone/>
            </a:pPr>
            <a:r>
              <a:rPr lang="en-GB" sz="2400" smtClean="0">
                <a:effectLst/>
                <a:latin typeface="Times New Roman" pitchFamily="18" charset="0"/>
                <a:ea typeface="Times New Roman"/>
                <a:cs typeface="Times New Roman" pitchFamily="18" charset="0"/>
              </a:rPr>
              <a:t>3/ Considering </a:t>
            </a:r>
            <a:r>
              <a:rPr lang="en-GB" sz="2400" dirty="0" smtClean="0">
                <a:effectLst/>
                <a:latin typeface="Times New Roman" pitchFamily="18" charset="0"/>
                <a:ea typeface="Times New Roman"/>
                <a:cs typeface="Times New Roman" pitchFamily="18" charset="0"/>
              </a:rPr>
              <a:t>the scope of pastoral theology as a discipline that addresses both the spiritual and practical needs of individuals, how should pastoral theologians balance theological rigor with pastoral empathy when responding to the diverse needs of a congregation?</a:t>
            </a:r>
            <a:endParaRPr lang="en-GB" sz="1800" dirty="0">
              <a:latin typeface="Times New Roman" pitchFamily="18" charset="0"/>
              <a:ea typeface="Calibri"/>
              <a:cs typeface="Times New Roman" pitchFamily="18" charset="0"/>
            </a:endParaRPr>
          </a:p>
          <a:p>
            <a:pPr marL="0" indent="0" algn="just">
              <a:lnSpc>
                <a:spcPct val="115000"/>
              </a:lnSpc>
              <a:spcAft>
                <a:spcPts val="1000"/>
              </a:spcAft>
              <a:buNone/>
            </a:pPr>
            <a:endParaRPr lang="en-GB" sz="2400" dirty="0">
              <a:latin typeface="Times New Roman" pitchFamily="18" charset="0"/>
              <a:ea typeface="Calibri"/>
              <a:cs typeface="Times New Roman" pitchFamily="18" charset="0"/>
            </a:endParaRPr>
          </a:p>
          <a:p>
            <a:endParaRPr lang="en-GB" dirty="0"/>
          </a:p>
        </p:txBody>
      </p:sp>
    </p:spTree>
    <p:extLst>
      <p:ext uri="{BB962C8B-B14F-4D97-AF65-F5344CB8AC3E}">
        <p14:creationId xmlns:p14="http://schemas.microsoft.com/office/powerpoint/2010/main" val="2739510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TotalTime>
  <Words>1527</Words>
  <Application>Microsoft Office PowerPoint</Application>
  <PresentationFormat>On-screen Show (4:3)</PresentationFormat>
  <Paragraphs>36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Pastoral Theology</vt:lpstr>
      <vt:lpstr>Pastoral Theology</vt:lpstr>
      <vt:lpstr>Pragmatic &amp; Speculative</vt:lpstr>
      <vt:lpstr>Pastoral theology</vt:lpstr>
      <vt:lpstr>Terms refer to the pastoral office: </vt:lpstr>
      <vt:lpstr>The Scope of Pastoral Theology</vt:lpstr>
      <vt:lpstr>1/Theological Foundations of Ministry</vt:lpstr>
      <vt:lpstr>2/Pastoral Care and Counseling</vt:lpstr>
      <vt:lpstr>3/ Preaching and Homiletics</vt:lpstr>
      <vt:lpstr>4/ Sacramental Theology</vt:lpstr>
      <vt:lpstr>5/ Ethics and Moral Leadership</vt:lpstr>
      <vt:lpstr>6/ Church Growth and Leadership</vt:lpstr>
      <vt:lpstr>7/ Contextual and Cultural Awareness</vt:lpstr>
      <vt:lpstr>PowerPoint Presentation</vt:lpstr>
      <vt:lpstr>St. John Chrysostom </vt:lpstr>
      <vt:lpstr>Questions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Pastoral Theology</dc:title>
  <dc:creator>Windows User</dc:creator>
  <cp:lastModifiedBy>Windows User</cp:lastModifiedBy>
  <cp:revision>10</cp:revision>
  <dcterms:created xsi:type="dcterms:W3CDTF">2025-03-15T17:49:17Z</dcterms:created>
  <dcterms:modified xsi:type="dcterms:W3CDTF">2025-04-23T01:33:23Z</dcterms:modified>
</cp:coreProperties>
</file>