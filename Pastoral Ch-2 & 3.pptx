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2" r:id="rId5"/>
    <p:sldId id="258" r:id="rId6"/>
    <p:sldId id="259" r:id="rId7"/>
    <p:sldId id="264" r:id="rId8"/>
    <p:sldId id="265" r:id="rId9"/>
    <p:sldId id="260" r:id="rId10"/>
    <p:sldId id="261" r:id="rId11"/>
    <p:sldId id="262" r:id="rId12"/>
    <p:sldId id="273" r:id="rId13"/>
    <p:sldId id="263" r:id="rId14"/>
    <p:sldId id="266" r:id="rId15"/>
    <p:sldId id="267" r:id="rId16"/>
    <p:sldId id="268" r:id="rId17"/>
    <p:sldId id="269" r:id="rId18"/>
    <p:sldId id="270" r:id="rId19"/>
    <p:sldId id="274" r:id="rId20"/>
    <p:sldId id="285" r:id="rId21"/>
    <p:sldId id="275" r:id="rId22"/>
    <p:sldId id="276" r:id="rId23"/>
    <p:sldId id="277" r:id="rId24"/>
    <p:sldId id="278" r:id="rId25"/>
    <p:sldId id="279" r:id="rId26"/>
    <p:sldId id="280" r:id="rId27"/>
    <p:sldId id="281" r:id="rId28"/>
    <p:sldId id="282"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2669126-3DAD-4D56-9797-C26987AA87F8}" type="datetimeFigureOut">
              <a:rPr lang="en-GB" smtClean="0"/>
              <a:t>07/04/2025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3985994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2669126-3DAD-4D56-9797-C26987AA87F8}" type="datetimeFigureOut">
              <a:rPr lang="en-GB" smtClean="0"/>
              <a:t>07/04/2025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4248363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669126-3DAD-4D56-9797-C26987AA87F8}" type="datetimeFigureOut">
              <a:rPr lang="en-GB" smtClean="0"/>
              <a:t>07/04/2025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1043714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2669126-3DAD-4D56-9797-C26987AA87F8}" type="datetimeFigureOut">
              <a:rPr lang="en-GB" smtClean="0"/>
              <a:t>07/04/2025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738411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2669126-3DAD-4D56-9797-C26987AA87F8}" type="datetimeFigureOut">
              <a:rPr lang="en-GB" smtClean="0"/>
              <a:t>07/04/2025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2827849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2669126-3DAD-4D56-9797-C26987AA87F8}" type="datetimeFigureOut">
              <a:rPr lang="en-GB" smtClean="0"/>
              <a:t>07/04/2025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2251067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669126-3DAD-4D56-9797-C26987AA87F8}" type="datetimeFigureOut">
              <a:rPr lang="en-GB" smtClean="0"/>
              <a:t>07/04/2025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683273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669126-3DAD-4D56-9797-C26987AA87F8}" type="datetimeFigureOut">
              <a:rPr lang="en-GB" smtClean="0"/>
              <a:t>07/04/2025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3782278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669126-3DAD-4D56-9797-C26987AA87F8}" type="datetimeFigureOut">
              <a:rPr lang="en-GB" smtClean="0"/>
              <a:t>07/04/2025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3062075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2669126-3DAD-4D56-9797-C26987AA87F8}" type="datetimeFigureOut">
              <a:rPr lang="en-GB" smtClean="0"/>
              <a:t>07/04/2025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2562720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2669126-3DAD-4D56-9797-C26987AA87F8}" type="datetimeFigureOut">
              <a:rPr lang="en-GB" smtClean="0"/>
              <a:t>07/04/2025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09505D-0516-40D7-8675-49CD171AB4E2}" type="slidenum">
              <a:rPr lang="en-GB" smtClean="0"/>
              <a:t>‹#›</a:t>
            </a:fld>
            <a:endParaRPr lang="en-GB"/>
          </a:p>
        </p:txBody>
      </p:sp>
    </p:spTree>
    <p:extLst>
      <p:ext uri="{BB962C8B-B14F-4D97-AF65-F5344CB8AC3E}">
        <p14:creationId xmlns:p14="http://schemas.microsoft.com/office/powerpoint/2010/main" val="411849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69126-3DAD-4D56-9797-C26987AA87F8}" type="datetimeFigureOut">
              <a:rPr lang="en-GB" smtClean="0"/>
              <a:t>07/04/2025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9505D-0516-40D7-8675-49CD171AB4E2}" type="slidenum">
              <a:rPr lang="en-GB" smtClean="0"/>
              <a:t>‹#›</a:t>
            </a:fld>
            <a:endParaRPr lang="en-GB"/>
          </a:p>
        </p:txBody>
      </p:sp>
    </p:spTree>
    <p:extLst>
      <p:ext uri="{BB962C8B-B14F-4D97-AF65-F5344CB8AC3E}">
        <p14:creationId xmlns:p14="http://schemas.microsoft.com/office/powerpoint/2010/main" val="2753162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smtClean="0">
                <a:solidFill>
                  <a:srgbClr val="00B050"/>
                </a:solidFill>
              </a:rPr>
              <a:t>CHAPTER TWO</a:t>
            </a:r>
            <a:endParaRPr lang="en-GB" b="1" dirty="0">
              <a:solidFill>
                <a:srgbClr val="00B050"/>
              </a:solidFill>
            </a:endParaRPr>
          </a:p>
        </p:txBody>
      </p:sp>
      <p:sp>
        <p:nvSpPr>
          <p:cNvPr id="3" name="Subtitle 2"/>
          <p:cNvSpPr>
            <a:spLocks noGrp="1"/>
          </p:cNvSpPr>
          <p:nvPr>
            <p:ph type="subTitle" idx="1"/>
          </p:nvPr>
        </p:nvSpPr>
        <p:spPr/>
        <p:txBody>
          <a:bodyPr/>
          <a:lstStyle/>
          <a:p>
            <a:r>
              <a:rPr lang="en-GB" b="1" dirty="0">
                <a:highlight>
                  <a:srgbClr val="006400"/>
                </a:highlight>
                <a:latin typeface="Times New Roman"/>
                <a:ea typeface="Times New Roman"/>
              </a:rPr>
              <a:t>The Priesthood in the Holy Scripture</a:t>
            </a:r>
            <a:endParaRPr lang="en-GB" dirty="0"/>
          </a:p>
        </p:txBody>
      </p:sp>
    </p:spTree>
    <p:extLst>
      <p:ext uri="{BB962C8B-B14F-4D97-AF65-F5344CB8AC3E}">
        <p14:creationId xmlns:p14="http://schemas.microsoft.com/office/powerpoint/2010/main" val="408288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lvl="0" indent="-342900">
              <a:lnSpc>
                <a:spcPct val="115000"/>
              </a:lnSpc>
              <a:spcBef>
                <a:spcPct val="20000"/>
              </a:spcBef>
              <a:spcAft>
                <a:spcPts val="1000"/>
              </a:spcAft>
            </a:pPr>
            <a:r>
              <a:rPr lang="en-GB" sz="2700" b="1" dirty="0">
                <a:solidFill>
                  <a:prstClr val="black"/>
                </a:solidFill>
                <a:latin typeface="Times New Roman"/>
                <a:ea typeface="Times New Roman"/>
                <a:cs typeface="Times New Roman"/>
              </a:rPr>
              <a:t>Introduction</a:t>
            </a:r>
            <a:r>
              <a:rPr lang="en-GB" sz="2400" dirty="0">
                <a:solidFill>
                  <a:prstClr val="black"/>
                </a:solidFill>
                <a:ea typeface="Calibri"/>
                <a:cs typeface="Times New Roman"/>
              </a:rPr>
              <a:t/>
            </a:r>
            <a:br>
              <a:rPr lang="en-GB" sz="2400" dirty="0">
                <a:solidFill>
                  <a:prstClr val="black"/>
                </a:solidFill>
                <a:ea typeface="Calibri"/>
                <a:cs typeface="Times New Roman"/>
              </a:rPr>
            </a:br>
            <a:endParaRPr lang="en-GB" dirty="0"/>
          </a:p>
        </p:txBody>
      </p:sp>
      <p:sp>
        <p:nvSpPr>
          <p:cNvPr id="3" name="Content Placeholder 2"/>
          <p:cNvSpPr>
            <a:spLocks noGrp="1"/>
          </p:cNvSpPr>
          <p:nvPr>
            <p:ph idx="1"/>
          </p:nvPr>
        </p:nvSpPr>
        <p:spPr/>
        <p:txBody>
          <a:bodyPr>
            <a:normAutofit fontScale="85000" lnSpcReduction="10000"/>
          </a:bodyPr>
          <a:lstStyle/>
          <a:p>
            <a:pPr marL="0" indent="0" algn="just">
              <a:lnSpc>
                <a:spcPct val="115000"/>
              </a:lnSpc>
              <a:spcAft>
                <a:spcPts val="1000"/>
              </a:spcAft>
              <a:buNone/>
            </a:pPr>
            <a:r>
              <a:rPr lang="en-GB" dirty="0" smtClean="0">
                <a:latin typeface="Times New Roman"/>
                <a:ea typeface="Times New Roman"/>
                <a:cs typeface="Times New Roman"/>
              </a:rPr>
              <a:t>The </a:t>
            </a:r>
            <a:r>
              <a:rPr lang="en-GB" dirty="0">
                <a:latin typeface="Times New Roman"/>
                <a:ea typeface="Times New Roman"/>
                <a:cs typeface="Times New Roman"/>
              </a:rPr>
              <a:t>concept of priesthood plays a pivotal role in the spiritual and religious landscapes of the Abrahamic faiths. Within the Holy Scriptures—spanning the Old and New Testaments—priesthood is both a divine institution and a sacred vocation that reflects the relationship between God and His people. This note aims to explore the priesthood in biblical scripture, examining its origins, roles, symbolism, and its significance for both ancient and modern believers.</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3365283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just">
              <a:buNone/>
            </a:pPr>
            <a:r>
              <a:rPr lang="en-GB" sz="2200" dirty="0" err="1" smtClean="0">
                <a:latin typeface="Power Geez Unicode1"/>
                <a:ea typeface="Calibri"/>
                <a:cs typeface="Ebrima"/>
              </a:rPr>
              <a:t>የመጀመሪያዎቹ</a:t>
            </a:r>
            <a:r>
              <a:rPr lang="en-GB" sz="2200" dirty="0" smtClean="0">
                <a:latin typeface="Power Geez Unicode1"/>
                <a:ea typeface="Calibri"/>
                <a:cs typeface="Arial"/>
              </a:rPr>
              <a:t> </a:t>
            </a:r>
            <a:r>
              <a:rPr lang="en-GB" sz="2200" dirty="0" err="1">
                <a:latin typeface="Power Geez Unicode1"/>
                <a:ea typeface="Calibri"/>
                <a:cs typeface="Ebrima"/>
              </a:rPr>
              <a:t>ካህናት</a:t>
            </a:r>
            <a:r>
              <a:rPr lang="en-GB" sz="2200" dirty="0">
                <a:latin typeface="Power Geez Unicode1"/>
                <a:ea typeface="Calibri"/>
                <a:cs typeface="Arial"/>
              </a:rPr>
              <a:t> </a:t>
            </a:r>
            <a:r>
              <a:rPr lang="en-GB" sz="2200" dirty="0" err="1">
                <a:latin typeface="Power Geez Unicode1"/>
                <a:ea typeface="Calibri"/>
                <a:cs typeface="Ebrima"/>
              </a:rPr>
              <a:t>መላእክት</a:t>
            </a:r>
            <a:r>
              <a:rPr lang="en-GB" sz="2200" dirty="0">
                <a:latin typeface="Power Geez Unicode1"/>
                <a:ea typeface="Calibri"/>
                <a:cs typeface="Arial"/>
              </a:rPr>
              <a:t> </a:t>
            </a:r>
            <a:r>
              <a:rPr lang="en-GB" sz="2200" dirty="0" err="1">
                <a:latin typeface="Power Geez Unicode1"/>
                <a:ea typeface="Calibri"/>
                <a:cs typeface="Ebrima"/>
              </a:rPr>
              <a:t>ናቸው</a:t>
            </a:r>
            <a:r>
              <a:rPr lang="en-GB" sz="2200" dirty="0">
                <a:latin typeface="Power Geez Unicode1"/>
                <a:ea typeface="Calibri"/>
                <a:cs typeface="Ebrima"/>
              </a:rPr>
              <a:t>፡፡</a:t>
            </a:r>
            <a:r>
              <a:rPr lang="en-GB" sz="2200" dirty="0">
                <a:latin typeface="Power Geez Unicode1"/>
                <a:ea typeface="Calibri"/>
                <a:cs typeface="Arial"/>
              </a:rPr>
              <a:t> </a:t>
            </a:r>
            <a:r>
              <a:rPr lang="en-GB" sz="2200" dirty="0" smtClean="0">
                <a:latin typeface="Power Geez Unicode1"/>
                <a:ea typeface="Calibri"/>
                <a:cs typeface="Arial"/>
              </a:rPr>
              <a:t>‹‹</a:t>
            </a:r>
            <a:r>
              <a:rPr lang="en-GB" sz="2200" dirty="0" err="1">
                <a:latin typeface="Power Geez Unicode1"/>
                <a:ea typeface="Calibri"/>
                <a:cs typeface="Ebrima"/>
              </a:rPr>
              <a:t>በዙፋኑ</a:t>
            </a:r>
            <a:r>
              <a:rPr lang="en-GB" sz="2200" dirty="0">
                <a:latin typeface="Power Geez Unicode1"/>
                <a:ea typeface="Calibri"/>
                <a:cs typeface="Arial"/>
              </a:rPr>
              <a:t> </a:t>
            </a:r>
            <a:r>
              <a:rPr lang="en-GB" sz="2200" dirty="0" err="1">
                <a:latin typeface="Power Geez Unicode1"/>
                <a:ea typeface="Calibri"/>
                <a:cs typeface="Ebrima"/>
              </a:rPr>
              <a:t>ዙሪያ</a:t>
            </a:r>
            <a:r>
              <a:rPr lang="en-GB" sz="2200" dirty="0">
                <a:latin typeface="Power Geez Unicode1"/>
                <a:ea typeface="Calibri"/>
                <a:cs typeface="Arial"/>
              </a:rPr>
              <a:t> </a:t>
            </a:r>
            <a:r>
              <a:rPr lang="en-GB" sz="2200" dirty="0" err="1">
                <a:latin typeface="Power Geez Unicode1"/>
                <a:ea typeface="Calibri"/>
                <a:cs typeface="Ebrima"/>
              </a:rPr>
              <a:t>ሃያ</a:t>
            </a:r>
            <a:r>
              <a:rPr lang="en-GB" sz="2200" dirty="0">
                <a:latin typeface="Power Geez Unicode1"/>
                <a:ea typeface="Calibri"/>
                <a:cs typeface="Arial"/>
              </a:rPr>
              <a:t> </a:t>
            </a:r>
            <a:r>
              <a:rPr lang="en-GB" sz="2200" dirty="0" err="1">
                <a:latin typeface="Power Geez Unicode1"/>
                <a:ea typeface="Calibri"/>
                <a:cs typeface="Ebrima"/>
              </a:rPr>
              <a:t>አራት</a:t>
            </a:r>
            <a:r>
              <a:rPr lang="en-GB" sz="2200" dirty="0">
                <a:latin typeface="Power Geez Unicode1"/>
                <a:ea typeface="Calibri"/>
                <a:cs typeface="Arial"/>
              </a:rPr>
              <a:t> </a:t>
            </a:r>
            <a:r>
              <a:rPr lang="en-GB" sz="2200" dirty="0" err="1">
                <a:latin typeface="Power Geez Unicode1"/>
                <a:ea typeface="Calibri"/>
                <a:cs typeface="Ebrima"/>
              </a:rPr>
              <a:t>ወንበሮች</a:t>
            </a:r>
            <a:r>
              <a:rPr lang="en-GB" sz="2200" dirty="0">
                <a:latin typeface="Power Geez Unicode1"/>
                <a:ea typeface="Calibri"/>
                <a:cs typeface="Arial"/>
              </a:rPr>
              <a:t> </a:t>
            </a:r>
            <a:r>
              <a:rPr lang="en-GB" sz="2200" dirty="0" err="1">
                <a:latin typeface="Power Geez Unicode1"/>
                <a:ea typeface="Calibri"/>
                <a:cs typeface="Ebrima"/>
              </a:rPr>
              <a:t>ነበሩ</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በእነዚያ</a:t>
            </a:r>
            <a:r>
              <a:rPr lang="en-GB" sz="2200" dirty="0">
                <a:latin typeface="Power Geez Unicode1"/>
                <a:ea typeface="Calibri"/>
                <a:cs typeface="Arial"/>
              </a:rPr>
              <a:t> </a:t>
            </a:r>
            <a:r>
              <a:rPr lang="en-GB" sz="2200" dirty="0" err="1">
                <a:latin typeface="Power Geez Unicode1"/>
                <a:ea typeface="Calibri"/>
                <a:cs typeface="Ebrima"/>
              </a:rPr>
              <a:t>ወንበሮችም</a:t>
            </a:r>
            <a:r>
              <a:rPr lang="en-GB" sz="2200" dirty="0">
                <a:latin typeface="Power Geez Unicode1"/>
                <a:ea typeface="Calibri"/>
                <a:cs typeface="Arial"/>
              </a:rPr>
              <a:t> </a:t>
            </a:r>
            <a:r>
              <a:rPr lang="en-GB" sz="2200" dirty="0" err="1">
                <a:latin typeface="Power Geez Unicode1"/>
                <a:ea typeface="Calibri"/>
                <a:cs typeface="Ebrima"/>
              </a:rPr>
              <a:t>ሃያ</a:t>
            </a:r>
            <a:r>
              <a:rPr lang="en-GB" sz="2200" dirty="0">
                <a:latin typeface="Power Geez Unicode1"/>
                <a:ea typeface="Calibri"/>
                <a:cs typeface="Arial"/>
              </a:rPr>
              <a:t> </a:t>
            </a:r>
            <a:r>
              <a:rPr lang="en-GB" sz="2200" dirty="0" err="1">
                <a:latin typeface="Power Geez Unicode1"/>
                <a:ea typeface="Calibri"/>
                <a:cs typeface="Ebrima"/>
              </a:rPr>
              <a:t>አራት</a:t>
            </a:r>
            <a:r>
              <a:rPr lang="en-GB" sz="2200" dirty="0">
                <a:latin typeface="Power Geez Unicode1"/>
                <a:ea typeface="Calibri"/>
                <a:cs typeface="Arial"/>
              </a:rPr>
              <a:t> </a:t>
            </a:r>
            <a:r>
              <a:rPr lang="en-GB" sz="2200" dirty="0" err="1">
                <a:latin typeface="Power Geez Unicode1"/>
                <a:ea typeface="Calibri"/>
                <a:cs typeface="Ebrima"/>
              </a:rPr>
              <a:t>አለቆች</a:t>
            </a:r>
            <a:r>
              <a:rPr lang="en-GB" sz="2200" dirty="0">
                <a:latin typeface="Power Geez Unicode1"/>
                <a:ea typeface="Calibri"/>
                <a:cs typeface="Arial"/>
              </a:rPr>
              <a:t> (</a:t>
            </a:r>
            <a:r>
              <a:rPr lang="en-GB" sz="2200" dirty="0" err="1">
                <a:latin typeface="Power Geez Unicode1"/>
                <a:ea typeface="Calibri"/>
                <a:cs typeface="Ebrima"/>
              </a:rPr>
              <a:t>ካህናተ</a:t>
            </a:r>
            <a:r>
              <a:rPr lang="en-GB" sz="2200" dirty="0">
                <a:latin typeface="Power Geez Unicode1"/>
                <a:ea typeface="Calibri"/>
                <a:cs typeface="Arial"/>
              </a:rPr>
              <a:t> </a:t>
            </a:r>
            <a:r>
              <a:rPr lang="en-GB" sz="2200" dirty="0" err="1">
                <a:latin typeface="Power Geez Unicode1"/>
                <a:ea typeface="Calibri"/>
                <a:cs typeface="Ebrima"/>
              </a:rPr>
              <a:t>ሰማይ</a:t>
            </a:r>
            <a:r>
              <a:rPr lang="en-GB" sz="2200" dirty="0">
                <a:latin typeface="Power Geez Unicode1"/>
                <a:ea typeface="Calibri"/>
                <a:cs typeface="Arial"/>
              </a:rPr>
              <a:t>) </a:t>
            </a:r>
            <a:r>
              <a:rPr lang="en-GB" sz="2200" dirty="0" err="1">
                <a:latin typeface="Power Geez Unicode1"/>
                <a:ea typeface="Calibri"/>
                <a:cs typeface="Ebrima"/>
              </a:rPr>
              <a:t>ተቀምጠዋል</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ነጭ</a:t>
            </a:r>
            <a:r>
              <a:rPr lang="en-GB" sz="2200" dirty="0">
                <a:latin typeface="Power Geez Unicode1"/>
                <a:ea typeface="Calibri"/>
                <a:cs typeface="Arial"/>
              </a:rPr>
              <a:t> </a:t>
            </a:r>
            <a:r>
              <a:rPr lang="en-GB" sz="2200" dirty="0" err="1">
                <a:latin typeface="Power Geez Unicode1"/>
                <a:ea typeface="Calibri"/>
                <a:cs typeface="Ebrima"/>
              </a:rPr>
              <a:t>ልብስም</a:t>
            </a:r>
            <a:r>
              <a:rPr lang="en-GB" sz="2200" dirty="0">
                <a:latin typeface="Power Geez Unicode1"/>
                <a:ea typeface="Calibri"/>
                <a:cs typeface="Arial"/>
              </a:rPr>
              <a:t> </a:t>
            </a:r>
            <a:r>
              <a:rPr lang="en-GB" sz="2200" dirty="0" err="1">
                <a:latin typeface="Power Geez Unicode1"/>
                <a:ea typeface="Calibri"/>
                <a:cs typeface="Ebrima"/>
              </a:rPr>
              <a:t>ለብሰዋል</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በራሶቻቸው</a:t>
            </a:r>
            <a:r>
              <a:rPr lang="en-GB" sz="2200" dirty="0">
                <a:latin typeface="Power Geez Unicode1"/>
                <a:ea typeface="Calibri"/>
                <a:cs typeface="Arial"/>
              </a:rPr>
              <a:t> </a:t>
            </a:r>
            <a:r>
              <a:rPr lang="en-GB" sz="2200" dirty="0" err="1">
                <a:latin typeface="Power Geez Unicode1"/>
                <a:ea typeface="Calibri"/>
                <a:cs typeface="Ebrima"/>
              </a:rPr>
              <a:t>ላይ</a:t>
            </a:r>
            <a:r>
              <a:rPr lang="en-GB" sz="2200" dirty="0">
                <a:latin typeface="Power Geez Unicode1"/>
                <a:ea typeface="Calibri"/>
                <a:cs typeface="Arial"/>
              </a:rPr>
              <a:t> </a:t>
            </a:r>
            <a:r>
              <a:rPr lang="en-GB" sz="2200" dirty="0" err="1">
                <a:latin typeface="Power Geez Unicode1"/>
                <a:ea typeface="Calibri"/>
                <a:cs typeface="Ebrima"/>
              </a:rPr>
              <a:t>የወርቅ</a:t>
            </a:r>
            <a:r>
              <a:rPr lang="en-GB" sz="2200" dirty="0">
                <a:latin typeface="Power Geez Unicode1"/>
                <a:ea typeface="Calibri"/>
                <a:cs typeface="Arial"/>
              </a:rPr>
              <a:t> </a:t>
            </a:r>
            <a:r>
              <a:rPr lang="en-GB" sz="2200" dirty="0" err="1">
                <a:latin typeface="Power Geez Unicode1"/>
                <a:ea typeface="Calibri"/>
                <a:cs typeface="Ebrima"/>
              </a:rPr>
              <a:t>አክሊሎች</a:t>
            </a:r>
            <a:r>
              <a:rPr lang="en-GB" sz="2200" dirty="0">
                <a:latin typeface="Power Geez Unicode1"/>
                <a:ea typeface="Calibri"/>
                <a:cs typeface="Arial"/>
              </a:rPr>
              <a:t> </a:t>
            </a:r>
            <a:r>
              <a:rPr lang="en-GB" sz="2200" dirty="0" err="1">
                <a:latin typeface="Power Geez Unicode1"/>
                <a:ea typeface="Calibri"/>
                <a:cs typeface="Ebrima"/>
              </a:rPr>
              <a:t>ደፍተው</a:t>
            </a:r>
            <a:r>
              <a:rPr lang="en-GB" sz="2200" dirty="0">
                <a:latin typeface="Power Geez Unicode1"/>
                <a:ea typeface="Calibri"/>
                <a:cs typeface="Arial"/>
              </a:rPr>
              <a:t> </a:t>
            </a:r>
            <a:r>
              <a:rPr lang="en-GB" sz="2200" dirty="0" err="1">
                <a:latin typeface="Power Geez Unicode1"/>
                <a:ea typeface="Calibri"/>
                <a:cs typeface="Ebrima"/>
              </a:rPr>
              <a:t>ነበር</a:t>
            </a:r>
            <a:r>
              <a:rPr lang="en-GB" sz="2200" dirty="0">
                <a:latin typeface="Power Geez Unicode1"/>
                <a:ea typeface="Calibri"/>
                <a:cs typeface="Arial"/>
              </a:rPr>
              <a:t> … </a:t>
            </a:r>
            <a:r>
              <a:rPr lang="en-GB" sz="2200" dirty="0" err="1">
                <a:latin typeface="Power Geez Unicode1"/>
                <a:ea typeface="Calibri"/>
                <a:cs typeface="Ebrima"/>
              </a:rPr>
              <a:t>በዂለንተናቸው</a:t>
            </a:r>
            <a:r>
              <a:rPr lang="en-GB" sz="2200" dirty="0">
                <a:latin typeface="Power Geez Unicode1"/>
                <a:ea typeface="Calibri"/>
                <a:cs typeface="Arial"/>
              </a:rPr>
              <a:t> </a:t>
            </a:r>
            <a:r>
              <a:rPr lang="en-GB" sz="2200" dirty="0" err="1">
                <a:latin typeface="Power Geez Unicode1"/>
                <a:ea typeface="Calibri"/>
                <a:cs typeface="Ebrima"/>
              </a:rPr>
              <a:t>ዓይኖችን</a:t>
            </a:r>
            <a:r>
              <a:rPr lang="en-GB" sz="2200" dirty="0">
                <a:latin typeface="Power Geez Unicode1"/>
                <a:ea typeface="Calibri"/>
                <a:cs typeface="Arial"/>
              </a:rPr>
              <a:t> </a:t>
            </a:r>
            <a:r>
              <a:rPr lang="en-GB" sz="2200" dirty="0" err="1">
                <a:latin typeface="Power Geez Unicode1"/>
                <a:ea typeface="Calibri"/>
                <a:cs typeface="Ebrima"/>
              </a:rPr>
              <a:t>የተመሉ</a:t>
            </a:r>
            <a:r>
              <a:rPr lang="en-GB" sz="2200" dirty="0">
                <a:latin typeface="Power Geez Unicode1"/>
                <a:ea typeface="Calibri"/>
                <a:cs typeface="Arial"/>
              </a:rPr>
              <a:t> </a:t>
            </a:r>
            <a:r>
              <a:rPr lang="en-GB" sz="2200" dirty="0" err="1">
                <a:latin typeface="Power Geez Unicode1"/>
                <a:ea typeface="Calibri"/>
                <a:cs typeface="Ebrima"/>
              </a:rPr>
              <a:t>ናቸው</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ቅዱስ</a:t>
            </a:r>
            <a:r>
              <a:rPr lang="en-GB" sz="2200" dirty="0">
                <a:latin typeface="Power Geez Unicode1"/>
                <a:ea typeface="Calibri"/>
                <a:cs typeface="Arial"/>
              </a:rPr>
              <a:t> </a:t>
            </a:r>
            <a:r>
              <a:rPr lang="en-GB" sz="2200" dirty="0" err="1">
                <a:latin typeface="Power Geez Unicode1"/>
                <a:ea typeface="Calibri"/>
                <a:cs typeface="Ebrima"/>
              </a:rPr>
              <a:t>ቅዱስ</a:t>
            </a:r>
            <a:r>
              <a:rPr lang="en-GB" sz="2200" dirty="0">
                <a:latin typeface="Power Geez Unicode1"/>
                <a:ea typeface="Calibri"/>
                <a:cs typeface="Arial"/>
              </a:rPr>
              <a:t> </a:t>
            </a:r>
            <a:r>
              <a:rPr lang="en-GB" sz="2200" dirty="0" err="1">
                <a:latin typeface="Power Geez Unicode1"/>
                <a:ea typeface="Calibri"/>
                <a:cs typeface="Ebrima"/>
              </a:rPr>
              <a:t>ቅዱስ</a:t>
            </a:r>
            <a:r>
              <a:rPr lang="en-GB" sz="2200" dirty="0">
                <a:latin typeface="Power Geez Unicode1"/>
                <a:ea typeface="Calibri"/>
                <a:cs typeface="Arial"/>
              </a:rPr>
              <a:t> </a:t>
            </a:r>
            <a:r>
              <a:rPr lang="en-GB" sz="2200" dirty="0" err="1">
                <a:latin typeface="Power Geez Unicode1"/>
                <a:ea typeface="Calibri"/>
                <a:cs typeface="Ebrima"/>
              </a:rPr>
              <a:t>የነበረውና</a:t>
            </a:r>
            <a:r>
              <a:rPr lang="en-GB" sz="2200" dirty="0">
                <a:latin typeface="Power Geez Unicode1"/>
                <a:ea typeface="Calibri"/>
                <a:cs typeface="Arial"/>
              </a:rPr>
              <a:t> </a:t>
            </a:r>
            <a:r>
              <a:rPr lang="en-GB" sz="2200" dirty="0" err="1">
                <a:latin typeface="Power Geez Unicode1"/>
                <a:ea typeface="Calibri"/>
                <a:cs typeface="Ebrima"/>
              </a:rPr>
              <a:t>ያለው</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የሚመጣውም</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ዂሉንም</a:t>
            </a:r>
            <a:r>
              <a:rPr lang="en-GB" sz="2200" dirty="0">
                <a:latin typeface="Power Geez Unicode1"/>
                <a:ea typeface="Calibri"/>
                <a:cs typeface="Arial"/>
              </a:rPr>
              <a:t> </a:t>
            </a:r>
            <a:r>
              <a:rPr lang="en-GB" sz="2200" dirty="0" err="1">
                <a:latin typeface="Power Geez Unicode1"/>
                <a:ea typeface="Calibri"/>
                <a:cs typeface="Ebrima"/>
              </a:rPr>
              <a:t>የሚገዛ</a:t>
            </a:r>
            <a:r>
              <a:rPr lang="en-GB" sz="2200" dirty="0">
                <a:latin typeface="Power Geez Unicode1"/>
                <a:ea typeface="Calibri"/>
                <a:cs typeface="Arial"/>
              </a:rPr>
              <a:t> </a:t>
            </a:r>
            <a:r>
              <a:rPr lang="en-GB" sz="2200" dirty="0" err="1">
                <a:latin typeface="Power Geez Unicode1"/>
                <a:ea typeface="Calibri"/>
                <a:cs typeface="Ebrima"/>
              </a:rPr>
              <a:t>ጌታ</a:t>
            </a:r>
            <a:r>
              <a:rPr lang="en-GB" sz="2200" dirty="0">
                <a:latin typeface="Power Geez Unicode1"/>
                <a:ea typeface="Calibri"/>
                <a:cs typeface="Arial"/>
              </a:rPr>
              <a:t> </a:t>
            </a:r>
            <a:r>
              <a:rPr lang="en-GB" sz="2200" dirty="0" err="1">
                <a:latin typeface="Power Geez Unicode1"/>
                <a:ea typeface="Calibri"/>
                <a:cs typeface="Ebrima"/>
              </a:rPr>
              <a:t>አምላክ</a:t>
            </a:r>
            <a:r>
              <a:rPr lang="en-GB" sz="2200" dirty="0">
                <a:latin typeface="Power Geez Unicode1"/>
                <a:ea typeface="Calibri"/>
                <a:cs typeface="Arial"/>
              </a:rPr>
              <a:t>› </a:t>
            </a:r>
            <a:r>
              <a:rPr lang="en-GB" sz="2200" dirty="0" err="1">
                <a:latin typeface="Power Geez Unicode1"/>
                <a:ea typeface="Calibri"/>
                <a:cs typeface="Ebrima"/>
              </a:rPr>
              <a:t>እያሉ</a:t>
            </a:r>
            <a:r>
              <a:rPr lang="en-GB" sz="2200" dirty="0">
                <a:latin typeface="Power Geez Unicode1"/>
                <a:ea typeface="Calibri"/>
                <a:cs typeface="Arial"/>
              </a:rPr>
              <a:t>››</a:t>
            </a:r>
            <a:r>
              <a:rPr lang="en-GB" sz="2200" dirty="0">
                <a:ea typeface="Calibri"/>
              </a:rPr>
              <a:t> </a:t>
            </a:r>
            <a:r>
              <a:rPr lang="en-GB" sz="2200" dirty="0" err="1">
                <a:latin typeface="Power Geez Unicode1"/>
                <a:ea typeface="Calibri"/>
                <a:cs typeface="Ebrima"/>
              </a:rPr>
              <a:t>ቀንና</a:t>
            </a:r>
            <a:r>
              <a:rPr lang="en-GB" sz="2200" dirty="0">
                <a:latin typeface="Power Geez Unicode1"/>
                <a:ea typeface="Calibri"/>
                <a:cs typeface="Arial"/>
              </a:rPr>
              <a:t> </a:t>
            </a:r>
            <a:r>
              <a:rPr lang="en-GB" sz="2200" dirty="0" err="1">
                <a:latin typeface="Power Geez Unicode1"/>
                <a:ea typeface="Calibri"/>
                <a:cs typeface="Ebrima"/>
              </a:rPr>
              <a:t>ሌሊት</a:t>
            </a:r>
            <a:r>
              <a:rPr lang="en-GB" sz="2200" dirty="0">
                <a:latin typeface="Power Geez Unicode1"/>
                <a:ea typeface="Calibri"/>
                <a:cs typeface="Arial"/>
              </a:rPr>
              <a:t> </a:t>
            </a:r>
            <a:r>
              <a:rPr lang="en-GB" sz="2200" dirty="0" err="1">
                <a:latin typeface="Power Geez Unicode1"/>
                <a:ea typeface="Calibri"/>
                <a:cs typeface="Ebrima"/>
              </a:rPr>
              <a:t>አያርፉም</a:t>
            </a:r>
            <a:r>
              <a:rPr lang="en-GB" sz="2200" dirty="0">
                <a:latin typeface="Power Geez Unicode1"/>
                <a:ea typeface="Calibri"/>
                <a:cs typeface="Ebrima"/>
              </a:rPr>
              <a:t>፡፡</a:t>
            </a:r>
            <a:r>
              <a:rPr lang="en-GB" sz="2200" dirty="0">
                <a:latin typeface="Power Geez Unicode1"/>
                <a:ea typeface="Calibri"/>
                <a:cs typeface="Arial"/>
              </a:rPr>
              <a:t> </a:t>
            </a:r>
            <a:r>
              <a:rPr lang="en-GB" sz="2200" dirty="0">
                <a:latin typeface="Times New Roman"/>
                <a:ea typeface="Calibri"/>
              </a:rPr>
              <a:t> </a:t>
            </a:r>
            <a:r>
              <a:rPr lang="en-GB" sz="2200" dirty="0" err="1">
                <a:latin typeface="Power Geez Unicode1"/>
                <a:ea typeface="Calibri"/>
                <a:cs typeface="Ebrima"/>
              </a:rPr>
              <a:t>እነዚህ</a:t>
            </a:r>
            <a:r>
              <a:rPr lang="en-GB" sz="2200" dirty="0">
                <a:latin typeface="Power Geez Unicode1"/>
                <a:ea typeface="Calibri"/>
                <a:cs typeface="Arial"/>
              </a:rPr>
              <a:t> </a:t>
            </a:r>
            <a:r>
              <a:rPr lang="en-GB" sz="2200" dirty="0" err="1">
                <a:latin typeface="Power Geez Unicode1"/>
                <a:ea typeface="Calibri"/>
                <a:cs typeface="Ebrima"/>
              </a:rPr>
              <a:t>በዙፋን</a:t>
            </a:r>
            <a:r>
              <a:rPr lang="en-GB" sz="2200" dirty="0">
                <a:latin typeface="Power Geez Unicode1"/>
                <a:ea typeface="Calibri"/>
                <a:cs typeface="Arial"/>
              </a:rPr>
              <a:t> </a:t>
            </a:r>
            <a:r>
              <a:rPr lang="en-GB" sz="2200" dirty="0" err="1">
                <a:latin typeface="Power Geez Unicode1"/>
                <a:ea typeface="Calibri"/>
                <a:cs typeface="Ebrima"/>
              </a:rPr>
              <a:t>ላይ</a:t>
            </a:r>
            <a:r>
              <a:rPr lang="en-GB" sz="2200" dirty="0">
                <a:latin typeface="Power Geez Unicode1"/>
                <a:ea typeface="Calibri"/>
                <a:cs typeface="Arial"/>
              </a:rPr>
              <a:t> </a:t>
            </a:r>
            <a:r>
              <a:rPr lang="en-GB" sz="2200" dirty="0" err="1">
                <a:latin typeface="Power Geez Unicode1"/>
                <a:ea typeface="Calibri"/>
                <a:cs typeface="Ebrima"/>
              </a:rPr>
              <a:t>ለተቀመጠው</a:t>
            </a:r>
            <a:r>
              <a:rPr lang="en-GB" sz="2200" dirty="0">
                <a:latin typeface="Power Geez Unicode1"/>
                <a:ea typeface="Calibri"/>
                <a:cs typeface="Arial"/>
              </a:rPr>
              <a:t> </a:t>
            </a:r>
            <a:r>
              <a:rPr lang="en-GB" sz="2200" dirty="0" err="1">
                <a:latin typeface="Power Geez Unicode1"/>
                <a:ea typeface="Calibri"/>
                <a:cs typeface="Ebrima"/>
              </a:rPr>
              <a:t>ከዘለዓለም</a:t>
            </a:r>
            <a:r>
              <a:rPr lang="en-GB" sz="2200" dirty="0">
                <a:latin typeface="Power Geez Unicode1"/>
                <a:ea typeface="Calibri"/>
                <a:cs typeface="Arial"/>
              </a:rPr>
              <a:t> </a:t>
            </a:r>
            <a:r>
              <a:rPr lang="en-GB" sz="2200" dirty="0" err="1">
                <a:latin typeface="Power Geez Unicode1"/>
                <a:ea typeface="Calibri"/>
                <a:cs typeface="Ebrima"/>
              </a:rPr>
              <a:t>እስከዘለዓለም</a:t>
            </a:r>
            <a:r>
              <a:rPr lang="en-GB" sz="2200" dirty="0">
                <a:latin typeface="Power Geez Unicode1"/>
                <a:ea typeface="Calibri"/>
                <a:cs typeface="Arial"/>
              </a:rPr>
              <a:t> </a:t>
            </a:r>
            <a:r>
              <a:rPr lang="en-GB" sz="2200" dirty="0" err="1">
                <a:latin typeface="Power Geez Unicode1"/>
                <a:ea typeface="Calibri"/>
                <a:cs typeface="Ebrima"/>
              </a:rPr>
              <a:t>በሕይወት</a:t>
            </a:r>
            <a:r>
              <a:rPr lang="en-GB" sz="2200" dirty="0">
                <a:latin typeface="Power Geez Unicode1"/>
                <a:ea typeface="Calibri"/>
                <a:cs typeface="Arial"/>
              </a:rPr>
              <a:t> </a:t>
            </a:r>
            <a:r>
              <a:rPr lang="en-GB" sz="2200" dirty="0" err="1">
                <a:latin typeface="Power Geez Unicode1"/>
                <a:ea typeface="Calibri"/>
                <a:cs typeface="Ebrima"/>
              </a:rPr>
              <a:t>ለሚኖረው</a:t>
            </a:r>
            <a:r>
              <a:rPr lang="en-GB" sz="2200" dirty="0">
                <a:latin typeface="Power Geez Unicode1"/>
                <a:ea typeface="Calibri"/>
                <a:cs typeface="Arial"/>
              </a:rPr>
              <a:t> </a:t>
            </a:r>
            <a:r>
              <a:rPr lang="en-GB" sz="2200" dirty="0" err="1">
                <a:latin typeface="Power Geez Unicode1"/>
                <a:ea typeface="Calibri"/>
                <a:cs typeface="Ebrima"/>
              </a:rPr>
              <a:t>ለእርሱ</a:t>
            </a:r>
            <a:r>
              <a:rPr lang="en-GB" sz="2200" dirty="0">
                <a:latin typeface="Power Geez Unicode1"/>
                <a:ea typeface="Calibri"/>
                <a:cs typeface="Arial"/>
              </a:rPr>
              <a:t> </a:t>
            </a:r>
            <a:r>
              <a:rPr lang="en-GB" sz="2200" dirty="0" err="1">
                <a:latin typeface="Power Geez Unicode1"/>
                <a:ea typeface="Calibri"/>
                <a:cs typeface="Ebrima"/>
              </a:rPr>
              <a:t>አክሊላቸውን</a:t>
            </a:r>
            <a:r>
              <a:rPr lang="en-GB" sz="2200" dirty="0">
                <a:latin typeface="Power Geez Unicode1"/>
                <a:ea typeface="Calibri"/>
                <a:cs typeface="Arial"/>
              </a:rPr>
              <a:t> </a:t>
            </a:r>
            <a:r>
              <a:rPr lang="en-GB" sz="2200" dirty="0" err="1">
                <a:latin typeface="Power Geez Unicode1"/>
                <a:ea typeface="Calibri"/>
                <a:cs typeface="Ebrima"/>
              </a:rPr>
              <a:t>በዙፋኑ</a:t>
            </a:r>
            <a:r>
              <a:rPr lang="en-GB" sz="2200" dirty="0">
                <a:latin typeface="Power Geez Unicode1"/>
                <a:ea typeface="Calibri"/>
                <a:cs typeface="Arial"/>
              </a:rPr>
              <a:t> </a:t>
            </a:r>
            <a:r>
              <a:rPr lang="en-GB" sz="2200" dirty="0" err="1">
                <a:latin typeface="Power Geez Unicode1"/>
                <a:ea typeface="Calibri"/>
                <a:cs typeface="Ebrima"/>
              </a:rPr>
              <a:t>ፊት</a:t>
            </a:r>
            <a:r>
              <a:rPr lang="en-GB" sz="2200" dirty="0">
                <a:latin typeface="Power Geez Unicode1"/>
                <a:ea typeface="Calibri"/>
                <a:cs typeface="Arial"/>
              </a:rPr>
              <a:t> </a:t>
            </a:r>
            <a:r>
              <a:rPr lang="en-GB" sz="2200" dirty="0" err="1">
                <a:latin typeface="Power Geez Unicode1"/>
                <a:ea typeface="Calibri"/>
                <a:cs typeface="Ebrima"/>
              </a:rPr>
              <a:t>አውርደው</a:t>
            </a:r>
            <a:r>
              <a:rPr lang="en-GB" sz="2200" dirty="0">
                <a:latin typeface="Power Geez Unicode1"/>
                <a:ea typeface="Calibri"/>
                <a:cs typeface="Arial"/>
              </a:rPr>
              <a:t> </a:t>
            </a:r>
            <a:r>
              <a:rPr lang="en-GB" sz="2200" dirty="0" err="1">
                <a:latin typeface="Power Geez Unicode1"/>
                <a:ea typeface="Calibri"/>
                <a:cs typeface="Ebrima"/>
              </a:rPr>
              <a:t>ይሰግዳሉ</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እንዲህም</a:t>
            </a:r>
            <a:r>
              <a:rPr lang="en-GB" sz="2200" dirty="0">
                <a:latin typeface="Power Geez Unicode1"/>
                <a:ea typeface="Calibri"/>
                <a:cs typeface="Arial"/>
              </a:rPr>
              <a:t> </a:t>
            </a:r>
            <a:r>
              <a:rPr lang="en-GB" sz="2200" dirty="0" err="1">
                <a:latin typeface="Power Geez Unicode1"/>
                <a:ea typeface="Calibri"/>
                <a:cs typeface="Ebrima"/>
              </a:rPr>
              <a:t>ይላሉ</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ጌታችን</a:t>
            </a:r>
            <a:r>
              <a:rPr lang="en-GB" sz="2200" dirty="0">
                <a:latin typeface="Power Geez Unicode1"/>
                <a:ea typeface="Calibri"/>
                <a:cs typeface="Arial"/>
              </a:rPr>
              <a:t> </a:t>
            </a:r>
            <a:r>
              <a:rPr lang="en-GB" sz="2200" dirty="0" err="1">
                <a:latin typeface="Power Geez Unicode1"/>
                <a:ea typeface="Calibri"/>
                <a:cs typeface="Ebrima"/>
              </a:rPr>
              <a:t>እና</a:t>
            </a:r>
            <a:r>
              <a:rPr lang="en-GB" sz="2200" dirty="0">
                <a:latin typeface="Power Geez Unicode1"/>
                <a:ea typeface="Calibri"/>
                <a:cs typeface="Arial"/>
              </a:rPr>
              <a:t> </a:t>
            </a:r>
            <a:r>
              <a:rPr lang="en-GB" sz="2200" dirty="0" err="1">
                <a:latin typeface="Power Geez Unicode1"/>
                <a:ea typeface="Calibri"/>
                <a:cs typeface="Ebrima"/>
              </a:rPr>
              <a:t>አምላካችን</a:t>
            </a:r>
            <a:r>
              <a:rPr lang="en-GB" sz="2200" dirty="0">
                <a:latin typeface="Power Geez Unicode1"/>
                <a:ea typeface="Calibri"/>
                <a:cs typeface="Arial"/>
              </a:rPr>
              <a:t> </a:t>
            </a:r>
            <a:r>
              <a:rPr lang="en-GB" sz="2200" dirty="0" err="1">
                <a:latin typeface="Power Geez Unicode1"/>
                <a:ea typeface="Calibri"/>
                <a:cs typeface="Ebrima"/>
              </a:rPr>
              <a:t>ሆይ</a:t>
            </a:r>
            <a:r>
              <a:rPr lang="en-GB" sz="2200" dirty="0">
                <a:latin typeface="Power Geez Unicode1"/>
                <a:ea typeface="Calibri"/>
                <a:cs typeface="Ebrima"/>
              </a:rPr>
              <a:t>፣</a:t>
            </a:r>
            <a:r>
              <a:rPr lang="en-GB" sz="2200" dirty="0">
                <a:latin typeface="Power Geez Unicode1"/>
                <a:ea typeface="Calibri"/>
                <a:cs typeface="Arial"/>
              </a:rPr>
              <a:t> </a:t>
            </a:r>
            <a:r>
              <a:rPr lang="en-GB" sz="2200" dirty="0" err="1">
                <a:latin typeface="Power Geez Unicode1"/>
                <a:ea typeface="Calibri"/>
                <a:cs typeface="Ebrima"/>
              </a:rPr>
              <a:t>አንተ</a:t>
            </a:r>
            <a:r>
              <a:rPr lang="en-GB" sz="2200" dirty="0">
                <a:latin typeface="Power Geez Unicode1"/>
                <a:ea typeface="Calibri"/>
                <a:cs typeface="Arial"/>
              </a:rPr>
              <a:t> </a:t>
            </a:r>
            <a:r>
              <a:rPr lang="en-GB" sz="2200" dirty="0" err="1">
                <a:latin typeface="Power Geez Unicode1"/>
                <a:ea typeface="Calibri"/>
                <a:cs typeface="Ebrima"/>
              </a:rPr>
              <a:t>ዂሉን</a:t>
            </a:r>
            <a:r>
              <a:rPr lang="en-GB" sz="2200" dirty="0">
                <a:latin typeface="Power Geez Unicode1"/>
                <a:ea typeface="Calibri"/>
                <a:cs typeface="Arial"/>
              </a:rPr>
              <a:t> </a:t>
            </a:r>
            <a:r>
              <a:rPr lang="en-GB" sz="2200" dirty="0" err="1">
                <a:latin typeface="Power Geez Unicode1"/>
                <a:ea typeface="Calibri"/>
                <a:cs typeface="Ebrima"/>
              </a:rPr>
              <a:t>ፈጥረሃልና</a:t>
            </a:r>
            <a:r>
              <a:rPr lang="en-GB" sz="2200" dirty="0">
                <a:latin typeface="Power Geez Unicode1"/>
                <a:ea typeface="Calibri"/>
                <a:cs typeface="Arial"/>
              </a:rPr>
              <a:t> </a:t>
            </a:r>
            <a:r>
              <a:rPr lang="en-GB" sz="2200" dirty="0" err="1">
                <a:latin typeface="Power Geez Unicode1"/>
                <a:ea typeface="Calibri"/>
                <a:cs typeface="Ebrima"/>
              </a:rPr>
              <a:t>በፈቃድህም</a:t>
            </a:r>
            <a:r>
              <a:rPr lang="en-GB" sz="2200" dirty="0">
                <a:latin typeface="Power Geez Unicode1"/>
                <a:ea typeface="Calibri"/>
                <a:cs typeface="Arial"/>
              </a:rPr>
              <a:t> </a:t>
            </a:r>
            <a:r>
              <a:rPr lang="en-GB" sz="2200" dirty="0" err="1">
                <a:latin typeface="Power Geez Unicode1"/>
                <a:ea typeface="Calibri"/>
                <a:cs typeface="Ebrima"/>
              </a:rPr>
              <a:t>ኾነዋልና</a:t>
            </a:r>
            <a:r>
              <a:rPr lang="en-GB" sz="2200" dirty="0">
                <a:latin typeface="Power Geez Unicode1"/>
                <a:ea typeface="Calibri"/>
                <a:cs typeface="Arial"/>
              </a:rPr>
              <a:t> </a:t>
            </a:r>
            <a:r>
              <a:rPr lang="en-GB" sz="2200" dirty="0" err="1">
                <a:latin typeface="Power Geez Unicode1"/>
                <a:ea typeface="Calibri"/>
                <a:cs typeface="Ebrima"/>
              </a:rPr>
              <a:t>ተፈጥረውማልና</a:t>
            </a:r>
            <a:r>
              <a:rPr lang="en-GB" sz="2200" dirty="0">
                <a:latin typeface="Power Geez Unicode1"/>
                <a:ea typeface="Calibri"/>
                <a:cs typeface="Arial"/>
              </a:rPr>
              <a:t> </a:t>
            </a:r>
            <a:r>
              <a:rPr lang="en-GB" sz="2200" dirty="0" err="1">
                <a:latin typeface="Power Geez Unicode1"/>
                <a:ea typeface="Calibri"/>
                <a:cs typeface="Ebrima"/>
              </a:rPr>
              <a:t>ክብርና</a:t>
            </a:r>
            <a:r>
              <a:rPr lang="en-GB" sz="2200" dirty="0">
                <a:latin typeface="Power Geez Unicode1"/>
                <a:ea typeface="Calibri"/>
                <a:cs typeface="Arial"/>
              </a:rPr>
              <a:t> </a:t>
            </a:r>
            <a:r>
              <a:rPr lang="en-GB" sz="2200" dirty="0" err="1">
                <a:latin typeface="Power Geez Unicode1"/>
                <a:ea typeface="Calibri"/>
                <a:cs typeface="Ebrima"/>
              </a:rPr>
              <a:t>ውዳሴ</a:t>
            </a:r>
            <a:r>
              <a:rPr lang="en-GB" sz="2200" dirty="0">
                <a:latin typeface="Power Geez Unicode1"/>
                <a:ea typeface="Calibri"/>
                <a:cs typeface="Arial"/>
              </a:rPr>
              <a:t> </a:t>
            </a:r>
            <a:r>
              <a:rPr lang="en-GB" sz="2200" dirty="0" err="1">
                <a:latin typeface="Power Geez Unicode1"/>
                <a:ea typeface="Calibri"/>
                <a:cs typeface="Ebrima"/>
              </a:rPr>
              <a:t>ኀይልም</a:t>
            </a:r>
            <a:r>
              <a:rPr lang="en-GB" sz="2200" dirty="0">
                <a:latin typeface="Power Geez Unicode1"/>
                <a:ea typeface="Calibri"/>
                <a:cs typeface="Arial"/>
              </a:rPr>
              <a:t> </a:t>
            </a:r>
            <a:r>
              <a:rPr lang="en-GB" sz="2200" dirty="0" err="1">
                <a:latin typeface="Power Geez Unicode1"/>
                <a:ea typeface="Calibri"/>
                <a:cs typeface="Ebrima"/>
              </a:rPr>
              <a:t>ለአንተ</a:t>
            </a:r>
            <a:r>
              <a:rPr lang="en-GB" sz="2200" dirty="0">
                <a:latin typeface="Power Geez Unicode1"/>
                <a:ea typeface="Calibri"/>
                <a:cs typeface="Arial"/>
              </a:rPr>
              <a:t> </a:t>
            </a:r>
            <a:r>
              <a:rPr lang="en-GB" sz="2200" dirty="0" err="1" smtClean="0">
                <a:latin typeface="Power Geez Unicode1"/>
                <a:ea typeface="Calibri"/>
                <a:cs typeface="Ebrima"/>
              </a:rPr>
              <a:t>ይገባል፤ተብሎ</a:t>
            </a:r>
            <a:r>
              <a:rPr lang="en-GB" sz="2200" dirty="0" smtClean="0">
                <a:latin typeface="Power Geez Unicode1"/>
                <a:ea typeface="Calibri"/>
                <a:cs typeface="Arial"/>
              </a:rPr>
              <a:t> </a:t>
            </a:r>
            <a:r>
              <a:rPr lang="en-GB" sz="2200" dirty="0" err="1">
                <a:latin typeface="Power Geez Unicode1"/>
                <a:ea typeface="Calibri"/>
                <a:cs typeface="Ebrima"/>
              </a:rPr>
              <a:t>እንደ</a:t>
            </a:r>
            <a:r>
              <a:rPr lang="en-GB" sz="2200" dirty="0">
                <a:latin typeface="Power Geez Unicode1"/>
                <a:ea typeface="Calibri"/>
                <a:cs typeface="Arial"/>
              </a:rPr>
              <a:t> </a:t>
            </a:r>
            <a:r>
              <a:rPr lang="en-GB" sz="2200" dirty="0" err="1">
                <a:latin typeface="Power Geez Unicode1"/>
                <a:ea typeface="Calibri"/>
                <a:cs typeface="Ebrima"/>
              </a:rPr>
              <a:t>ተጻፈ</a:t>
            </a:r>
            <a:r>
              <a:rPr lang="en-GB" sz="2200" dirty="0">
                <a:latin typeface="Power Geez Unicode1"/>
                <a:ea typeface="Calibri"/>
                <a:cs typeface="Arial"/>
              </a:rPr>
              <a:t> </a:t>
            </a:r>
            <a:r>
              <a:rPr lang="en-GB" sz="2200" dirty="0" err="1" smtClean="0">
                <a:latin typeface="Power Geez Unicode1"/>
                <a:ea typeface="Calibri"/>
                <a:cs typeface="Ebrima"/>
              </a:rPr>
              <a:t>ራእ</a:t>
            </a:r>
            <a:r>
              <a:rPr lang="en-GB" sz="2200" dirty="0">
                <a:latin typeface="Power Geez Unicode1"/>
                <a:ea typeface="Calibri"/>
                <a:cs typeface="Arial"/>
              </a:rPr>
              <a:t>. </a:t>
            </a:r>
            <a:r>
              <a:rPr lang="en-GB" sz="2200" dirty="0" smtClean="0">
                <a:latin typeface="Power Geez Unicode1"/>
                <a:ea typeface="Calibri"/>
                <a:cs typeface="Ebrima"/>
              </a:rPr>
              <a:t>፬</a:t>
            </a:r>
            <a:endParaRPr lang="en-GB" sz="2200" dirty="0">
              <a:latin typeface="Power Geez Unicode1" pitchFamily="2" charset="0"/>
            </a:endParaRPr>
          </a:p>
        </p:txBody>
      </p:sp>
    </p:spTree>
    <p:extLst>
      <p:ext uri="{BB962C8B-B14F-4D97-AF65-F5344CB8AC3E}">
        <p14:creationId xmlns:p14="http://schemas.microsoft.com/office/powerpoint/2010/main" val="4214466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marL="0" indent="0" algn="just">
              <a:lnSpc>
                <a:spcPct val="115000"/>
              </a:lnSpc>
              <a:spcAft>
                <a:spcPts val="1000"/>
              </a:spcAft>
              <a:buNone/>
            </a:pPr>
            <a:r>
              <a:rPr lang="en-GB" dirty="0" err="1">
                <a:latin typeface="Power Geez Unicode1"/>
                <a:ea typeface="Calibri"/>
                <a:cs typeface="Ebrima"/>
              </a:rPr>
              <a:t>ክህነት</a:t>
            </a:r>
            <a:r>
              <a:rPr lang="en-GB" dirty="0">
                <a:latin typeface="Power Geez Unicode1"/>
                <a:ea typeface="Calibri"/>
                <a:cs typeface="Times New Roman"/>
              </a:rPr>
              <a:t> </a:t>
            </a:r>
            <a:r>
              <a:rPr lang="en-GB" dirty="0" err="1">
                <a:latin typeface="Power Geez Unicode1"/>
                <a:ea typeface="Calibri"/>
                <a:cs typeface="Ebrima"/>
              </a:rPr>
              <a:t>የተጀመረው</a:t>
            </a:r>
            <a:r>
              <a:rPr lang="en-GB" dirty="0">
                <a:latin typeface="Power Geez Unicode1"/>
                <a:ea typeface="Calibri"/>
                <a:cs typeface="Times New Roman"/>
              </a:rPr>
              <a:t> </a:t>
            </a:r>
            <a:r>
              <a:rPr lang="en-GB" dirty="0" err="1">
                <a:latin typeface="Power Geez Unicode1"/>
                <a:ea typeface="Calibri"/>
                <a:cs typeface="Ebrima"/>
              </a:rPr>
              <a:t>በመጀመሪያው</a:t>
            </a:r>
            <a:r>
              <a:rPr lang="en-GB" dirty="0">
                <a:latin typeface="Power Geez Unicode1"/>
                <a:ea typeface="Calibri"/>
                <a:cs typeface="Times New Roman"/>
              </a:rPr>
              <a:t> </a:t>
            </a:r>
            <a:r>
              <a:rPr lang="en-GB" dirty="0" err="1">
                <a:latin typeface="Power Geez Unicode1"/>
                <a:ea typeface="Calibri"/>
                <a:cs typeface="Ebrima"/>
              </a:rPr>
              <a:t>ሰው</a:t>
            </a:r>
            <a:r>
              <a:rPr lang="en-GB" dirty="0">
                <a:latin typeface="Power Geez Unicode1"/>
                <a:ea typeface="Calibri"/>
                <a:cs typeface="Times New Roman"/>
              </a:rPr>
              <a:t> </a:t>
            </a:r>
            <a:r>
              <a:rPr lang="en-GB" dirty="0" err="1">
                <a:latin typeface="Power Geez Unicode1"/>
                <a:ea typeface="Calibri"/>
                <a:cs typeface="Ebrima"/>
              </a:rPr>
              <a:t>በአዳም</a:t>
            </a:r>
            <a:r>
              <a:rPr lang="en-GB" dirty="0">
                <a:latin typeface="Power Geez Unicode1"/>
                <a:ea typeface="Calibri"/>
                <a:cs typeface="Times New Roman"/>
              </a:rPr>
              <a:t> </a:t>
            </a:r>
            <a:r>
              <a:rPr lang="en-GB" dirty="0" err="1">
                <a:latin typeface="Power Geez Unicode1"/>
                <a:ea typeface="Calibri"/>
                <a:cs typeface="Ebrima"/>
              </a:rPr>
              <a:t>ነው</a:t>
            </a:r>
            <a:r>
              <a:rPr lang="en-GB" dirty="0">
                <a:latin typeface="Power Geez Unicode1"/>
                <a:ea typeface="Calibri"/>
                <a:cs typeface="Times New Roman"/>
              </a:rPr>
              <a:t>:: </a:t>
            </a:r>
            <a:r>
              <a:rPr lang="en-GB" dirty="0" err="1">
                <a:latin typeface="Power Geez Unicode1"/>
                <a:ea typeface="Calibri"/>
                <a:cs typeface="Ebrima"/>
              </a:rPr>
              <a:t>እግዚአብሔር</a:t>
            </a:r>
            <a:r>
              <a:rPr lang="en-GB" dirty="0">
                <a:latin typeface="Power Geez Unicode1"/>
                <a:ea typeface="Calibri"/>
                <a:cs typeface="Times New Roman"/>
              </a:rPr>
              <a:t> </a:t>
            </a:r>
            <a:r>
              <a:rPr lang="en-GB" dirty="0" err="1">
                <a:latin typeface="Power Geez Unicode1"/>
                <a:ea typeface="Calibri"/>
                <a:cs typeface="Ebrima"/>
              </a:rPr>
              <a:t>አምላክ</a:t>
            </a:r>
            <a:r>
              <a:rPr lang="en-GB" dirty="0">
                <a:latin typeface="Power Geez Unicode1"/>
                <a:ea typeface="Calibri"/>
                <a:cs typeface="Times New Roman"/>
              </a:rPr>
              <a:t> </a:t>
            </a:r>
            <a:r>
              <a:rPr lang="en-GB" dirty="0" err="1">
                <a:latin typeface="Power Geez Unicode1"/>
                <a:ea typeface="Calibri"/>
                <a:cs typeface="Ebrima"/>
              </a:rPr>
              <a:t>አዳምን</a:t>
            </a:r>
            <a:r>
              <a:rPr lang="en-GB" dirty="0">
                <a:latin typeface="Power Geez Unicode1"/>
                <a:ea typeface="Calibri"/>
                <a:cs typeface="Times New Roman"/>
              </a:rPr>
              <a:t> </a:t>
            </a:r>
            <a:r>
              <a:rPr lang="en-GB" dirty="0" err="1">
                <a:latin typeface="Power Geez Unicode1"/>
                <a:ea typeface="Calibri"/>
                <a:cs typeface="Ebrima"/>
              </a:rPr>
              <a:t>ፈጥሮ</a:t>
            </a:r>
            <a:r>
              <a:rPr lang="en-GB" dirty="0">
                <a:latin typeface="Power Geez Unicode1"/>
                <a:ea typeface="Calibri"/>
                <a:cs typeface="Times New Roman"/>
              </a:rPr>
              <a:t> </a:t>
            </a:r>
            <a:r>
              <a:rPr lang="en-GB" dirty="0" err="1">
                <a:latin typeface="Power Geez Unicode1"/>
                <a:ea typeface="Calibri"/>
                <a:cs typeface="Ebrima"/>
              </a:rPr>
              <a:t>በልጅነት</a:t>
            </a:r>
            <a:r>
              <a:rPr lang="en-GB" dirty="0">
                <a:latin typeface="Power Geez Unicode1"/>
                <a:ea typeface="Calibri"/>
                <a:cs typeface="Times New Roman"/>
              </a:rPr>
              <a:t> </a:t>
            </a:r>
            <a:r>
              <a:rPr lang="en-GB" dirty="0" err="1">
                <a:latin typeface="Power Geez Unicode1"/>
                <a:ea typeface="Calibri"/>
                <a:cs typeface="Ebrima"/>
              </a:rPr>
              <a:t>አክብሮ</a:t>
            </a:r>
            <a:r>
              <a:rPr lang="en-GB" dirty="0">
                <a:latin typeface="Power Geez Unicode1"/>
                <a:ea typeface="Calibri"/>
                <a:cs typeface="Times New Roman"/>
              </a:rPr>
              <a:t> </a:t>
            </a:r>
            <a:r>
              <a:rPr lang="en-GB" dirty="0" err="1">
                <a:latin typeface="Power Geez Unicode1"/>
                <a:ea typeface="Calibri"/>
                <a:cs typeface="Ebrima"/>
              </a:rPr>
              <a:t>ነቢይ</a:t>
            </a:r>
            <a:r>
              <a:rPr lang="en-GB" dirty="0">
                <a:latin typeface="Power Geez Unicode1"/>
                <a:ea typeface="Calibri"/>
                <a:cs typeface="Times New Roman"/>
              </a:rPr>
              <a:t> </a:t>
            </a:r>
            <a:r>
              <a:rPr lang="en-GB" dirty="0" err="1">
                <a:latin typeface="Power Geez Unicode1"/>
                <a:ea typeface="Calibri"/>
                <a:cs typeface="Ebrima"/>
              </a:rPr>
              <a:t>ካህን</a:t>
            </a:r>
            <a:r>
              <a:rPr lang="en-GB" dirty="0">
                <a:latin typeface="Power Geez Unicode1"/>
                <a:ea typeface="Calibri"/>
                <a:cs typeface="Times New Roman"/>
              </a:rPr>
              <a:t> </a:t>
            </a:r>
            <a:r>
              <a:rPr lang="en-GB" dirty="0" err="1">
                <a:latin typeface="Power Geez Unicode1"/>
                <a:ea typeface="Calibri"/>
                <a:cs typeface="Ebrima"/>
              </a:rPr>
              <a:t>አድርጎ</a:t>
            </a:r>
            <a:r>
              <a:rPr lang="en-GB" dirty="0">
                <a:latin typeface="Power Geez Unicode1"/>
                <a:ea typeface="Calibri"/>
                <a:cs typeface="Times New Roman"/>
              </a:rPr>
              <a:t> </a:t>
            </a:r>
            <a:r>
              <a:rPr lang="en-GB" dirty="0" err="1">
                <a:latin typeface="Power Geez Unicode1"/>
                <a:ea typeface="Calibri"/>
                <a:cs typeface="Ebrima"/>
              </a:rPr>
              <a:t>ስለሾመው</a:t>
            </a:r>
            <a:r>
              <a:rPr lang="en-GB" dirty="0">
                <a:latin typeface="Power Geez Unicode1"/>
                <a:ea typeface="Calibri"/>
                <a:cs typeface="Times New Roman"/>
              </a:rPr>
              <a:t> </a:t>
            </a:r>
            <a:r>
              <a:rPr lang="en-GB" dirty="0" err="1">
                <a:latin typeface="Power Geez Unicode1"/>
                <a:ea typeface="Calibri"/>
                <a:cs typeface="Ebrima"/>
              </a:rPr>
              <a:t>በኦሪት</a:t>
            </a:r>
            <a:r>
              <a:rPr lang="en-GB" dirty="0">
                <a:latin typeface="Power Geez Unicode1"/>
                <a:ea typeface="Calibri"/>
                <a:cs typeface="Times New Roman"/>
              </a:rPr>
              <a:t> </a:t>
            </a:r>
            <a:r>
              <a:rPr lang="en-GB" dirty="0" err="1">
                <a:latin typeface="Power Geez Unicode1"/>
                <a:ea typeface="Calibri"/>
                <a:cs typeface="Ebrima"/>
              </a:rPr>
              <a:t>በወንጌል</a:t>
            </a:r>
            <a:r>
              <a:rPr lang="en-GB" dirty="0">
                <a:latin typeface="Power Geez Unicode1"/>
                <a:ea typeface="Calibri"/>
                <a:cs typeface="Times New Roman"/>
              </a:rPr>
              <a:t> </a:t>
            </a:r>
            <a:r>
              <a:rPr lang="en-GB" dirty="0" err="1">
                <a:latin typeface="Power Geez Unicode1"/>
                <a:ea typeface="Calibri"/>
                <a:cs typeface="Ebrima"/>
              </a:rPr>
              <a:t>ሥርዓት</a:t>
            </a:r>
            <a:r>
              <a:rPr lang="en-GB" dirty="0">
                <a:latin typeface="Power Geez Unicode1"/>
                <a:ea typeface="Calibri"/>
                <a:cs typeface="Times New Roman"/>
              </a:rPr>
              <a:t> </a:t>
            </a:r>
            <a:r>
              <a:rPr lang="en-GB" dirty="0" err="1">
                <a:latin typeface="Power Geez Unicode1"/>
                <a:ea typeface="Calibri"/>
                <a:cs typeface="Ebrima"/>
              </a:rPr>
              <a:t>እስኪወሰን</a:t>
            </a:r>
            <a:r>
              <a:rPr lang="en-GB" dirty="0">
                <a:latin typeface="Power Geez Unicode1"/>
                <a:ea typeface="Calibri"/>
                <a:cs typeface="Times New Roman"/>
              </a:rPr>
              <a:t> </a:t>
            </a:r>
            <a:r>
              <a:rPr lang="en-GB" dirty="0" err="1">
                <a:latin typeface="Power Geez Unicode1"/>
                <a:ea typeface="Calibri"/>
                <a:cs typeface="Ebrima"/>
              </a:rPr>
              <a:t>ድረስ</a:t>
            </a:r>
            <a:r>
              <a:rPr lang="en-GB" dirty="0">
                <a:latin typeface="Power Geez Unicode1"/>
                <a:ea typeface="Calibri"/>
                <a:cs typeface="Times New Roman"/>
              </a:rPr>
              <a:t> </a:t>
            </a:r>
            <a:r>
              <a:rPr lang="en-GB" dirty="0" err="1">
                <a:latin typeface="Power Geez Unicode1"/>
                <a:ea typeface="Calibri"/>
                <a:cs typeface="Ebrima"/>
              </a:rPr>
              <a:t>ከአዳም</a:t>
            </a:r>
            <a:r>
              <a:rPr lang="en-GB" dirty="0">
                <a:latin typeface="Power Geez Unicode1"/>
                <a:ea typeface="Calibri"/>
                <a:cs typeface="Times New Roman"/>
              </a:rPr>
              <a:t> </a:t>
            </a:r>
            <a:r>
              <a:rPr lang="en-GB" dirty="0" err="1">
                <a:latin typeface="Power Geez Unicode1"/>
                <a:ea typeface="Calibri"/>
                <a:cs typeface="Ebrima"/>
              </a:rPr>
              <a:t>ጀምሮ</a:t>
            </a:r>
            <a:r>
              <a:rPr lang="en-GB" dirty="0">
                <a:latin typeface="Power Geez Unicode1"/>
                <a:ea typeface="Calibri"/>
                <a:cs typeface="Times New Roman"/>
              </a:rPr>
              <a:t> </a:t>
            </a:r>
            <a:r>
              <a:rPr lang="en-GB" dirty="0" err="1">
                <a:latin typeface="Power Geez Unicode1"/>
                <a:ea typeface="Calibri"/>
                <a:cs typeface="Ebrima"/>
              </a:rPr>
              <a:t>እስከ</a:t>
            </a:r>
            <a:r>
              <a:rPr lang="en-GB" dirty="0">
                <a:latin typeface="Power Geez Unicode1"/>
                <a:ea typeface="Calibri"/>
                <a:cs typeface="Times New Roman"/>
              </a:rPr>
              <a:t> </a:t>
            </a:r>
            <a:r>
              <a:rPr lang="en-GB" dirty="0" err="1">
                <a:latin typeface="Power Geez Unicode1"/>
                <a:ea typeface="Calibri"/>
                <a:cs typeface="Ebrima"/>
              </a:rPr>
              <a:t>ሙሴ</a:t>
            </a:r>
            <a:r>
              <a:rPr lang="en-GB" dirty="0">
                <a:latin typeface="Power Geez Unicode1"/>
                <a:ea typeface="Calibri"/>
                <a:cs typeface="Times New Roman"/>
              </a:rPr>
              <a:t> </a:t>
            </a:r>
            <a:r>
              <a:rPr lang="en-GB" dirty="0" err="1">
                <a:latin typeface="Power Geez Unicode1"/>
                <a:ea typeface="Calibri"/>
                <a:cs typeface="Ebrima"/>
              </a:rPr>
              <a:t>የነበሩ</a:t>
            </a:r>
            <a:r>
              <a:rPr lang="en-GB" dirty="0">
                <a:latin typeface="Power Geez Unicode1"/>
                <a:ea typeface="Calibri"/>
                <a:cs typeface="Times New Roman"/>
              </a:rPr>
              <a:t> </a:t>
            </a:r>
            <a:r>
              <a:rPr lang="en-GB" dirty="0" err="1">
                <a:latin typeface="Power Geez Unicode1"/>
                <a:ea typeface="Calibri"/>
                <a:cs typeface="Ebrima"/>
              </a:rPr>
              <a:t>አበው</a:t>
            </a:r>
            <a:r>
              <a:rPr lang="en-GB" dirty="0">
                <a:latin typeface="Power Geez Unicode1"/>
                <a:ea typeface="Calibri"/>
                <a:cs typeface="Times New Roman"/>
              </a:rPr>
              <a:t> </a:t>
            </a:r>
            <a:r>
              <a:rPr lang="en-GB" dirty="0" err="1">
                <a:latin typeface="Power Geez Unicode1"/>
                <a:ea typeface="Calibri"/>
                <a:cs typeface="Ebrima"/>
              </a:rPr>
              <a:t>በበረከተ</a:t>
            </a:r>
            <a:r>
              <a:rPr lang="en-GB" dirty="0">
                <a:latin typeface="Power Geez Unicode1"/>
                <a:ea typeface="Calibri"/>
                <a:cs typeface="Times New Roman"/>
              </a:rPr>
              <a:t> </a:t>
            </a:r>
            <a:r>
              <a:rPr lang="en-GB" dirty="0" err="1">
                <a:latin typeface="Power Geez Unicode1"/>
                <a:ea typeface="Calibri"/>
                <a:cs typeface="Ebrima"/>
              </a:rPr>
              <a:t>አበው</a:t>
            </a:r>
            <a:r>
              <a:rPr lang="en-GB" dirty="0">
                <a:latin typeface="Power Geez Unicode1"/>
                <a:ea typeface="Calibri"/>
                <a:cs typeface="Times New Roman"/>
              </a:rPr>
              <a:t> </a:t>
            </a:r>
            <a:r>
              <a:rPr lang="en-GB" dirty="0" err="1">
                <a:latin typeface="Power Geez Unicode1"/>
                <a:ea typeface="Calibri"/>
                <a:cs typeface="Ebrima"/>
              </a:rPr>
              <a:t>ከእግዚአብሔር</a:t>
            </a:r>
            <a:r>
              <a:rPr lang="en-GB" dirty="0">
                <a:latin typeface="Power Geez Unicode1"/>
                <a:ea typeface="Calibri"/>
                <a:cs typeface="Times New Roman"/>
              </a:rPr>
              <a:t> </a:t>
            </a:r>
            <a:r>
              <a:rPr lang="en-GB" dirty="0" err="1">
                <a:latin typeface="Power Geez Unicode1"/>
                <a:ea typeface="Calibri"/>
                <a:cs typeface="Ebrima"/>
              </a:rPr>
              <a:t>እየተሾሙ</a:t>
            </a:r>
            <a:r>
              <a:rPr lang="en-GB" dirty="0">
                <a:latin typeface="Power Geez Unicode1"/>
                <a:ea typeface="Calibri"/>
                <a:cs typeface="Times New Roman"/>
              </a:rPr>
              <a:t> </a:t>
            </a:r>
            <a:r>
              <a:rPr lang="en-GB" dirty="0" err="1">
                <a:latin typeface="Power Geez Unicode1"/>
                <a:ea typeface="Calibri"/>
                <a:cs typeface="Ebrima"/>
              </a:rPr>
              <a:t>ትንቢትን</a:t>
            </a:r>
            <a:r>
              <a:rPr lang="en-GB" dirty="0">
                <a:latin typeface="Power Geez Unicode1"/>
                <a:ea typeface="Calibri"/>
                <a:cs typeface="Times New Roman"/>
              </a:rPr>
              <a:t> </a:t>
            </a:r>
            <a:r>
              <a:rPr lang="en-GB" dirty="0" err="1">
                <a:latin typeface="Power Geez Unicode1"/>
                <a:ea typeface="Calibri"/>
                <a:cs typeface="Ebrima"/>
              </a:rPr>
              <a:t>ክህነትን</a:t>
            </a:r>
            <a:r>
              <a:rPr lang="en-GB" dirty="0">
                <a:latin typeface="Power Geez Unicode1"/>
                <a:ea typeface="Calibri"/>
                <a:cs typeface="Times New Roman"/>
              </a:rPr>
              <a:t> </a:t>
            </a:r>
            <a:r>
              <a:rPr lang="en-GB" dirty="0" err="1">
                <a:latin typeface="Power Geez Unicode1"/>
                <a:ea typeface="Calibri"/>
                <a:cs typeface="Ebrima"/>
              </a:rPr>
              <a:t>ከቅዱስ</a:t>
            </a:r>
            <a:r>
              <a:rPr lang="en-GB" dirty="0">
                <a:latin typeface="Power Geez Unicode1"/>
                <a:ea typeface="Calibri"/>
                <a:cs typeface="Times New Roman"/>
              </a:rPr>
              <a:t> </a:t>
            </a:r>
            <a:r>
              <a:rPr lang="en-GB" dirty="0" err="1">
                <a:latin typeface="Power Geez Unicode1"/>
                <a:ea typeface="Calibri"/>
                <a:cs typeface="Ebrima"/>
              </a:rPr>
              <a:t>መንፈስ</a:t>
            </a:r>
            <a:r>
              <a:rPr lang="en-GB" dirty="0">
                <a:latin typeface="Power Geez Unicode1"/>
                <a:ea typeface="Calibri"/>
                <a:cs typeface="Times New Roman"/>
              </a:rPr>
              <a:t> </a:t>
            </a:r>
            <a:r>
              <a:rPr lang="en-GB" dirty="0" err="1">
                <a:latin typeface="Power Geez Unicode1"/>
                <a:ea typeface="Calibri"/>
                <a:cs typeface="Ebrima"/>
              </a:rPr>
              <a:t>እየተቀበሉ</a:t>
            </a:r>
            <a:r>
              <a:rPr lang="en-GB" dirty="0">
                <a:latin typeface="Power Geez Unicode1"/>
                <a:ea typeface="Calibri"/>
                <a:cs typeface="Times New Roman"/>
              </a:rPr>
              <a:t> /</a:t>
            </a:r>
            <a:r>
              <a:rPr lang="en-GB" dirty="0" err="1">
                <a:latin typeface="Power Geez Unicode1"/>
                <a:ea typeface="Calibri"/>
                <a:cs typeface="Ebrima"/>
              </a:rPr>
              <a:t>እየተሾሙ</a:t>
            </a:r>
            <a:r>
              <a:rPr lang="en-GB" dirty="0">
                <a:latin typeface="Power Geez Unicode1"/>
                <a:ea typeface="Calibri"/>
                <a:cs typeface="Times New Roman"/>
              </a:rPr>
              <a:t>/ </a:t>
            </a:r>
            <a:r>
              <a:rPr lang="en-GB" dirty="0" err="1">
                <a:latin typeface="Power Geez Unicode1"/>
                <a:ea typeface="Calibri"/>
                <a:cs typeface="Ebrima"/>
              </a:rPr>
              <a:t>በነቢይነታቸው</a:t>
            </a:r>
            <a:r>
              <a:rPr lang="en-GB" dirty="0">
                <a:latin typeface="Power Geez Unicode1"/>
                <a:ea typeface="Calibri"/>
                <a:cs typeface="Times New Roman"/>
              </a:rPr>
              <a:t> </a:t>
            </a:r>
            <a:r>
              <a:rPr lang="en-GB" dirty="0" err="1">
                <a:latin typeface="Power Geez Unicode1"/>
                <a:ea typeface="Calibri"/>
                <a:cs typeface="Ebrima"/>
              </a:rPr>
              <a:t>ያለፈውን</a:t>
            </a:r>
            <a:r>
              <a:rPr lang="en-GB" dirty="0">
                <a:latin typeface="Power Geez Unicode1"/>
                <a:ea typeface="Calibri"/>
                <a:cs typeface="Times New Roman"/>
              </a:rPr>
              <a:t> </a:t>
            </a:r>
            <a:r>
              <a:rPr lang="en-GB" dirty="0" err="1">
                <a:latin typeface="Power Geez Unicode1"/>
                <a:ea typeface="Calibri"/>
                <a:cs typeface="Ebrima"/>
              </a:rPr>
              <a:t>የሚመጣውን</a:t>
            </a:r>
            <a:r>
              <a:rPr lang="en-GB" dirty="0">
                <a:latin typeface="Power Geez Unicode1"/>
                <a:ea typeface="Calibri"/>
                <a:cs typeface="Times New Roman"/>
              </a:rPr>
              <a:t> </a:t>
            </a:r>
            <a:r>
              <a:rPr lang="en-GB" dirty="0" err="1">
                <a:latin typeface="Power Geez Unicode1"/>
                <a:ea typeface="Calibri"/>
                <a:cs typeface="Ebrima"/>
              </a:rPr>
              <a:t>ሲገልጡ</a:t>
            </a:r>
            <a:r>
              <a:rPr lang="en-GB" dirty="0">
                <a:latin typeface="Power Geez Unicode1"/>
                <a:ea typeface="Calibri"/>
                <a:cs typeface="Times New Roman"/>
              </a:rPr>
              <a:t> </a:t>
            </a:r>
            <a:r>
              <a:rPr lang="en-GB" dirty="0" err="1">
                <a:latin typeface="Power Geez Unicode1"/>
                <a:ea typeface="Calibri"/>
                <a:cs typeface="Ebrima"/>
              </a:rPr>
              <a:t>በክህነታቸው</a:t>
            </a:r>
            <a:r>
              <a:rPr lang="en-GB" dirty="0">
                <a:latin typeface="Power Geez Unicode1"/>
                <a:ea typeface="Calibri"/>
                <a:cs typeface="Times New Roman"/>
              </a:rPr>
              <a:t> </a:t>
            </a:r>
            <a:r>
              <a:rPr lang="en-GB" dirty="0" err="1">
                <a:latin typeface="Power Geez Unicode1"/>
                <a:ea typeface="Calibri"/>
                <a:cs typeface="Ebrima"/>
              </a:rPr>
              <a:t>መሥዋዕት</a:t>
            </a:r>
            <a:r>
              <a:rPr lang="en-GB" dirty="0">
                <a:latin typeface="Power Geez Unicode1"/>
                <a:ea typeface="Calibri"/>
                <a:cs typeface="Times New Roman"/>
              </a:rPr>
              <a:t> </a:t>
            </a:r>
            <a:r>
              <a:rPr lang="en-GB" dirty="0" err="1">
                <a:latin typeface="Power Geez Unicode1"/>
                <a:ea typeface="Calibri"/>
                <a:cs typeface="Ebrima"/>
              </a:rPr>
              <a:t>ሲያቀርቡ</a:t>
            </a:r>
            <a:r>
              <a:rPr lang="en-GB" dirty="0">
                <a:latin typeface="Power Geez Unicode1"/>
                <a:ea typeface="Calibri"/>
                <a:cs typeface="Times New Roman"/>
              </a:rPr>
              <a:t> </a:t>
            </a:r>
            <a:r>
              <a:rPr lang="en-GB" dirty="0" err="1">
                <a:latin typeface="Power Geez Unicode1"/>
                <a:ea typeface="Calibri"/>
                <a:cs typeface="Ebrima"/>
              </a:rPr>
              <a:t>በጸሎታቸው</a:t>
            </a:r>
            <a:r>
              <a:rPr lang="en-GB" dirty="0">
                <a:latin typeface="Power Geez Unicode1"/>
                <a:ea typeface="Calibri"/>
                <a:cs typeface="Ebrima"/>
              </a:rPr>
              <a:t> </a:t>
            </a:r>
            <a:r>
              <a:rPr lang="en-GB" dirty="0" err="1">
                <a:latin typeface="Power Geez Unicode1"/>
                <a:ea typeface="Calibri"/>
                <a:cs typeface="Ebrima"/>
              </a:rPr>
              <a:t>አምላካቸውን</a:t>
            </a:r>
            <a:r>
              <a:rPr lang="en-GB" dirty="0">
                <a:latin typeface="Power Geez Unicode1"/>
                <a:ea typeface="Calibri"/>
                <a:cs typeface="Times New Roman"/>
              </a:rPr>
              <a:t> </a:t>
            </a:r>
            <a:r>
              <a:rPr lang="en-GB" dirty="0" err="1">
                <a:latin typeface="Power Geez Unicode1"/>
                <a:ea typeface="Calibri"/>
                <a:cs typeface="Ebrima"/>
              </a:rPr>
              <a:t>ሲጠሩና</a:t>
            </a:r>
            <a:r>
              <a:rPr lang="en-GB" dirty="0">
                <a:latin typeface="Power Geez Unicode1"/>
                <a:ea typeface="Calibri"/>
                <a:cs typeface="Times New Roman"/>
              </a:rPr>
              <a:t> </a:t>
            </a:r>
            <a:r>
              <a:rPr lang="en-GB" dirty="0" err="1">
                <a:latin typeface="Power Geez Unicode1"/>
                <a:ea typeface="Calibri"/>
                <a:cs typeface="Ebrima"/>
              </a:rPr>
              <a:t>ቃል</a:t>
            </a:r>
            <a:r>
              <a:rPr lang="en-GB" dirty="0">
                <a:latin typeface="Power Geez Unicode1"/>
                <a:ea typeface="Calibri"/>
                <a:cs typeface="Times New Roman"/>
              </a:rPr>
              <a:t> </a:t>
            </a:r>
            <a:r>
              <a:rPr lang="en-GB" dirty="0" err="1" smtClean="0">
                <a:latin typeface="Power Geez Unicode1"/>
                <a:ea typeface="Calibri"/>
                <a:cs typeface="Ebrima"/>
              </a:rPr>
              <a:t>በቃል</a:t>
            </a:r>
            <a:r>
              <a:rPr lang="en-GB" dirty="0">
                <a:latin typeface="Power Geez Unicode1"/>
                <a:ea typeface="Calibri"/>
                <a:cs typeface="Times New Roman"/>
              </a:rPr>
              <a:t> </a:t>
            </a:r>
            <a:r>
              <a:rPr lang="en-GB" dirty="0" err="1" smtClean="0">
                <a:latin typeface="Power Geez Unicode1"/>
                <a:ea typeface="Calibri"/>
                <a:cs typeface="Ebrima"/>
              </a:rPr>
              <a:t>ሲነጋገሩኖረዋል</a:t>
            </a:r>
            <a:r>
              <a:rPr lang="en-GB" dirty="0">
                <a:latin typeface="Power Geez Unicode1"/>
                <a:ea typeface="Calibri"/>
                <a:cs typeface="Ebrima"/>
              </a:rPr>
              <a:t>፡፡ </a:t>
            </a:r>
            <a:r>
              <a:rPr lang="en-GB" dirty="0" err="1">
                <a:latin typeface="Power Geez Unicode1"/>
                <a:ea typeface="Calibri"/>
                <a:cs typeface="Ebrima"/>
              </a:rPr>
              <a:t>አዳም</a:t>
            </a:r>
            <a:r>
              <a:rPr lang="en-GB" dirty="0">
                <a:latin typeface="Power Geez Unicode1"/>
                <a:ea typeface="Calibri"/>
                <a:cs typeface="Times New Roman"/>
              </a:rPr>
              <a:t> </a:t>
            </a:r>
            <a:r>
              <a:rPr lang="en-GB" dirty="0" err="1">
                <a:latin typeface="Power Geez Unicode1"/>
                <a:ea typeface="Calibri"/>
                <a:cs typeface="Ebrima"/>
              </a:rPr>
              <a:t>ከገነት</a:t>
            </a:r>
            <a:r>
              <a:rPr lang="en-GB" dirty="0">
                <a:latin typeface="Power Geez Unicode1"/>
                <a:ea typeface="Calibri"/>
                <a:cs typeface="Times New Roman"/>
              </a:rPr>
              <a:t> </a:t>
            </a:r>
            <a:r>
              <a:rPr lang="en-GB" dirty="0" err="1">
                <a:latin typeface="Power Geez Unicode1"/>
                <a:ea typeface="Calibri"/>
                <a:cs typeface="Ebrima"/>
              </a:rPr>
              <a:t>በወጣ</a:t>
            </a:r>
            <a:r>
              <a:rPr lang="en-GB" dirty="0">
                <a:latin typeface="Power Geez Unicode1"/>
                <a:ea typeface="Calibri"/>
                <a:cs typeface="Times New Roman"/>
              </a:rPr>
              <a:t> </a:t>
            </a:r>
            <a:r>
              <a:rPr lang="en-GB" dirty="0" err="1">
                <a:latin typeface="Power Geez Unicode1"/>
                <a:ea typeface="Calibri"/>
                <a:cs typeface="Ebrima"/>
              </a:rPr>
              <a:t>በማግሥቱ</a:t>
            </a:r>
            <a:r>
              <a:rPr lang="en-GB" dirty="0">
                <a:latin typeface="Power Geez Unicode1"/>
                <a:ea typeface="Calibri"/>
                <a:cs typeface="Times New Roman"/>
              </a:rPr>
              <a:t> </a:t>
            </a:r>
            <a:r>
              <a:rPr lang="en-GB" dirty="0" err="1">
                <a:latin typeface="Power Geez Unicode1"/>
                <a:ea typeface="Calibri"/>
                <a:cs typeface="Ebrima"/>
              </a:rPr>
              <a:t>በሠራው</a:t>
            </a:r>
            <a:r>
              <a:rPr lang="en-GB" dirty="0">
                <a:latin typeface="Power Geez Unicode1"/>
                <a:ea typeface="Calibri"/>
                <a:cs typeface="Times New Roman"/>
              </a:rPr>
              <a:t> </a:t>
            </a:r>
            <a:r>
              <a:rPr lang="en-GB" dirty="0" err="1">
                <a:latin typeface="Power Geez Unicode1"/>
                <a:ea typeface="Calibri"/>
                <a:cs typeface="Ebrima"/>
              </a:rPr>
              <a:t>ኃጢአት</a:t>
            </a:r>
            <a:r>
              <a:rPr lang="en-GB" dirty="0">
                <a:latin typeface="Power Geez Unicode1"/>
                <a:ea typeface="Calibri"/>
                <a:cs typeface="Times New Roman"/>
              </a:rPr>
              <a:t> </a:t>
            </a:r>
            <a:r>
              <a:rPr lang="en-GB" dirty="0" err="1">
                <a:latin typeface="Power Geez Unicode1"/>
                <a:ea typeface="Calibri"/>
                <a:cs typeface="Ebrima"/>
              </a:rPr>
              <a:t>ተጸጽቶ</a:t>
            </a:r>
            <a:r>
              <a:rPr lang="en-GB" dirty="0">
                <a:latin typeface="Power Geez Unicode1"/>
                <a:ea typeface="Calibri"/>
                <a:cs typeface="Times New Roman"/>
              </a:rPr>
              <a:t> </a:t>
            </a:r>
            <a:r>
              <a:rPr lang="en-GB" dirty="0" err="1">
                <a:latin typeface="Power Geez Unicode1"/>
                <a:ea typeface="Calibri"/>
                <a:cs typeface="Ebrima"/>
              </a:rPr>
              <a:t>እያዘነና</a:t>
            </a:r>
            <a:r>
              <a:rPr lang="en-GB" dirty="0">
                <a:latin typeface="Power Geez Unicode1"/>
                <a:ea typeface="Calibri"/>
                <a:cs typeface="Times New Roman"/>
              </a:rPr>
              <a:t> </a:t>
            </a:r>
            <a:r>
              <a:rPr lang="en-GB" dirty="0" err="1">
                <a:latin typeface="Power Geez Unicode1"/>
                <a:ea typeface="Calibri"/>
                <a:cs typeface="Ebrima"/>
              </a:rPr>
              <a:t>እያለቀሰ</a:t>
            </a:r>
            <a:r>
              <a:rPr lang="en-GB" dirty="0">
                <a:latin typeface="Power Geez Unicode1"/>
                <a:ea typeface="Calibri"/>
                <a:cs typeface="Times New Roman"/>
              </a:rPr>
              <a:t> </a:t>
            </a:r>
            <a:r>
              <a:rPr lang="en-GB" dirty="0" err="1">
                <a:latin typeface="Power Geez Unicode1"/>
                <a:ea typeface="Calibri"/>
                <a:cs typeface="Ebrima"/>
              </a:rPr>
              <a:t>ቸርነት</a:t>
            </a:r>
            <a:r>
              <a:rPr lang="en-GB" dirty="0">
                <a:latin typeface="Power Geez Unicode1"/>
                <a:ea typeface="Calibri"/>
                <a:cs typeface="Times New Roman"/>
              </a:rPr>
              <a:t> </a:t>
            </a:r>
            <a:r>
              <a:rPr lang="en-GB" dirty="0" err="1">
                <a:latin typeface="Power Geez Unicode1"/>
                <a:ea typeface="Calibri"/>
                <a:cs typeface="Ebrima"/>
              </a:rPr>
              <a:t>ምሕረት</a:t>
            </a:r>
            <a:r>
              <a:rPr lang="en-GB" dirty="0">
                <a:latin typeface="Power Geez Unicode1"/>
                <a:ea typeface="Calibri"/>
                <a:cs typeface="Times New Roman"/>
              </a:rPr>
              <a:t> </a:t>
            </a:r>
            <a:r>
              <a:rPr lang="en-GB" dirty="0" err="1">
                <a:latin typeface="Power Geez Unicode1"/>
                <a:ea typeface="Calibri"/>
                <a:cs typeface="Ebrima"/>
              </a:rPr>
              <a:t>የባሕርዩ</a:t>
            </a:r>
            <a:r>
              <a:rPr lang="en-GB" dirty="0">
                <a:latin typeface="Power Geez Unicode1"/>
                <a:ea typeface="Calibri"/>
                <a:cs typeface="Times New Roman"/>
              </a:rPr>
              <a:t> </a:t>
            </a:r>
            <a:r>
              <a:rPr lang="en-GB" dirty="0" err="1">
                <a:latin typeface="Power Geez Unicode1"/>
                <a:ea typeface="Calibri"/>
                <a:cs typeface="Ebrima"/>
              </a:rPr>
              <a:t>ከሆነው</a:t>
            </a:r>
            <a:r>
              <a:rPr lang="en-GB" dirty="0">
                <a:latin typeface="Power Geez Unicode1"/>
                <a:ea typeface="Calibri"/>
                <a:cs typeface="Times New Roman"/>
              </a:rPr>
              <a:t> </a:t>
            </a:r>
            <a:r>
              <a:rPr lang="en-GB" dirty="0" err="1">
                <a:latin typeface="Power Geez Unicode1"/>
                <a:ea typeface="Calibri"/>
                <a:cs typeface="Ebrima"/>
              </a:rPr>
              <a:t>አምላክ</a:t>
            </a:r>
            <a:r>
              <a:rPr lang="en-GB" dirty="0">
                <a:latin typeface="Power Geez Unicode1"/>
                <a:ea typeface="Calibri"/>
                <a:cs typeface="Times New Roman"/>
              </a:rPr>
              <a:t> </a:t>
            </a:r>
            <a:r>
              <a:rPr lang="en-GB" dirty="0" err="1">
                <a:latin typeface="Power Geez Unicode1"/>
                <a:ea typeface="Calibri"/>
                <a:cs typeface="Ebrima"/>
              </a:rPr>
              <a:t>ምሕረት</a:t>
            </a:r>
            <a:r>
              <a:rPr lang="en-GB" dirty="0">
                <a:latin typeface="Power Geez Unicode1"/>
                <a:ea typeface="Calibri"/>
                <a:cs typeface="Times New Roman"/>
              </a:rPr>
              <a:t> </a:t>
            </a:r>
            <a:r>
              <a:rPr lang="en-GB" dirty="0" err="1">
                <a:latin typeface="Power Geez Unicode1"/>
                <a:ea typeface="Calibri"/>
                <a:cs typeface="Ebrima"/>
              </a:rPr>
              <a:t>ለመጠየቅ</a:t>
            </a:r>
            <a:r>
              <a:rPr lang="en-GB" dirty="0">
                <a:latin typeface="Power Geez Unicode1"/>
                <a:ea typeface="Calibri"/>
                <a:cs typeface="Times New Roman"/>
              </a:rPr>
              <a:t> </a:t>
            </a:r>
            <a:r>
              <a:rPr lang="en-GB" dirty="0" err="1">
                <a:latin typeface="Power Geez Unicode1"/>
                <a:ea typeface="Calibri"/>
                <a:cs typeface="Ebrima"/>
              </a:rPr>
              <a:t>የመዓዛ</a:t>
            </a:r>
            <a:r>
              <a:rPr lang="en-GB" dirty="0">
                <a:latin typeface="Power Geez Unicode1"/>
                <a:ea typeface="Calibri"/>
                <a:cs typeface="Times New Roman"/>
              </a:rPr>
              <a:t> </a:t>
            </a:r>
            <a:r>
              <a:rPr lang="en-GB" dirty="0" err="1">
                <a:latin typeface="Power Geez Unicode1"/>
                <a:ea typeface="Calibri"/>
                <a:cs typeface="Ebrima"/>
              </a:rPr>
              <a:t>መሥዋዕት</a:t>
            </a:r>
            <a:r>
              <a:rPr lang="en-GB" dirty="0">
                <a:latin typeface="Power Geez Unicode1"/>
                <a:ea typeface="Calibri"/>
                <a:cs typeface="Times New Roman"/>
              </a:rPr>
              <a:t> </a:t>
            </a:r>
            <a:r>
              <a:rPr lang="en-GB" dirty="0" err="1">
                <a:latin typeface="Power Geez Unicode1"/>
                <a:ea typeface="Calibri"/>
                <a:cs typeface="Ebrima"/>
              </a:rPr>
              <a:t>አቀረበ</a:t>
            </a:r>
            <a:r>
              <a:rPr lang="en-GB" dirty="0">
                <a:latin typeface="Power Geez Unicode1"/>
                <a:ea typeface="Calibri"/>
                <a:cs typeface="Times New Roman"/>
              </a:rPr>
              <a:t>::</a:t>
            </a:r>
            <a:br>
              <a:rPr lang="en-GB" dirty="0">
                <a:latin typeface="Power Geez Unicode1"/>
                <a:ea typeface="Calibri"/>
                <a:cs typeface="Times New Roman"/>
              </a:rPr>
            </a:br>
            <a:r>
              <a:rPr lang="en-GB" dirty="0">
                <a:latin typeface="Power Geez Unicode1"/>
                <a:ea typeface="Calibri"/>
                <a:cs typeface="Times New Roman"/>
              </a:rPr>
              <a:t>"</a:t>
            </a:r>
            <a:r>
              <a:rPr lang="en-GB" dirty="0" err="1">
                <a:latin typeface="Power Geez Unicode1"/>
                <a:ea typeface="Calibri"/>
                <a:cs typeface="Ebrima"/>
              </a:rPr>
              <a:t>ወዐጠነ</a:t>
            </a:r>
            <a:r>
              <a:rPr lang="en-GB" dirty="0">
                <a:latin typeface="Power Geez Unicode1"/>
                <a:ea typeface="Calibri"/>
                <a:cs typeface="Times New Roman"/>
              </a:rPr>
              <a:t> </a:t>
            </a:r>
            <a:r>
              <a:rPr lang="en-GB" dirty="0" err="1">
                <a:latin typeface="Power Geez Unicode1"/>
                <a:ea typeface="Calibri"/>
                <a:cs typeface="Ebrima"/>
              </a:rPr>
              <a:t>አዳም</a:t>
            </a:r>
            <a:r>
              <a:rPr lang="en-GB" dirty="0">
                <a:latin typeface="Power Geez Unicode1"/>
                <a:ea typeface="Calibri"/>
                <a:cs typeface="Times New Roman"/>
              </a:rPr>
              <a:t> </a:t>
            </a:r>
            <a:r>
              <a:rPr lang="en-GB" dirty="0" err="1">
                <a:latin typeface="Power Geez Unicode1"/>
                <a:ea typeface="Calibri"/>
                <a:cs typeface="Ebrima"/>
              </a:rPr>
              <a:t>ምስለ</a:t>
            </a:r>
            <a:r>
              <a:rPr lang="en-GB" dirty="0">
                <a:latin typeface="Power Geez Unicode1"/>
                <a:ea typeface="Calibri"/>
                <a:cs typeface="Times New Roman"/>
              </a:rPr>
              <a:t> </a:t>
            </a:r>
            <a:r>
              <a:rPr lang="en-GB" dirty="0" err="1">
                <a:latin typeface="Power Geez Unicode1"/>
                <a:ea typeface="Calibri"/>
                <a:cs typeface="Ebrima"/>
              </a:rPr>
              <a:t>ትንሣኤ</a:t>
            </a:r>
            <a:r>
              <a:rPr lang="en-GB" dirty="0">
                <a:latin typeface="Power Geez Unicode1"/>
                <a:ea typeface="Calibri"/>
                <a:cs typeface="Times New Roman"/>
              </a:rPr>
              <a:t> </a:t>
            </a:r>
            <a:r>
              <a:rPr lang="en-GB" dirty="0" err="1">
                <a:latin typeface="Power Geez Unicode1"/>
                <a:ea typeface="Calibri"/>
                <a:cs typeface="Ebrima"/>
              </a:rPr>
              <a:t>ፀሐይ</a:t>
            </a:r>
            <a:r>
              <a:rPr lang="en-GB" dirty="0">
                <a:latin typeface="Power Geez Unicode1"/>
                <a:ea typeface="Calibri"/>
                <a:cs typeface="Times New Roman"/>
              </a:rPr>
              <a:t> </a:t>
            </a:r>
            <a:r>
              <a:rPr lang="en-GB" dirty="0" err="1">
                <a:latin typeface="Power Geez Unicode1"/>
                <a:ea typeface="Calibri"/>
                <a:cs typeface="Ebrima"/>
              </a:rPr>
              <a:t>በከርቤ</a:t>
            </a:r>
            <a:r>
              <a:rPr lang="en-GB" dirty="0">
                <a:latin typeface="Power Geez Unicode1"/>
                <a:ea typeface="Calibri"/>
                <a:cs typeface="Times New Roman"/>
              </a:rPr>
              <a:t> </a:t>
            </a:r>
            <a:r>
              <a:rPr lang="en-GB" dirty="0" err="1">
                <a:latin typeface="Power Geez Unicode1"/>
                <a:ea typeface="Calibri"/>
                <a:cs typeface="Ebrima"/>
              </a:rPr>
              <a:t>ወሚዓ</a:t>
            </a:r>
            <a:r>
              <a:rPr lang="en-GB" dirty="0">
                <a:latin typeface="Power Geez Unicode1"/>
                <a:ea typeface="Calibri"/>
                <a:cs typeface="Times New Roman"/>
              </a:rPr>
              <a:t> </a:t>
            </a:r>
            <a:r>
              <a:rPr lang="en-GB" dirty="0" err="1">
                <a:latin typeface="Power Geez Unicode1"/>
                <a:ea typeface="Calibri"/>
                <a:cs typeface="Ebrima"/>
              </a:rPr>
              <a:t>ወሰሊክ</a:t>
            </a:r>
            <a:r>
              <a:rPr lang="en-GB" dirty="0">
                <a:latin typeface="Power Geez Unicode1"/>
                <a:ea typeface="Calibri"/>
                <a:cs typeface="Times New Roman"/>
              </a:rPr>
              <a:t>" /</a:t>
            </a:r>
            <a:r>
              <a:rPr lang="en-GB" dirty="0" err="1">
                <a:latin typeface="Power Geez Unicode1"/>
                <a:ea typeface="Calibri"/>
                <a:cs typeface="Ebrima"/>
              </a:rPr>
              <a:t>ኩፋሌ</a:t>
            </a:r>
            <a:r>
              <a:rPr lang="en-GB" dirty="0">
                <a:latin typeface="Power Geez Unicode1"/>
                <a:ea typeface="Calibri"/>
                <a:cs typeface="Times New Roman"/>
              </a:rPr>
              <a:t> 5</a:t>
            </a:r>
            <a:r>
              <a:rPr lang="en-GB" dirty="0">
                <a:latin typeface="Power Geez Unicode1"/>
                <a:ea typeface="Calibri"/>
                <a:cs typeface="Ebrima"/>
              </a:rPr>
              <a:t>፡</a:t>
            </a:r>
            <a:r>
              <a:rPr lang="en-GB" dirty="0">
                <a:latin typeface="Power Geez Unicode1"/>
                <a:ea typeface="Calibri"/>
                <a:cs typeface="Times New Roman"/>
              </a:rPr>
              <a:t>1-5/</a:t>
            </a:r>
            <a:r>
              <a:rPr lang="en-GB" sz="2000" dirty="0">
                <a:latin typeface="Helvetica"/>
                <a:ea typeface="Calibri"/>
                <a:cs typeface="Times New Roman"/>
              </a:rPr>
              <a:t> </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2301673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Times New Roman"/>
                <a:ea typeface="Times New Roman"/>
              </a:rPr>
              <a:t>The Priesthood in the Old Testament</a:t>
            </a:r>
            <a:endParaRPr lang="en-GB" dirty="0"/>
          </a:p>
        </p:txBody>
      </p:sp>
      <p:sp>
        <p:nvSpPr>
          <p:cNvPr id="3" name="Content Placeholder 2"/>
          <p:cNvSpPr>
            <a:spLocks noGrp="1"/>
          </p:cNvSpPr>
          <p:nvPr>
            <p:ph idx="1"/>
          </p:nvPr>
        </p:nvSpPr>
        <p:spPr/>
        <p:txBody>
          <a:bodyPr>
            <a:normAutofit fontScale="92500" lnSpcReduction="20000"/>
          </a:bodyPr>
          <a:lstStyle/>
          <a:p>
            <a:pPr marL="0" indent="0" algn="just">
              <a:lnSpc>
                <a:spcPct val="115000"/>
              </a:lnSpc>
              <a:spcAft>
                <a:spcPts val="1000"/>
              </a:spcAft>
              <a:buNone/>
            </a:pPr>
            <a:r>
              <a:rPr lang="en-GB" dirty="0">
                <a:latin typeface="Times New Roman"/>
                <a:ea typeface="Times New Roman"/>
                <a:cs typeface="Times New Roman"/>
              </a:rPr>
              <a:t>In the Old Testament, the priesthood was established by God to serve as mediators between God and His people. The first biblical reference to a priest appears in </a:t>
            </a:r>
            <a:r>
              <a:rPr lang="en-GB" b="1" dirty="0">
                <a:latin typeface="Times New Roman"/>
                <a:ea typeface="Times New Roman"/>
                <a:cs typeface="Times New Roman"/>
              </a:rPr>
              <a:t>Genesis 14:18</a:t>
            </a:r>
            <a:r>
              <a:rPr lang="en-GB" dirty="0">
                <a:latin typeface="Times New Roman"/>
                <a:ea typeface="Times New Roman"/>
                <a:cs typeface="Times New Roman"/>
              </a:rPr>
              <a:t>, where Melchizedek, the King of Salem, blesses Abram. However, the formal institution of priesthood is more prominently found in the books of </a:t>
            </a:r>
            <a:r>
              <a:rPr lang="en-GB" b="1" dirty="0">
                <a:latin typeface="Times New Roman"/>
                <a:ea typeface="Times New Roman"/>
                <a:cs typeface="Times New Roman"/>
              </a:rPr>
              <a:t>Exodus</a:t>
            </a:r>
            <a:r>
              <a:rPr lang="en-GB" dirty="0">
                <a:latin typeface="Times New Roman"/>
                <a:ea typeface="Times New Roman"/>
                <a:cs typeface="Times New Roman"/>
              </a:rPr>
              <a:t> and </a:t>
            </a:r>
            <a:r>
              <a:rPr lang="en-GB" b="1" dirty="0">
                <a:latin typeface="Times New Roman"/>
                <a:ea typeface="Times New Roman"/>
                <a:cs typeface="Times New Roman"/>
              </a:rPr>
              <a:t>Leviticus</a:t>
            </a:r>
            <a:r>
              <a:rPr lang="en-GB" dirty="0">
                <a:latin typeface="Times New Roman"/>
                <a:ea typeface="Times New Roman"/>
                <a:cs typeface="Times New Roman"/>
              </a:rPr>
              <a:t>, specifically with the establishment of Aaron's line as priests in </a:t>
            </a:r>
            <a:r>
              <a:rPr lang="en-GB" b="1" dirty="0">
                <a:latin typeface="Times New Roman"/>
                <a:ea typeface="Times New Roman"/>
                <a:cs typeface="Times New Roman"/>
              </a:rPr>
              <a:t>Exodus 28</a:t>
            </a:r>
            <a:r>
              <a:rPr lang="en-GB" dirty="0">
                <a:latin typeface="Times New Roman"/>
                <a:ea typeface="Times New Roman"/>
                <a:cs typeface="Times New Roman"/>
              </a:rPr>
              <a:t>.</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735565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just">
              <a:buNone/>
            </a:pPr>
            <a:r>
              <a:rPr lang="en-GB" sz="3600" b="1" dirty="0">
                <a:latin typeface="Times New Roman"/>
                <a:ea typeface="Times New Roman"/>
              </a:rPr>
              <a:t>Aaron and His Sons</a:t>
            </a:r>
            <a:r>
              <a:rPr lang="en-GB" sz="3600" dirty="0">
                <a:latin typeface="Times New Roman"/>
                <a:ea typeface="Times New Roman"/>
              </a:rPr>
              <a:t>: In </a:t>
            </a:r>
            <a:r>
              <a:rPr lang="en-GB" sz="3600" b="1" dirty="0">
                <a:latin typeface="Times New Roman"/>
                <a:ea typeface="Times New Roman"/>
              </a:rPr>
              <a:t>Exodus 28:1</a:t>
            </a:r>
            <a:r>
              <a:rPr lang="en-GB" sz="3600" dirty="0">
                <a:latin typeface="Times New Roman"/>
                <a:ea typeface="Times New Roman"/>
              </a:rPr>
              <a:t>, God commands Moses to consecrate Aaron and his sons as priests. The </a:t>
            </a:r>
            <a:r>
              <a:rPr lang="en-GB" sz="3600" dirty="0" err="1">
                <a:latin typeface="Times New Roman"/>
                <a:ea typeface="Times New Roman"/>
              </a:rPr>
              <a:t>Levitical</a:t>
            </a:r>
            <a:r>
              <a:rPr lang="en-GB" sz="3600" dirty="0">
                <a:latin typeface="Times New Roman"/>
                <a:ea typeface="Times New Roman"/>
              </a:rPr>
              <a:t> priesthood is established, with Aaron as the high priest and his descendants serving as priests to offer sacrifices, perform rituals, and </a:t>
            </a:r>
            <a:r>
              <a:rPr lang="en-GB" sz="3600" dirty="0" smtClean="0">
                <a:latin typeface="Times New Roman"/>
                <a:ea typeface="Times New Roman"/>
              </a:rPr>
              <a:t>intercede </a:t>
            </a:r>
            <a:r>
              <a:rPr lang="en-GB" sz="3600" dirty="0">
                <a:latin typeface="Times New Roman"/>
                <a:ea typeface="Times New Roman"/>
              </a:rPr>
              <a:t>for the </a:t>
            </a:r>
            <a:r>
              <a:rPr lang="en-GB" sz="3600" dirty="0" smtClean="0">
                <a:latin typeface="Times New Roman"/>
                <a:ea typeface="Times New Roman"/>
              </a:rPr>
              <a:t>people.</a:t>
            </a:r>
            <a:endParaRPr lang="en-GB" sz="3600" dirty="0"/>
          </a:p>
        </p:txBody>
      </p:sp>
    </p:spTree>
    <p:extLst>
      <p:ext uri="{BB962C8B-B14F-4D97-AF65-F5344CB8AC3E}">
        <p14:creationId xmlns:p14="http://schemas.microsoft.com/office/powerpoint/2010/main" val="181987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42900" lvl="0" indent="-342900">
              <a:lnSpc>
                <a:spcPct val="150000"/>
              </a:lnSpc>
              <a:spcBef>
                <a:spcPct val="20000"/>
              </a:spcBef>
              <a:spcAft>
                <a:spcPts val="1200"/>
              </a:spcAft>
            </a:pPr>
            <a:r>
              <a:rPr lang="en-GB" sz="2800" b="1" dirty="0">
                <a:solidFill>
                  <a:prstClr val="black"/>
                </a:solidFill>
                <a:latin typeface="Times New Roman" pitchFamily="18" charset="0"/>
                <a:ea typeface="Times New Roman"/>
                <a:cs typeface="Times New Roman" pitchFamily="18" charset="0"/>
              </a:rPr>
              <a:t>Pastoral Ministry in the Old Testament</a:t>
            </a:r>
            <a:r>
              <a:rPr lang="en-GB" sz="2800" dirty="0">
                <a:solidFill>
                  <a:prstClr val="black"/>
                </a:solidFill>
                <a:latin typeface="Times New Roman" pitchFamily="18" charset="0"/>
                <a:ea typeface="Times New Roman"/>
                <a:cs typeface="Times New Roman" pitchFamily="18" charset="0"/>
              </a:rPr>
              <a:t/>
            </a:r>
            <a:br>
              <a:rPr lang="en-GB" sz="2800" dirty="0">
                <a:solidFill>
                  <a:prstClr val="black"/>
                </a:solidFill>
                <a:latin typeface="Times New Roman" pitchFamily="18" charset="0"/>
                <a:ea typeface="Times New Roman"/>
                <a:cs typeface="Times New Roman" pitchFamily="18" charset="0"/>
              </a:rPr>
            </a:br>
            <a:endParaRPr lang="en-GB"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40000" lnSpcReduction="20000"/>
          </a:bodyPr>
          <a:lstStyle/>
          <a:p>
            <a:pPr algn="just">
              <a:lnSpc>
                <a:spcPct val="150000"/>
              </a:lnSpc>
              <a:spcAft>
                <a:spcPts val="1200"/>
              </a:spcAft>
            </a:pPr>
            <a:r>
              <a:rPr lang="en-GB" sz="4200" b="1" dirty="0" smtClean="0">
                <a:latin typeface="Times New Roman" pitchFamily="18" charset="0"/>
                <a:ea typeface="Times New Roman"/>
                <a:cs typeface="Times New Roman" pitchFamily="18" charset="0"/>
              </a:rPr>
              <a:t>In </a:t>
            </a:r>
            <a:r>
              <a:rPr lang="en-GB" sz="4200" b="1" dirty="0">
                <a:latin typeface="Times New Roman" pitchFamily="18" charset="0"/>
                <a:ea typeface="Times New Roman"/>
                <a:cs typeface="Times New Roman" pitchFamily="18" charset="0"/>
              </a:rPr>
              <a:t>the OT, the shepherds were:</a:t>
            </a:r>
          </a:p>
          <a:p>
            <a:pPr lvl="0" algn="just">
              <a:lnSpc>
                <a:spcPct val="150000"/>
              </a:lnSpc>
              <a:spcAft>
                <a:spcPts val="1200"/>
              </a:spcAft>
              <a:buFont typeface="Wingdings"/>
              <a:buChar char=""/>
            </a:pPr>
            <a:r>
              <a:rPr lang="en-GB" sz="4200" b="1" dirty="0">
                <a:latin typeface="Times New Roman" pitchFamily="18" charset="0"/>
                <a:ea typeface="Times New Roman"/>
                <a:cs typeface="Times New Roman" pitchFamily="18" charset="0"/>
              </a:rPr>
              <a:t>Priests</a:t>
            </a:r>
          </a:p>
          <a:p>
            <a:pPr lvl="0" algn="just">
              <a:lnSpc>
                <a:spcPct val="150000"/>
              </a:lnSpc>
              <a:spcAft>
                <a:spcPts val="1200"/>
              </a:spcAft>
              <a:buFont typeface="Wingdings"/>
              <a:buChar char=""/>
            </a:pPr>
            <a:r>
              <a:rPr lang="en-GB" sz="4200" b="1" dirty="0">
                <a:latin typeface="Times New Roman" pitchFamily="18" charset="0"/>
                <a:ea typeface="Times New Roman"/>
                <a:cs typeface="Times New Roman" pitchFamily="18" charset="0"/>
              </a:rPr>
              <a:t>Kings</a:t>
            </a:r>
          </a:p>
          <a:p>
            <a:pPr lvl="0" algn="just">
              <a:lnSpc>
                <a:spcPct val="150000"/>
              </a:lnSpc>
              <a:spcAft>
                <a:spcPts val="1200"/>
              </a:spcAft>
              <a:buFont typeface="Wingdings"/>
              <a:buChar char=""/>
            </a:pPr>
            <a:r>
              <a:rPr lang="en-GB" sz="4200" b="1" dirty="0">
                <a:latin typeface="Times New Roman" pitchFamily="18" charset="0"/>
                <a:ea typeface="Times New Roman"/>
                <a:cs typeface="Times New Roman" pitchFamily="18" charset="0"/>
              </a:rPr>
              <a:t>Prophets </a:t>
            </a:r>
          </a:p>
          <a:p>
            <a:pPr algn="just">
              <a:lnSpc>
                <a:spcPct val="150000"/>
              </a:lnSpc>
              <a:spcAft>
                <a:spcPts val="1200"/>
              </a:spcAft>
            </a:pPr>
            <a:r>
              <a:rPr lang="en-GB" sz="4200" b="1" dirty="0">
                <a:latin typeface="Times New Roman" pitchFamily="18" charset="0"/>
                <a:ea typeface="Times New Roman"/>
                <a:cs typeface="Times New Roman" pitchFamily="18" charset="0"/>
              </a:rPr>
              <a:t>Their services included: </a:t>
            </a:r>
          </a:p>
          <a:p>
            <a:pPr lvl="0" algn="just">
              <a:lnSpc>
                <a:spcPct val="150000"/>
              </a:lnSpc>
              <a:spcAft>
                <a:spcPts val="1200"/>
              </a:spcAft>
              <a:buFont typeface="Wingdings"/>
              <a:buChar char=""/>
            </a:pPr>
            <a:r>
              <a:rPr lang="en-GB" sz="4200" b="1" dirty="0">
                <a:latin typeface="Times New Roman" pitchFamily="18" charset="0"/>
                <a:ea typeface="Times New Roman"/>
                <a:cs typeface="Times New Roman" pitchFamily="18" charset="0"/>
              </a:rPr>
              <a:t>Teaching</a:t>
            </a:r>
          </a:p>
          <a:p>
            <a:pPr lvl="0" algn="just">
              <a:lnSpc>
                <a:spcPct val="150000"/>
              </a:lnSpc>
              <a:spcAft>
                <a:spcPts val="1200"/>
              </a:spcAft>
              <a:buFont typeface="Wingdings"/>
              <a:buChar char=""/>
            </a:pPr>
            <a:r>
              <a:rPr lang="en-GB" sz="4200" b="1" dirty="0">
                <a:latin typeface="Times New Roman" pitchFamily="18" charset="0"/>
                <a:ea typeface="Times New Roman"/>
                <a:cs typeface="Times New Roman" pitchFamily="18" charset="0"/>
              </a:rPr>
              <a:t>Prophecy and</a:t>
            </a:r>
          </a:p>
          <a:p>
            <a:pPr lvl="0" algn="just">
              <a:lnSpc>
                <a:spcPct val="150000"/>
              </a:lnSpc>
              <a:spcAft>
                <a:spcPts val="1200"/>
              </a:spcAft>
              <a:buFont typeface="Wingdings"/>
              <a:buChar char=""/>
            </a:pPr>
            <a:r>
              <a:rPr lang="en-GB" sz="4200" b="1" dirty="0">
                <a:latin typeface="Times New Roman" pitchFamily="18" charset="0"/>
                <a:ea typeface="Times New Roman"/>
                <a:cs typeface="Times New Roman" pitchFamily="18" charset="0"/>
              </a:rPr>
              <a:t>Worshiping  (including sacrifices)</a:t>
            </a:r>
          </a:p>
          <a:p>
            <a:endParaRPr lang="en-GB" dirty="0"/>
          </a:p>
        </p:txBody>
      </p:sp>
    </p:spTree>
    <p:extLst>
      <p:ext uri="{BB962C8B-B14F-4D97-AF65-F5344CB8AC3E}">
        <p14:creationId xmlns:p14="http://schemas.microsoft.com/office/powerpoint/2010/main" val="2647299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lvl="0" indent="-342900">
              <a:spcBef>
                <a:spcPct val="20000"/>
              </a:spcBef>
            </a:pPr>
            <a:r>
              <a:rPr lang="en-GB" sz="2400" b="1" dirty="0">
                <a:solidFill>
                  <a:prstClr val="black"/>
                </a:solidFill>
                <a:latin typeface="Times New Roman" pitchFamily="18" charset="0"/>
                <a:ea typeface="+mn-ea"/>
                <a:cs typeface="Times New Roman" pitchFamily="18" charset="0"/>
              </a:rPr>
              <a:t>Shepherds as Priests, Kings, and Prophets:</a:t>
            </a:r>
            <a:r>
              <a:rPr lang="en-GB" sz="2400" dirty="0">
                <a:solidFill>
                  <a:prstClr val="black"/>
                </a:solidFill>
                <a:latin typeface="Times New Roman" pitchFamily="18" charset="0"/>
                <a:ea typeface="+mn-ea"/>
                <a:cs typeface="Times New Roman" pitchFamily="18" charset="0"/>
              </a:rPr>
              <a:t/>
            </a:r>
            <a:br>
              <a:rPr lang="en-GB" sz="2400" dirty="0">
                <a:solidFill>
                  <a:prstClr val="black"/>
                </a:solidFill>
                <a:latin typeface="Times New Roman" pitchFamily="18" charset="0"/>
                <a:ea typeface="+mn-ea"/>
                <a:cs typeface="Times New Roman" pitchFamily="18" charset="0"/>
              </a:rPr>
            </a:br>
            <a:endParaRPr lang="en-GB" sz="2400" dirty="0"/>
          </a:p>
        </p:txBody>
      </p:sp>
      <p:sp>
        <p:nvSpPr>
          <p:cNvPr id="3" name="Content Placeholder 2"/>
          <p:cNvSpPr>
            <a:spLocks noGrp="1"/>
          </p:cNvSpPr>
          <p:nvPr>
            <p:ph idx="1"/>
          </p:nvPr>
        </p:nvSpPr>
        <p:spPr/>
        <p:txBody>
          <a:bodyPr>
            <a:normAutofit/>
          </a:bodyPr>
          <a:lstStyle/>
          <a:p>
            <a:pPr marL="0" indent="0" algn="just">
              <a:lnSpc>
                <a:spcPct val="115000"/>
              </a:lnSpc>
              <a:spcBef>
                <a:spcPts val="430"/>
              </a:spcBef>
              <a:spcAft>
                <a:spcPts val="0"/>
              </a:spcAft>
              <a:buNone/>
            </a:pPr>
            <a:r>
              <a:rPr lang="en-GB" sz="1800" dirty="0">
                <a:solidFill>
                  <a:srgbClr val="000000"/>
                </a:solidFill>
                <a:latin typeface="Times New Roman"/>
              </a:rPr>
              <a:t>In the Old Testament, the term "shepherd" can metaphorically refer to leaders or those who guide others.</a:t>
            </a:r>
            <a:endParaRPr lang="en-GB" sz="1800" dirty="0">
              <a:latin typeface="Times New Roman"/>
              <a:ea typeface="Times New Roman"/>
            </a:endParaRPr>
          </a:p>
          <a:p>
            <a:pPr marL="0" indent="0" algn="just">
              <a:lnSpc>
                <a:spcPct val="115000"/>
              </a:lnSpc>
              <a:spcBef>
                <a:spcPts val="430"/>
              </a:spcBef>
              <a:spcAft>
                <a:spcPts val="0"/>
              </a:spcAft>
              <a:buNone/>
            </a:pPr>
            <a:r>
              <a:rPr lang="en-GB" sz="1800" b="1" dirty="0">
                <a:solidFill>
                  <a:srgbClr val="000000"/>
                </a:solidFill>
                <a:latin typeface="Times New Roman"/>
              </a:rPr>
              <a:t>Priests</a:t>
            </a:r>
            <a:r>
              <a:rPr lang="en-GB" sz="1800" dirty="0">
                <a:solidFill>
                  <a:srgbClr val="000000"/>
                </a:solidFill>
                <a:latin typeface="Times New Roman"/>
              </a:rPr>
              <a:t>: They were responsible for spiritual leadership, including rituals and sacrifices.</a:t>
            </a:r>
            <a:endParaRPr lang="en-GB" sz="1800" dirty="0">
              <a:latin typeface="Times New Roman"/>
              <a:ea typeface="Times New Roman"/>
            </a:endParaRPr>
          </a:p>
          <a:p>
            <a:pPr marL="0" indent="0" algn="just">
              <a:lnSpc>
                <a:spcPct val="115000"/>
              </a:lnSpc>
              <a:spcBef>
                <a:spcPts val="430"/>
              </a:spcBef>
              <a:spcAft>
                <a:spcPts val="0"/>
              </a:spcAft>
              <a:buNone/>
            </a:pPr>
            <a:r>
              <a:rPr lang="en-GB" sz="1800" b="1" dirty="0">
                <a:solidFill>
                  <a:srgbClr val="000000"/>
                </a:solidFill>
                <a:latin typeface="Times New Roman"/>
              </a:rPr>
              <a:t>Kings</a:t>
            </a:r>
            <a:r>
              <a:rPr lang="en-GB" sz="1800" dirty="0">
                <a:solidFill>
                  <a:srgbClr val="000000"/>
                </a:solidFill>
                <a:latin typeface="Times New Roman"/>
              </a:rPr>
              <a:t>: Kings were seen as shepherds of the people, guiding them politically and spiritually.</a:t>
            </a:r>
            <a:endParaRPr lang="en-GB" sz="1800" dirty="0">
              <a:latin typeface="Times New Roman"/>
              <a:ea typeface="Times New Roman"/>
            </a:endParaRPr>
          </a:p>
          <a:p>
            <a:pPr marL="0" indent="0" algn="just">
              <a:lnSpc>
                <a:spcPct val="115000"/>
              </a:lnSpc>
              <a:spcBef>
                <a:spcPts val="430"/>
              </a:spcBef>
              <a:spcAft>
                <a:spcPts val="0"/>
              </a:spcAft>
              <a:buNone/>
            </a:pPr>
            <a:r>
              <a:rPr lang="en-GB" sz="1800" b="1" dirty="0">
                <a:solidFill>
                  <a:srgbClr val="000000"/>
                </a:solidFill>
                <a:latin typeface="Times New Roman"/>
              </a:rPr>
              <a:t>Prophets</a:t>
            </a:r>
            <a:r>
              <a:rPr lang="en-GB" sz="1800" dirty="0">
                <a:solidFill>
                  <a:srgbClr val="000000"/>
                </a:solidFill>
                <a:latin typeface="Times New Roman"/>
              </a:rPr>
              <a:t>: Prophets guided people with divine messages, calling them to follow God's will.</a:t>
            </a:r>
            <a:endParaRPr lang="en-GB" sz="1800" dirty="0">
              <a:latin typeface="Times New Roman"/>
              <a:ea typeface="Times New Roman"/>
            </a:endParaRPr>
          </a:p>
          <a:p>
            <a:pPr marL="0" indent="0" algn="just">
              <a:lnSpc>
                <a:spcPct val="115000"/>
              </a:lnSpc>
              <a:spcBef>
                <a:spcPts val="430"/>
              </a:spcBef>
              <a:spcAft>
                <a:spcPts val="0"/>
              </a:spcAft>
              <a:buNone/>
            </a:pPr>
            <a:r>
              <a:rPr lang="en-GB" sz="1800" b="1" dirty="0">
                <a:solidFill>
                  <a:srgbClr val="000000"/>
                </a:solidFill>
                <a:latin typeface="Times New Roman"/>
              </a:rPr>
              <a:t>Their Services:</a:t>
            </a:r>
            <a:endParaRPr lang="en-GB" sz="1800" dirty="0">
              <a:latin typeface="Times New Roman"/>
              <a:ea typeface="Times New Roman"/>
            </a:endParaRPr>
          </a:p>
          <a:p>
            <a:pPr marL="0" lvl="0" indent="0" algn="just">
              <a:lnSpc>
                <a:spcPct val="115000"/>
              </a:lnSpc>
              <a:buNone/>
              <a:tabLst>
                <a:tab pos="457200" algn="l"/>
              </a:tabLst>
            </a:pPr>
            <a:r>
              <a:rPr lang="en-GB" sz="1800" b="1" dirty="0">
                <a:solidFill>
                  <a:srgbClr val="000000"/>
                </a:solidFill>
                <a:latin typeface="Times New Roman"/>
                <a:cs typeface="Times New Roman"/>
              </a:rPr>
              <a:t>Teaching</a:t>
            </a:r>
            <a:r>
              <a:rPr lang="en-GB" sz="1800" dirty="0">
                <a:solidFill>
                  <a:srgbClr val="000000"/>
                </a:solidFill>
                <a:latin typeface="Times New Roman"/>
                <a:cs typeface="Times New Roman"/>
              </a:rPr>
              <a:t>: Yes, priests, prophets, and kings taught God's laws and guidance.</a:t>
            </a:r>
            <a:endParaRPr lang="en-GB" sz="1800" dirty="0">
              <a:latin typeface="Times New Roman"/>
              <a:ea typeface="Times New Roman"/>
              <a:cs typeface="Times New Roman"/>
            </a:endParaRPr>
          </a:p>
          <a:p>
            <a:pPr marL="0" lvl="0" indent="0" algn="just">
              <a:lnSpc>
                <a:spcPct val="115000"/>
              </a:lnSpc>
              <a:buNone/>
              <a:tabLst>
                <a:tab pos="457200" algn="l"/>
              </a:tabLst>
            </a:pPr>
            <a:r>
              <a:rPr lang="en-GB" sz="1800" b="1" dirty="0">
                <a:solidFill>
                  <a:srgbClr val="000000"/>
                </a:solidFill>
                <a:latin typeface="Times New Roman"/>
                <a:cs typeface="Times New Roman"/>
              </a:rPr>
              <a:t>Prophecy</a:t>
            </a:r>
            <a:r>
              <a:rPr lang="en-GB" sz="1800" dirty="0">
                <a:solidFill>
                  <a:srgbClr val="000000"/>
                </a:solidFill>
                <a:latin typeface="Times New Roman"/>
                <a:cs typeface="Times New Roman"/>
              </a:rPr>
              <a:t>: Prophets specifically had the role of delivering prophecies from God.</a:t>
            </a:r>
            <a:endParaRPr lang="en-GB" sz="1800" dirty="0">
              <a:latin typeface="Times New Roman"/>
              <a:ea typeface="Times New Roman"/>
              <a:cs typeface="Times New Roman"/>
            </a:endParaRPr>
          </a:p>
          <a:p>
            <a:pPr marL="0" lvl="0" indent="0" algn="just">
              <a:lnSpc>
                <a:spcPct val="115000"/>
              </a:lnSpc>
              <a:buNone/>
              <a:tabLst>
                <a:tab pos="457200" algn="l"/>
              </a:tabLst>
            </a:pPr>
            <a:r>
              <a:rPr lang="en-GB" sz="1800" b="1" dirty="0">
                <a:solidFill>
                  <a:srgbClr val="000000"/>
                </a:solidFill>
                <a:latin typeface="Times New Roman"/>
                <a:cs typeface="Times New Roman"/>
              </a:rPr>
              <a:t>Worshiping</a:t>
            </a:r>
            <a:r>
              <a:rPr lang="en-GB" sz="1800" dirty="0">
                <a:solidFill>
                  <a:srgbClr val="000000"/>
                </a:solidFill>
                <a:latin typeface="Times New Roman"/>
                <a:cs typeface="Times New Roman"/>
              </a:rPr>
              <a:t> (including sacrifices):The priests in particular were involved in the sacrificial system, offering sacrifices as part of worship to God</a:t>
            </a:r>
            <a:endParaRPr lang="en-GB" sz="1800" dirty="0">
              <a:latin typeface="Times New Roman"/>
              <a:ea typeface="Times New Roman"/>
              <a:cs typeface="Times New Roman"/>
            </a:endParaRPr>
          </a:p>
          <a:p>
            <a:endParaRPr lang="en-GB" sz="1800" dirty="0"/>
          </a:p>
        </p:txBody>
      </p:sp>
    </p:spTree>
    <p:extLst>
      <p:ext uri="{BB962C8B-B14F-4D97-AF65-F5344CB8AC3E}">
        <p14:creationId xmlns:p14="http://schemas.microsoft.com/office/powerpoint/2010/main" val="1430842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Functions and Roles of the Priests</a:t>
            </a:r>
            <a:r>
              <a:rPr lang="en-GB" sz="5400" dirty="0">
                <a:ea typeface="Calibri"/>
                <a:cs typeface="Times New Roman"/>
              </a:rPr>
              <a:t/>
            </a:r>
            <a:br>
              <a:rPr lang="en-GB" sz="5400" dirty="0">
                <a:ea typeface="Calibri"/>
                <a:cs typeface="Times New Roman"/>
              </a:rPr>
            </a:br>
            <a:endParaRPr lang="en-GB" dirty="0"/>
          </a:p>
        </p:txBody>
      </p:sp>
      <p:sp>
        <p:nvSpPr>
          <p:cNvPr id="3" name="Content Placeholder 2"/>
          <p:cNvSpPr>
            <a:spLocks noGrp="1"/>
          </p:cNvSpPr>
          <p:nvPr>
            <p:ph idx="1"/>
          </p:nvPr>
        </p:nvSpPr>
        <p:spPr>
          <a:xfrm>
            <a:off x="457200" y="1412776"/>
            <a:ext cx="8229600" cy="4713387"/>
          </a:xfrm>
        </p:spPr>
        <p:txBody>
          <a:bodyPr>
            <a:normAutofit fontScale="25000" lnSpcReduction="20000"/>
          </a:bodyPr>
          <a:lstStyle/>
          <a:p>
            <a:pPr marL="0" indent="0" algn="just">
              <a:lnSpc>
                <a:spcPct val="115000"/>
              </a:lnSpc>
              <a:spcAft>
                <a:spcPts val="1000"/>
              </a:spcAft>
              <a:buNone/>
            </a:pPr>
            <a:r>
              <a:rPr lang="en-GB" sz="8000" dirty="0">
                <a:latin typeface="Times New Roman" pitchFamily="18" charset="0"/>
                <a:ea typeface="Times New Roman"/>
                <a:cs typeface="Times New Roman" pitchFamily="18" charset="0"/>
              </a:rPr>
              <a:t>Priests in the Old Testament had several key responsibilities, as outlined in </a:t>
            </a:r>
            <a:r>
              <a:rPr lang="en-GB" sz="8000" b="1" dirty="0">
                <a:latin typeface="Times New Roman" pitchFamily="18" charset="0"/>
                <a:ea typeface="Times New Roman"/>
                <a:cs typeface="Times New Roman" pitchFamily="18" charset="0"/>
              </a:rPr>
              <a:t>Leviticus</a:t>
            </a:r>
            <a:r>
              <a:rPr lang="en-GB" sz="8000" dirty="0">
                <a:latin typeface="Times New Roman" pitchFamily="18" charset="0"/>
                <a:ea typeface="Times New Roman"/>
                <a:cs typeface="Times New Roman" pitchFamily="18" charset="0"/>
              </a:rPr>
              <a:t> and </a:t>
            </a:r>
            <a:r>
              <a:rPr lang="en-GB" sz="8000" b="1" dirty="0">
                <a:latin typeface="Times New Roman" pitchFamily="18" charset="0"/>
                <a:ea typeface="Times New Roman"/>
                <a:cs typeface="Times New Roman" pitchFamily="18" charset="0"/>
              </a:rPr>
              <a:t>Numbers</a:t>
            </a:r>
            <a:r>
              <a:rPr lang="en-GB" sz="8000" dirty="0">
                <a:latin typeface="Times New Roman" pitchFamily="18" charset="0"/>
                <a:ea typeface="Times New Roman"/>
                <a:cs typeface="Times New Roman" pitchFamily="18" charset="0"/>
              </a:rPr>
              <a:t>. These include</a:t>
            </a:r>
            <a:r>
              <a:rPr lang="en-GB" sz="8000" dirty="0" smtClean="0">
                <a:latin typeface="Times New Roman" pitchFamily="18" charset="0"/>
                <a:ea typeface="Times New Roman"/>
                <a:cs typeface="Times New Roman" pitchFamily="18" charset="0"/>
              </a:rPr>
              <a:t>:</a:t>
            </a:r>
          </a:p>
          <a:p>
            <a:pPr lvl="0" algn="just">
              <a:lnSpc>
                <a:spcPct val="115000"/>
              </a:lnSpc>
              <a:spcAft>
                <a:spcPts val="1000"/>
              </a:spcAft>
              <a:buFont typeface="+mj-lt"/>
              <a:buAutoNum type="arabicPeriod"/>
              <a:tabLst>
                <a:tab pos="457200" algn="l"/>
              </a:tabLst>
            </a:pPr>
            <a:r>
              <a:rPr lang="en-GB" sz="8000" b="1" dirty="0">
                <a:latin typeface="Times New Roman" pitchFamily="18" charset="0"/>
                <a:ea typeface="Times New Roman"/>
                <a:cs typeface="Times New Roman" pitchFamily="18" charset="0"/>
              </a:rPr>
              <a:t>Offering Sacrifices</a:t>
            </a:r>
            <a:r>
              <a:rPr lang="en-GB" sz="8000" dirty="0">
                <a:latin typeface="Times New Roman" pitchFamily="18" charset="0"/>
                <a:ea typeface="Times New Roman"/>
                <a:cs typeface="Times New Roman" pitchFamily="18" charset="0"/>
              </a:rPr>
              <a:t>: Priests were responsible for performing animal sacrifices on behalf of the people to atone for sins, as prescribed in </a:t>
            </a:r>
            <a:r>
              <a:rPr lang="en-GB" sz="8000" b="1" dirty="0">
                <a:latin typeface="Times New Roman" pitchFamily="18" charset="0"/>
                <a:ea typeface="Times New Roman"/>
                <a:cs typeface="Times New Roman" pitchFamily="18" charset="0"/>
              </a:rPr>
              <a:t>Leviticus 1-7</a:t>
            </a:r>
            <a:r>
              <a:rPr lang="en-GB" sz="8000" dirty="0">
                <a:latin typeface="Times New Roman" pitchFamily="18" charset="0"/>
                <a:ea typeface="Times New Roman"/>
                <a:cs typeface="Times New Roman" pitchFamily="18" charset="0"/>
              </a:rPr>
              <a:t>.</a:t>
            </a:r>
            <a:endParaRPr lang="en-GB" sz="80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8000" b="1" dirty="0">
                <a:latin typeface="Times New Roman" pitchFamily="18" charset="0"/>
                <a:ea typeface="Times New Roman"/>
                <a:cs typeface="Times New Roman" pitchFamily="18" charset="0"/>
              </a:rPr>
              <a:t>Maintaining the Tabernacle and Temple</a:t>
            </a:r>
            <a:r>
              <a:rPr lang="en-GB" sz="8000" dirty="0">
                <a:latin typeface="Times New Roman" pitchFamily="18" charset="0"/>
                <a:ea typeface="Times New Roman"/>
                <a:cs typeface="Times New Roman" pitchFamily="18" charset="0"/>
              </a:rPr>
              <a:t>: Priests were caretakers of the sacred spaces, ensuring the purity of the tabernacle and later the temple in Jerusalem.</a:t>
            </a:r>
            <a:endParaRPr lang="en-GB" sz="80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8000" b="1" dirty="0">
                <a:latin typeface="Times New Roman" pitchFamily="18" charset="0"/>
                <a:ea typeface="Times New Roman"/>
                <a:cs typeface="Times New Roman" pitchFamily="18" charset="0"/>
              </a:rPr>
              <a:t>Teaching the Law</a:t>
            </a:r>
            <a:r>
              <a:rPr lang="en-GB" sz="8000" dirty="0">
                <a:latin typeface="Times New Roman" pitchFamily="18" charset="0"/>
                <a:ea typeface="Times New Roman"/>
                <a:cs typeface="Times New Roman" pitchFamily="18" charset="0"/>
              </a:rPr>
              <a:t>: Priests were also responsible for instructing the Israelites in God’s law and maintaining purity in the community (</a:t>
            </a:r>
            <a:r>
              <a:rPr lang="en-GB" sz="8000" b="1" dirty="0">
                <a:latin typeface="Times New Roman" pitchFamily="18" charset="0"/>
                <a:ea typeface="Times New Roman"/>
                <a:cs typeface="Times New Roman" pitchFamily="18" charset="0"/>
              </a:rPr>
              <a:t>Leviticus 10:11</a:t>
            </a:r>
            <a:r>
              <a:rPr lang="en-GB" sz="8000" dirty="0">
                <a:latin typeface="Times New Roman" pitchFamily="18" charset="0"/>
                <a:ea typeface="Times New Roman"/>
                <a:cs typeface="Times New Roman" pitchFamily="18" charset="0"/>
              </a:rPr>
              <a:t>, </a:t>
            </a:r>
            <a:r>
              <a:rPr lang="en-GB" sz="8000" b="1" dirty="0">
                <a:latin typeface="Times New Roman" pitchFamily="18" charset="0"/>
                <a:ea typeface="Times New Roman"/>
                <a:cs typeface="Times New Roman" pitchFamily="18" charset="0"/>
              </a:rPr>
              <a:t>Malachi 2:7</a:t>
            </a:r>
            <a:r>
              <a:rPr lang="en-GB" sz="8000" dirty="0">
                <a:latin typeface="Times New Roman" pitchFamily="18" charset="0"/>
                <a:ea typeface="Times New Roman"/>
                <a:cs typeface="Times New Roman" pitchFamily="18" charset="0"/>
              </a:rPr>
              <a:t>).</a:t>
            </a:r>
            <a:endParaRPr lang="en-GB" sz="8000" dirty="0">
              <a:latin typeface="Times New Roman" pitchFamily="18" charset="0"/>
              <a:ea typeface="Calibri"/>
              <a:cs typeface="Times New Roman" pitchFamily="18" charset="0"/>
            </a:endParaRPr>
          </a:p>
          <a:p>
            <a:pPr lvl="0" algn="just">
              <a:lnSpc>
                <a:spcPct val="115000"/>
              </a:lnSpc>
              <a:spcAft>
                <a:spcPts val="1000"/>
              </a:spcAft>
              <a:buFont typeface="+mj-lt"/>
              <a:buAutoNum type="arabicPeriod"/>
              <a:tabLst>
                <a:tab pos="457200" algn="l"/>
              </a:tabLst>
            </a:pPr>
            <a:r>
              <a:rPr lang="en-GB" sz="8000" b="1" dirty="0">
                <a:latin typeface="Times New Roman" pitchFamily="18" charset="0"/>
                <a:ea typeface="Times New Roman"/>
                <a:cs typeface="Times New Roman" pitchFamily="18" charset="0"/>
              </a:rPr>
              <a:t>Blessing the People</a:t>
            </a:r>
            <a:r>
              <a:rPr lang="en-GB" sz="8000" dirty="0">
                <a:latin typeface="Times New Roman" pitchFamily="18" charset="0"/>
                <a:ea typeface="Times New Roman"/>
                <a:cs typeface="Times New Roman" pitchFamily="18" charset="0"/>
              </a:rPr>
              <a:t>: As representatives of God, priests bestowed blessings upon the people, such as the </a:t>
            </a:r>
            <a:r>
              <a:rPr lang="en-GB" sz="8000" b="1" dirty="0">
                <a:latin typeface="Times New Roman" pitchFamily="18" charset="0"/>
                <a:ea typeface="Times New Roman"/>
                <a:cs typeface="Times New Roman" pitchFamily="18" charset="0"/>
              </a:rPr>
              <a:t>Priestly Blessing</a:t>
            </a:r>
            <a:r>
              <a:rPr lang="en-GB" sz="8000" dirty="0">
                <a:latin typeface="Times New Roman" pitchFamily="18" charset="0"/>
                <a:ea typeface="Times New Roman"/>
                <a:cs typeface="Times New Roman" pitchFamily="18" charset="0"/>
              </a:rPr>
              <a:t> in </a:t>
            </a:r>
            <a:r>
              <a:rPr lang="en-GB" sz="8000" b="1" dirty="0">
                <a:latin typeface="Times New Roman" pitchFamily="18" charset="0"/>
                <a:ea typeface="Times New Roman"/>
                <a:cs typeface="Times New Roman" pitchFamily="18" charset="0"/>
              </a:rPr>
              <a:t>Numbers 6:24-26</a:t>
            </a:r>
            <a:r>
              <a:rPr lang="en-GB" sz="8000" dirty="0">
                <a:latin typeface="Times New Roman" pitchFamily="18" charset="0"/>
                <a:ea typeface="Times New Roman"/>
                <a:cs typeface="Times New Roman" pitchFamily="18" charset="0"/>
              </a:rPr>
              <a:t>.</a:t>
            </a:r>
            <a:endParaRPr lang="en-GB" sz="8000" dirty="0">
              <a:latin typeface="Times New Roman" pitchFamily="18" charset="0"/>
              <a:ea typeface="Calibri"/>
              <a:cs typeface="Times New Roman" pitchFamily="18" charset="0"/>
            </a:endParaRPr>
          </a:p>
          <a:p>
            <a:pPr marL="0" indent="0" algn="just">
              <a:lnSpc>
                <a:spcPct val="115000"/>
              </a:lnSpc>
              <a:spcAft>
                <a:spcPts val="1000"/>
              </a:spcAft>
              <a:buNone/>
            </a:pPr>
            <a:endParaRPr lang="en-GB" sz="2800" dirty="0">
              <a:ea typeface="Calibri"/>
              <a:cs typeface="Times New Roman"/>
            </a:endParaRPr>
          </a:p>
        </p:txBody>
      </p:sp>
    </p:spTree>
    <p:extLst>
      <p:ext uri="{BB962C8B-B14F-4D97-AF65-F5344CB8AC3E}">
        <p14:creationId xmlns:p14="http://schemas.microsoft.com/office/powerpoint/2010/main" val="2149674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Times New Roman"/>
                <a:ea typeface="Times New Roman"/>
              </a:rPr>
              <a:t>The High Priest and the Day of Atonement</a:t>
            </a:r>
            <a:endParaRPr lang="en-GB" dirty="0"/>
          </a:p>
        </p:txBody>
      </p:sp>
      <p:sp>
        <p:nvSpPr>
          <p:cNvPr id="3" name="Content Placeholder 2"/>
          <p:cNvSpPr>
            <a:spLocks noGrp="1"/>
          </p:cNvSpPr>
          <p:nvPr>
            <p:ph idx="1"/>
          </p:nvPr>
        </p:nvSpPr>
        <p:spPr/>
        <p:txBody>
          <a:bodyPr/>
          <a:lstStyle/>
          <a:p>
            <a:pPr marL="0" indent="0" algn="just">
              <a:lnSpc>
                <a:spcPct val="115000"/>
              </a:lnSpc>
              <a:spcAft>
                <a:spcPts val="1000"/>
              </a:spcAft>
              <a:buNone/>
            </a:pPr>
            <a:r>
              <a:rPr lang="en-GB" dirty="0">
                <a:latin typeface="Times New Roman"/>
                <a:ea typeface="Times New Roman"/>
                <a:cs typeface="Times New Roman"/>
              </a:rPr>
              <a:t>The </a:t>
            </a:r>
            <a:r>
              <a:rPr lang="en-GB" b="1" dirty="0">
                <a:latin typeface="Times New Roman"/>
                <a:ea typeface="Times New Roman"/>
                <a:cs typeface="Times New Roman"/>
              </a:rPr>
              <a:t>High Priest</a:t>
            </a:r>
            <a:r>
              <a:rPr lang="en-GB" dirty="0">
                <a:latin typeface="Times New Roman"/>
                <a:ea typeface="Times New Roman"/>
                <a:cs typeface="Times New Roman"/>
              </a:rPr>
              <a:t> held the highest rank in the priesthood. The most important duty of the High Priest was to enter the </a:t>
            </a:r>
            <a:r>
              <a:rPr lang="en-GB" b="1" dirty="0">
                <a:latin typeface="Times New Roman"/>
                <a:ea typeface="Times New Roman"/>
                <a:cs typeface="Times New Roman"/>
              </a:rPr>
              <a:t>Holy of Holies</a:t>
            </a:r>
            <a:r>
              <a:rPr lang="en-GB" dirty="0">
                <a:latin typeface="Times New Roman"/>
                <a:ea typeface="Times New Roman"/>
                <a:cs typeface="Times New Roman"/>
              </a:rPr>
              <a:t> on the </a:t>
            </a:r>
            <a:r>
              <a:rPr lang="en-GB" b="1" dirty="0">
                <a:latin typeface="Times New Roman"/>
                <a:ea typeface="Times New Roman"/>
                <a:cs typeface="Times New Roman"/>
              </a:rPr>
              <a:t>Day of Atonement </a:t>
            </a:r>
            <a:r>
              <a:rPr lang="en-GB" dirty="0" smtClean="0">
                <a:latin typeface="Times New Roman"/>
                <a:ea typeface="Times New Roman"/>
                <a:cs typeface="Times New Roman"/>
              </a:rPr>
              <a:t>to </a:t>
            </a:r>
            <a:r>
              <a:rPr lang="en-GB" dirty="0">
                <a:latin typeface="Times New Roman"/>
                <a:ea typeface="Times New Roman"/>
                <a:cs typeface="Times New Roman"/>
              </a:rPr>
              <a:t>offer a sacrifice for the sins of the people </a:t>
            </a:r>
            <a:r>
              <a:rPr lang="en-GB" dirty="0" smtClean="0">
                <a:latin typeface="Times New Roman"/>
                <a:ea typeface="Times New Roman"/>
                <a:cs typeface="Times New Roman"/>
              </a:rPr>
              <a:t>(</a:t>
            </a:r>
            <a:r>
              <a:rPr lang="en-GB" b="1" dirty="0" smtClean="0">
                <a:latin typeface="Times New Roman"/>
                <a:ea typeface="Times New Roman"/>
                <a:cs typeface="Times New Roman"/>
              </a:rPr>
              <a:t>Leviticus </a:t>
            </a:r>
            <a:r>
              <a:rPr lang="en-GB" b="1" dirty="0">
                <a:latin typeface="Times New Roman"/>
                <a:ea typeface="Times New Roman"/>
                <a:cs typeface="Times New Roman"/>
              </a:rPr>
              <a:t>16</a:t>
            </a:r>
            <a:r>
              <a:rPr lang="en-GB" dirty="0">
                <a:latin typeface="Times New Roman"/>
                <a:ea typeface="Times New Roman"/>
                <a:cs typeface="Times New Roman"/>
              </a:rPr>
              <a:t>). This act symbolized the reconciliation of Israel with God.</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2485486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Symbolism of Priesthood</a:t>
            </a:r>
            <a:endParaRPr lang="en-GB" dirty="0"/>
          </a:p>
        </p:txBody>
      </p:sp>
      <p:sp>
        <p:nvSpPr>
          <p:cNvPr id="3" name="Content Placeholder 2"/>
          <p:cNvSpPr>
            <a:spLocks noGrp="1"/>
          </p:cNvSpPr>
          <p:nvPr>
            <p:ph idx="1"/>
          </p:nvPr>
        </p:nvSpPr>
        <p:spPr/>
        <p:txBody>
          <a:bodyPr>
            <a:normAutofit fontScale="92500" lnSpcReduction="10000"/>
          </a:bodyPr>
          <a:lstStyle/>
          <a:p>
            <a:pPr marL="0" indent="0" algn="just">
              <a:lnSpc>
                <a:spcPct val="115000"/>
              </a:lnSpc>
              <a:spcAft>
                <a:spcPts val="1000"/>
              </a:spcAft>
              <a:buNone/>
            </a:pPr>
            <a:r>
              <a:rPr lang="en-GB" dirty="0">
                <a:latin typeface="Times New Roman"/>
                <a:ea typeface="Times New Roman"/>
                <a:cs typeface="Times New Roman"/>
              </a:rPr>
              <a:t>The priesthood in the Old Testament served as a symbol of mediation and holiness:</a:t>
            </a:r>
            <a:endParaRPr lang="en-GB" sz="2800" dirty="0">
              <a:ea typeface="Calibri"/>
              <a:cs typeface="Times New Roman"/>
            </a:endParaRPr>
          </a:p>
          <a:p>
            <a:pPr lvl="0" algn="just">
              <a:lnSpc>
                <a:spcPct val="115000"/>
              </a:lnSpc>
              <a:spcAft>
                <a:spcPts val="1000"/>
              </a:spcAft>
              <a:buFont typeface="+mj-lt"/>
              <a:buAutoNum type="arabicPeriod"/>
              <a:tabLst>
                <a:tab pos="457200" algn="l"/>
              </a:tabLst>
            </a:pPr>
            <a:r>
              <a:rPr lang="en-GB" b="1" dirty="0">
                <a:latin typeface="Times New Roman"/>
                <a:ea typeface="Times New Roman"/>
                <a:cs typeface="Times New Roman"/>
              </a:rPr>
              <a:t>Mediators</a:t>
            </a:r>
            <a:r>
              <a:rPr lang="en-GB" dirty="0">
                <a:latin typeface="Times New Roman"/>
                <a:ea typeface="Times New Roman"/>
                <a:cs typeface="Times New Roman"/>
              </a:rPr>
              <a:t>: Priests were intermediaries between God and the people, offering sacrifices for sin.</a:t>
            </a:r>
            <a:endParaRPr lang="en-GB" sz="2800" dirty="0">
              <a:ea typeface="Calibri"/>
              <a:cs typeface="Times New Roman"/>
            </a:endParaRPr>
          </a:p>
          <a:p>
            <a:pPr lvl="0" algn="just">
              <a:lnSpc>
                <a:spcPct val="115000"/>
              </a:lnSpc>
              <a:spcAft>
                <a:spcPts val="1000"/>
              </a:spcAft>
              <a:buFont typeface="+mj-lt"/>
              <a:buAutoNum type="arabicPeriod"/>
              <a:tabLst>
                <a:tab pos="457200" algn="l"/>
              </a:tabLst>
            </a:pPr>
            <a:r>
              <a:rPr lang="en-GB" b="1" dirty="0">
                <a:latin typeface="Times New Roman"/>
                <a:ea typeface="Times New Roman"/>
                <a:cs typeface="Times New Roman"/>
              </a:rPr>
              <a:t>Holiness</a:t>
            </a:r>
            <a:r>
              <a:rPr lang="en-GB" dirty="0">
                <a:latin typeface="Times New Roman"/>
                <a:ea typeface="Times New Roman"/>
                <a:cs typeface="Times New Roman"/>
              </a:rPr>
              <a:t>: The priests were set apart to represent God’s holiness to the people. Their dress, rituals, and consecration were all designed to reflect the sacredness of their office (</a:t>
            </a:r>
            <a:r>
              <a:rPr lang="en-GB" b="1" dirty="0">
                <a:latin typeface="Times New Roman"/>
                <a:ea typeface="Times New Roman"/>
                <a:cs typeface="Times New Roman"/>
              </a:rPr>
              <a:t>Exodus 28:2</a:t>
            </a:r>
            <a:r>
              <a:rPr lang="en-GB" dirty="0">
                <a:latin typeface="Times New Roman"/>
                <a:ea typeface="Times New Roman"/>
                <a:cs typeface="Times New Roman"/>
              </a:rPr>
              <a:t>).</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3321039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marL="0" indent="0" algn="just">
              <a:lnSpc>
                <a:spcPct val="115000"/>
              </a:lnSpc>
              <a:spcAft>
                <a:spcPts val="1000"/>
              </a:spcAft>
              <a:buNone/>
            </a:pPr>
            <a:r>
              <a:rPr lang="en-GB" dirty="0" err="1">
                <a:solidFill>
                  <a:srgbClr val="1D1D1D"/>
                </a:solidFill>
                <a:latin typeface="Power Geez Unicode1"/>
                <a:ea typeface="Calibri"/>
                <a:cs typeface="Ebrima"/>
              </a:rPr>
              <a:t>መሥዋዕት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መሠዋት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ቁርባን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ማቅረብ</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የተጀመረ</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በአዳም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ጊዜ</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ከአዳም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እስከ</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ሙሴ</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የተነሡ</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አበው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ሁሉ</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በሕገ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ልቡና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ለእግዚአብሔር</a:t>
            </a:r>
            <a:r>
              <a:rPr lang="en-GB" sz="2800" dirty="0">
                <a:ea typeface="Calibri"/>
                <a:cs typeface="Times New Roman"/>
              </a:rPr>
              <a:t> </a:t>
            </a:r>
            <a:r>
              <a:rPr lang="en-GB" sz="2800" dirty="0" err="1">
                <a:ea typeface="Calibri"/>
                <a:cs typeface="Times New Roman"/>
              </a:rPr>
              <a:t>መሥዋዕት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ይሠዉ</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ቁርባን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ያቀርቡ</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ነበር፤መሥዋዕታቸውም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ከእንስሳ</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ሲሆን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ቁርባናቸው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ከእህልና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ከአትክልት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ማለት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ከስንዴ</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እህል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ከወይን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ነበር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በዘመነ</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ኦሪትም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እንደዚሁ</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Helvetica"/>
              </a:rPr>
              <a:t>ነበር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መሥዋዕቱና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ቁርባኑ</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የሚቀርበው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የሠርቀ</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ወርኀ</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መባቻ</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የሰንበትና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ቀዳሚት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የታላላቅ</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በዓላት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ዕለት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ሲሆን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የፈቃድ</a:t>
            </a:r>
            <a:r>
              <a:rPr lang="en-GB" dirty="0">
                <a:solidFill>
                  <a:srgbClr val="1D1D1D"/>
                </a:solidFill>
                <a:latin typeface="Visual Geez Unicode"/>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የምስጋና</a:t>
            </a:r>
            <a:r>
              <a:rPr lang="en-GB" dirty="0">
                <a:solidFill>
                  <a:srgbClr val="1D1D1D"/>
                </a:solidFill>
                <a:latin typeface="Visual Geez Unicode"/>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የበዓል</a:t>
            </a:r>
            <a:r>
              <a:rPr lang="en-GB" dirty="0">
                <a:solidFill>
                  <a:srgbClr val="1D1D1D"/>
                </a:solidFill>
                <a:latin typeface="Visual Geez Unicode"/>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የመድኃኒት</a:t>
            </a:r>
            <a:r>
              <a:rPr lang="en-GB" dirty="0">
                <a:solidFill>
                  <a:srgbClr val="1D1D1D"/>
                </a:solidFill>
                <a:latin typeface="Visual Geez Unicode"/>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የንስሐ</a:t>
            </a:r>
            <a:r>
              <a:rPr lang="en-GB" dirty="0">
                <a:solidFill>
                  <a:srgbClr val="1D1D1D"/>
                </a:solidFill>
                <a:latin typeface="Visual Geez Unicode"/>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የብፅዓት</a:t>
            </a:r>
            <a:r>
              <a:rPr lang="en-GB" dirty="0">
                <a:solidFill>
                  <a:srgbClr val="1D1D1D"/>
                </a:solidFill>
                <a:latin typeface="Visual Geez Unicode"/>
                <a:ea typeface="Calibri"/>
                <a:cs typeface="Ebrima"/>
              </a:rPr>
              <a:t>፣</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የቅንዓት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እየተባለ</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ይጠራ</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ነበር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መሥዋዕት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አቅራቢዎችና</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ቦታው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ልዩነት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ነበራቸው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ይኸውም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ከመጋረጃ</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ውጪ</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ቦታው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ቅድስት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መሥዋዕት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አቅራቢዎች</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ካህናት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ከመጋረጃ</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ውስጥ</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ቦታው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ቅድስተ</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ቅዱሳን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መሥዋዕት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አቅራቢውሊቀካህናትይባልነበር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ጊዜዉም</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እንደዚሁ</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ልዩነት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ስለነበረው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ካህናት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ዘወትር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ሲሠው</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የካህናቱ</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አለቃ</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በዓመት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አንድ</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ቀን</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ይሠዋ</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ነበር</a:t>
            </a:r>
            <a:r>
              <a:rPr lang="en-GB" dirty="0">
                <a:solidFill>
                  <a:srgbClr val="1D1D1D"/>
                </a:solidFill>
                <a:latin typeface="Power Geez Unicode1"/>
                <a:ea typeface="Calibri"/>
                <a:cs typeface="Helvetica"/>
              </a:rPr>
              <a:t> /</a:t>
            </a:r>
            <a:r>
              <a:rPr lang="en-GB" dirty="0" err="1">
                <a:solidFill>
                  <a:srgbClr val="1D1D1D"/>
                </a:solidFill>
                <a:latin typeface="Power Geez Unicode1"/>
                <a:ea typeface="Calibri"/>
                <a:cs typeface="Ebrima"/>
              </a:rPr>
              <a:t>ዕብ</a:t>
            </a:r>
            <a:r>
              <a:rPr lang="en-GB" dirty="0">
                <a:solidFill>
                  <a:srgbClr val="1D1D1D"/>
                </a:solidFill>
                <a:latin typeface="Power Geez Unicode1"/>
                <a:ea typeface="Calibri"/>
                <a:cs typeface="Helvetica"/>
              </a:rPr>
              <a:t>. 9</a:t>
            </a:r>
            <a:r>
              <a:rPr lang="en-GB" dirty="0">
                <a:solidFill>
                  <a:srgbClr val="1D1D1D"/>
                </a:solidFill>
                <a:latin typeface="Power Geez Unicode1"/>
                <a:ea typeface="Calibri"/>
                <a:cs typeface="Ebrima"/>
              </a:rPr>
              <a:t>፡</a:t>
            </a:r>
            <a:r>
              <a:rPr lang="en-GB" dirty="0">
                <a:solidFill>
                  <a:srgbClr val="1D1D1D"/>
                </a:solidFill>
                <a:latin typeface="Power Geez Unicode1"/>
                <a:ea typeface="Calibri"/>
                <a:cs typeface="Helvetica"/>
              </a:rPr>
              <a:t>6-7/ </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4239980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000" dirty="0" smtClean="0">
                <a:latin typeface="Times New Roman" pitchFamily="18" charset="0"/>
                <a:cs typeface="Times New Roman" pitchFamily="18" charset="0"/>
              </a:rPr>
              <a:t>summary</a:t>
            </a:r>
            <a:endParaRPr lang="en-GB" sz="2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lnSpc>
                <a:spcPct val="115000"/>
              </a:lnSpc>
              <a:spcAft>
                <a:spcPts val="1000"/>
              </a:spcAft>
              <a:buNone/>
            </a:pPr>
            <a:r>
              <a:rPr lang="en-GB" sz="2200" dirty="0">
                <a:latin typeface="Times New Roman" pitchFamily="18" charset="0"/>
                <a:ea typeface="Calibri"/>
                <a:cs typeface="Times New Roman" pitchFamily="18" charset="0"/>
              </a:rPr>
              <a:t>The OT often describes Israel as sheep who need a shepherd (Ps. 99:3; cf. also Ps. 42:22; 119:176; Jer. 23:1; 50:6). 'The Lord is my shepherd' (Ps. </a:t>
            </a:r>
            <a:r>
              <a:rPr lang="en-GB" sz="2200" dirty="0" smtClean="0">
                <a:latin typeface="Times New Roman" pitchFamily="18" charset="0"/>
                <a:ea typeface="Calibri"/>
                <a:cs typeface="Times New Roman" pitchFamily="18" charset="0"/>
              </a:rPr>
              <a:t>(22)23:1</a:t>
            </a:r>
            <a:r>
              <a:rPr lang="en-GB" sz="2200" dirty="0">
                <a:latin typeface="Times New Roman" pitchFamily="18" charset="0"/>
                <a:ea typeface="Calibri"/>
                <a:cs typeface="Times New Roman" pitchFamily="18" charset="0"/>
              </a:rPr>
              <a:t>) expresses the pastoral role of God with His people. Thus, the OT provides an important basis for understanding the office and function of the pastor. The Shepherd Himself displays His fatherly care, love, mercy, discipline, compassion, and delight toward His people, whom He desires to love and serve with a pure heart. The image of a shepherd also demonstrates God's authority and faithfulness, as well as the necessity and implications of obedience to Him. </a:t>
            </a:r>
            <a:r>
              <a:rPr lang="en-GB" sz="2400" i="1" dirty="0">
                <a:latin typeface="Times New Roman" pitchFamily="18" charset="0"/>
                <a:cs typeface="Times New Roman" pitchFamily="18" charset="0"/>
              </a:rPr>
              <a:t>"Servant leaders show both strengths and weaknesses as God uses them to </a:t>
            </a:r>
            <a:r>
              <a:rPr lang="en-GB" sz="2400" i="1" dirty="0" err="1">
                <a:latin typeface="Times New Roman" pitchFamily="18" charset="0"/>
                <a:cs typeface="Times New Roman" pitchFamily="18" charset="0"/>
              </a:rPr>
              <a:t>fulfill</a:t>
            </a:r>
            <a:r>
              <a:rPr lang="en-GB" sz="2400" i="1" dirty="0">
                <a:latin typeface="Times New Roman" pitchFamily="18" charset="0"/>
                <a:cs typeface="Times New Roman" pitchFamily="18" charset="0"/>
              </a:rPr>
              <a:t> His plan in history."</a:t>
            </a:r>
            <a:endParaRPr lang="en-GB" sz="2200" i="1" dirty="0">
              <a:latin typeface="Times New Roman" pitchFamily="18" charset="0"/>
              <a:cs typeface="Times New Roman" pitchFamily="18" charset="0"/>
            </a:endParaRPr>
          </a:p>
        </p:txBody>
      </p:sp>
    </p:spTree>
    <p:extLst>
      <p:ext uri="{BB962C8B-B14F-4D97-AF65-F5344CB8AC3E}">
        <p14:creationId xmlns:p14="http://schemas.microsoft.com/office/powerpoint/2010/main" val="4076398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latin typeface="Times New Roman"/>
                <a:ea typeface="Times New Roman"/>
              </a:rPr>
              <a:t>The Priesthood in the New Testament</a:t>
            </a:r>
            <a:endParaRPr lang="en-GB" dirty="0"/>
          </a:p>
        </p:txBody>
      </p:sp>
      <p:sp>
        <p:nvSpPr>
          <p:cNvPr id="3" name="Content Placeholder 2"/>
          <p:cNvSpPr>
            <a:spLocks noGrp="1"/>
          </p:cNvSpPr>
          <p:nvPr>
            <p:ph idx="1"/>
          </p:nvPr>
        </p:nvSpPr>
        <p:spPr/>
        <p:txBody>
          <a:bodyPr/>
          <a:lstStyle/>
          <a:p>
            <a:pPr marL="0" indent="0" algn="just">
              <a:buNone/>
            </a:pPr>
            <a:r>
              <a:rPr lang="en-GB" dirty="0">
                <a:latin typeface="Times New Roman"/>
                <a:ea typeface="Times New Roman"/>
              </a:rPr>
              <a:t>In the New Testament, the concept of priesthood is radically transformed. Jesus Christ, identified as the </a:t>
            </a:r>
            <a:r>
              <a:rPr lang="en-GB" b="1" dirty="0">
                <a:latin typeface="Times New Roman"/>
                <a:ea typeface="Times New Roman"/>
              </a:rPr>
              <a:t>Great High Priest</a:t>
            </a:r>
            <a:r>
              <a:rPr lang="en-GB" dirty="0">
                <a:latin typeface="Times New Roman"/>
                <a:ea typeface="Times New Roman"/>
              </a:rPr>
              <a:t> </a:t>
            </a:r>
            <a:r>
              <a:rPr lang="en-GB" dirty="0" smtClean="0">
                <a:latin typeface="Times New Roman"/>
                <a:ea typeface="Times New Roman"/>
              </a:rPr>
              <a:t>(</a:t>
            </a:r>
            <a:r>
              <a:rPr lang="en-GB" b="1" dirty="0" smtClean="0">
                <a:latin typeface="Times New Roman"/>
                <a:ea typeface="Times New Roman"/>
              </a:rPr>
              <a:t>Hebrews </a:t>
            </a:r>
            <a:r>
              <a:rPr lang="en-GB" b="1" dirty="0">
                <a:latin typeface="Times New Roman"/>
                <a:ea typeface="Times New Roman"/>
              </a:rPr>
              <a:t>4:14</a:t>
            </a:r>
            <a:r>
              <a:rPr lang="en-GB" dirty="0">
                <a:latin typeface="Times New Roman"/>
                <a:ea typeface="Times New Roman"/>
              </a:rPr>
              <a:t>), is the </a:t>
            </a:r>
            <a:r>
              <a:rPr lang="en-GB" dirty="0" err="1">
                <a:latin typeface="Times New Roman"/>
                <a:ea typeface="Times New Roman"/>
              </a:rPr>
              <a:t>fulfillment</a:t>
            </a:r>
            <a:r>
              <a:rPr lang="en-GB" dirty="0">
                <a:latin typeface="Times New Roman"/>
                <a:ea typeface="Times New Roman"/>
              </a:rPr>
              <a:t> of the Old Testament priesthood. Unlike the priests of old, who offered sacrifices of animals, Christ offers Himself as the ultimate sacrifice for the sins of humanity. His priesthood is described as </a:t>
            </a:r>
            <a:r>
              <a:rPr lang="en-GB" b="1" dirty="0">
                <a:latin typeface="Times New Roman"/>
                <a:ea typeface="Times New Roman"/>
              </a:rPr>
              <a:t>eternal</a:t>
            </a:r>
            <a:r>
              <a:rPr lang="en-GB" dirty="0">
                <a:latin typeface="Times New Roman"/>
                <a:ea typeface="Times New Roman"/>
              </a:rPr>
              <a:t> and </a:t>
            </a:r>
            <a:r>
              <a:rPr lang="en-GB" b="1" dirty="0">
                <a:latin typeface="Times New Roman"/>
                <a:ea typeface="Times New Roman"/>
              </a:rPr>
              <a:t>perfect</a:t>
            </a:r>
            <a:r>
              <a:rPr lang="en-GB" dirty="0">
                <a:latin typeface="Times New Roman"/>
                <a:ea typeface="Times New Roman"/>
              </a:rPr>
              <a:t> (</a:t>
            </a:r>
            <a:r>
              <a:rPr lang="en-GB" b="1" dirty="0">
                <a:latin typeface="Times New Roman"/>
                <a:ea typeface="Times New Roman"/>
              </a:rPr>
              <a:t>Hebrews 7:23-28</a:t>
            </a:r>
            <a:endParaRPr lang="en-GB" dirty="0"/>
          </a:p>
        </p:txBody>
      </p:sp>
    </p:spTree>
    <p:extLst>
      <p:ext uri="{BB962C8B-B14F-4D97-AF65-F5344CB8AC3E}">
        <p14:creationId xmlns:p14="http://schemas.microsoft.com/office/powerpoint/2010/main" val="2713628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marL="0" indent="0" algn="just">
              <a:lnSpc>
                <a:spcPct val="115000"/>
              </a:lnSpc>
              <a:spcAft>
                <a:spcPts val="1000"/>
              </a:spcAft>
              <a:buNone/>
            </a:pPr>
            <a:r>
              <a:rPr lang="en-GB" dirty="0">
                <a:latin typeface="Times New Roman"/>
                <a:ea typeface="Times New Roman"/>
                <a:cs typeface="Times New Roman"/>
              </a:rPr>
              <a:t>In the New Testament, the concept of priesthood is expanded beyond a specific tribe or class. The Apostle Peter emphasizes that </a:t>
            </a:r>
            <a:r>
              <a:rPr lang="en-GB" b="1" dirty="0">
                <a:latin typeface="Times New Roman"/>
                <a:ea typeface="Times New Roman"/>
                <a:cs typeface="Times New Roman"/>
              </a:rPr>
              <a:t>all believers</a:t>
            </a:r>
            <a:r>
              <a:rPr lang="en-GB" dirty="0">
                <a:latin typeface="Times New Roman"/>
                <a:ea typeface="Times New Roman"/>
                <a:cs typeface="Times New Roman"/>
              </a:rPr>
              <a:t> </a:t>
            </a:r>
            <a:r>
              <a:rPr lang="en-GB" dirty="0" smtClean="0">
                <a:latin typeface="Times New Roman"/>
                <a:ea typeface="Times New Roman"/>
                <a:cs typeface="Times New Roman"/>
              </a:rPr>
              <a:t>(</a:t>
            </a:r>
            <a:r>
              <a:rPr lang="en-GB" dirty="0">
                <a:latin typeface="Times New Roman" pitchFamily="18" charset="0"/>
                <a:cs typeface="Times New Roman" pitchFamily="18" charset="0"/>
              </a:rPr>
              <a:t>who are equipped for specific </a:t>
            </a:r>
            <a:r>
              <a:rPr lang="en-GB" dirty="0" smtClean="0">
                <a:latin typeface="Times New Roman" pitchFamily="18" charset="0"/>
                <a:cs typeface="Times New Roman" pitchFamily="18" charset="0"/>
              </a:rPr>
              <a:t>service</a:t>
            </a:r>
            <a:r>
              <a:rPr lang="en-GB" dirty="0" smtClean="0">
                <a:latin typeface="Times New Roman"/>
                <a:ea typeface="Times New Roman"/>
                <a:cs typeface="Times New Roman"/>
              </a:rPr>
              <a:t>) are </a:t>
            </a:r>
            <a:r>
              <a:rPr lang="en-GB" dirty="0">
                <a:latin typeface="Times New Roman"/>
                <a:ea typeface="Times New Roman"/>
                <a:cs typeface="Times New Roman"/>
              </a:rPr>
              <a:t>part of a royal priesthood. This is reflected in </a:t>
            </a:r>
            <a:r>
              <a:rPr lang="en-GB" b="1" dirty="0">
                <a:latin typeface="Times New Roman"/>
                <a:ea typeface="Times New Roman"/>
                <a:cs typeface="Times New Roman"/>
              </a:rPr>
              <a:t>1 Peter 2:9</a:t>
            </a:r>
            <a:r>
              <a:rPr lang="en-GB" dirty="0">
                <a:latin typeface="Times New Roman"/>
                <a:ea typeface="Times New Roman"/>
                <a:cs typeface="Times New Roman"/>
              </a:rPr>
              <a:t>, where he declares: </a:t>
            </a:r>
            <a:r>
              <a:rPr lang="en-GB" i="1" dirty="0">
                <a:latin typeface="Times New Roman"/>
                <a:ea typeface="Times New Roman"/>
                <a:cs typeface="Times New Roman"/>
              </a:rPr>
              <a:t>"But you are a chosen generation, a royal priesthood, a holy nation, His own special people..."</a:t>
            </a:r>
            <a:endParaRPr lang="en-GB" sz="2800" dirty="0">
              <a:ea typeface="Calibri"/>
              <a:cs typeface="Times New Roman"/>
            </a:endParaRPr>
          </a:p>
        </p:txBody>
      </p:sp>
    </p:spTree>
    <p:extLst>
      <p:ext uri="{BB962C8B-B14F-4D97-AF65-F5344CB8AC3E}">
        <p14:creationId xmlns:p14="http://schemas.microsoft.com/office/powerpoint/2010/main" val="856433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Jesus as the Good Shepherd:</a:t>
            </a:r>
            <a:endParaRPr lang="en-GB" dirty="0"/>
          </a:p>
        </p:txBody>
      </p:sp>
      <p:sp>
        <p:nvSpPr>
          <p:cNvPr id="3" name="Content Placeholder 2"/>
          <p:cNvSpPr>
            <a:spLocks noGrp="1"/>
          </p:cNvSpPr>
          <p:nvPr>
            <p:ph idx="1"/>
          </p:nvPr>
        </p:nvSpPr>
        <p:spPr/>
        <p:txBody>
          <a:bodyPr/>
          <a:lstStyle/>
          <a:p>
            <a:pPr marL="0" lvl="0" indent="0" algn="just">
              <a:lnSpc>
                <a:spcPct val="115000"/>
              </a:lnSpc>
              <a:spcAft>
                <a:spcPts val="1000"/>
              </a:spcAft>
              <a:buSzPts val="1000"/>
              <a:buNone/>
              <a:tabLst>
                <a:tab pos="457200" algn="l"/>
              </a:tabLst>
            </a:pPr>
            <a:r>
              <a:rPr lang="en-GB" b="1" dirty="0">
                <a:latin typeface="Times New Roman" pitchFamily="18" charset="0"/>
                <a:ea typeface="Times New Roman"/>
                <a:cs typeface="Times New Roman" pitchFamily="18" charset="0"/>
              </a:rPr>
              <a:t>John 10:11</a:t>
            </a:r>
            <a:r>
              <a:rPr lang="en-GB" dirty="0">
                <a:latin typeface="Times New Roman" pitchFamily="18" charset="0"/>
                <a:ea typeface="Times New Roman"/>
                <a:cs typeface="Times New Roman" pitchFamily="18" charset="0"/>
              </a:rPr>
              <a:t> - Jesus explicitly says, </a:t>
            </a:r>
            <a:r>
              <a:rPr lang="en-GB" i="1" dirty="0">
                <a:latin typeface="Times New Roman" pitchFamily="18" charset="0"/>
                <a:ea typeface="Times New Roman"/>
                <a:cs typeface="Times New Roman" pitchFamily="18" charset="0"/>
              </a:rPr>
              <a:t>“I am the good shepherd. The good shepherd lays down his life for the sheep</a:t>
            </a:r>
            <a:r>
              <a:rPr lang="en-GB" i="1" dirty="0" smtClean="0">
                <a:latin typeface="Times New Roman" pitchFamily="18" charset="0"/>
                <a:ea typeface="Times New Roman"/>
                <a:cs typeface="Times New Roman" pitchFamily="18" charset="0"/>
              </a:rPr>
              <a:t>.”</a:t>
            </a:r>
            <a:r>
              <a:rPr lang="en-GB" dirty="0">
                <a:latin typeface="Times New Roman" pitchFamily="18" charset="0"/>
                <a:ea typeface="Times New Roman"/>
                <a:cs typeface="Times New Roman" pitchFamily="18" charset="0"/>
              </a:rPr>
              <a:t> Jesus identifies Himself as the shepherd who cares for, protects, and even sacrifices Himself for His followers, who are symbolized as sheep. This shows His deep love and commitment to His people.</a:t>
            </a:r>
            <a:endParaRPr lang="en-GB" dirty="0">
              <a:latin typeface="Times New Roman" pitchFamily="18" charset="0"/>
              <a:ea typeface="Calibri"/>
              <a:cs typeface="Times New Roman" pitchFamily="18" charset="0"/>
            </a:endParaRPr>
          </a:p>
          <a:p>
            <a:pPr marL="0" lvl="0" indent="0">
              <a:lnSpc>
                <a:spcPct val="115000"/>
              </a:lnSpc>
              <a:spcAft>
                <a:spcPts val="1000"/>
              </a:spcAft>
              <a:buSzPts val="1000"/>
              <a:buNone/>
              <a:tabLst>
                <a:tab pos="457200" algn="l"/>
              </a:tabLst>
            </a:pPr>
            <a:endParaRPr lang="en-GB" sz="2800" dirty="0">
              <a:ea typeface="Calibri"/>
              <a:cs typeface="Times New Roman"/>
            </a:endParaRPr>
          </a:p>
          <a:p>
            <a:endParaRPr lang="en-GB" dirty="0"/>
          </a:p>
        </p:txBody>
      </p:sp>
    </p:spTree>
    <p:extLst>
      <p:ext uri="{BB962C8B-B14F-4D97-AF65-F5344CB8AC3E}">
        <p14:creationId xmlns:p14="http://schemas.microsoft.com/office/powerpoint/2010/main" val="2544789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GB" sz="2800" b="1" dirty="0">
                <a:latin typeface="Times New Roman"/>
                <a:ea typeface="Times New Roman"/>
                <a:cs typeface="Times New Roman"/>
              </a:rPr>
              <a:t>Jesus' Shepherding Ministry in the New Testament:</a:t>
            </a:r>
            <a:r>
              <a:rPr lang="en-GB" sz="2800" dirty="0">
                <a:ea typeface="Calibri"/>
                <a:cs typeface="Times New Roman"/>
              </a:rPr>
              <a:t/>
            </a:r>
            <a:br>
              <a:rPr lang="en-GB" sz="2800" dirty="0">
                <a:ea typeface="Calibri"/>
                <a:cs typeface="Times New Roman"/>
              </a:rPr>
            </a:br>
            <a:endParaRPr lang="en-GB" sz="2800" dirty="0"/>
          </a:p>
        </p:txBody>
      </p:sp>
      <p:sp>
        <p:nvSpPr>
          <p:cNvPr id="3" name="Content Placeholder 2"/>
          <p:cNvSpPr>
            <a:spLocks noGrp="1"/>
          </p:cNvSpPr>
          <p:nvPr>
            <p:ph idx="1"/>
          </p:nvPr>
        </p:nvSpPr>
        <p:spPr/>
        <p:txBody>
          <a:bodyPr>
            <a:normAutofit fontScale="85000" lnSpcReduction="20000"/>
          </a:bodyPr>
          <a:lstStyle/>
          <a:p>
            <a:pPr lvl="0" algn="just">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Matthew 9:36</a:t>
            </a:r>
            <a:r>
              <a:rPr lang="en-GB" dirty="0">
                <a:latin typeface="Times New Roman"/>
                <a:ea typeface="Times New Roman"/>
                <a:cs typeface="Times New Roman"/>
              </a:rPr>
              <a:t> - Jesus had compassion on the crowds because they were "harassed and helpless, like sheep without a shepherd." This demonstrates His understanding of the people's need for a leader who would guide and care for them.</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Matthew 28:18-20 (The Great Commission):</a:t>
            </a:r>
            <a:r>
              <a:rPr lang="en-GB" dirty="0">
                <a:latin typeface="Times New Roman"/>
                <a:ea typeface="Times New Roman"/>
                <a:cs typeface="Times New Roman"/>
              </a:rPr>
              <a:t> Jesus commissions His disciples to continue His work. While Jesus is the ultimate shepherd, He empowers His followers to shepherd others in His name, guiding them toward salvation and spiritual growth.</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3664855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GB" sz="2800" b="1" dirty="0">
                <a:latin typeface="Times New Roman"/>
                <a:ea typeface="Times New Roman"/>
                <a:cs typeface="Times New Roman"/>
              </a:rPr>
              <a:t>The Shepherd’s Relationship with the Sheep:</a:t>
            </a:r>
            <a:r>
              <a:rPr lang="en-GB" sz="2800" dirty="0">
                <a:ea typeface="Calibri"/>
                <a:cs typeface="Times New Roman"/>
              </a:rPr>
              <a:t/>
            </a:r>
            <a:br>
              <a:rPr lang="en-GB" sz="2800" dirty="0">
                <a:ea typeface="Calibri"/>
                <a:cs typeface="Times New Roman"/>
              </a:rPr>
            </a:br>
            <a:endParaRPr lang="en-GB" sz="2800" dirty="0"/>
          </a:p>
        </p:txBody>
      </p:sp>
      <p:sp>
        <p:nvSpPr>
          <p:cNvPr id="3" name="Content Placeholder 2"/>
          <p:cNvSpPr>
            <a:spLocks noGrp="1"/>
          </p:cNvSpPr>
          <p:nvPr>
            <p:ph idx="1"/>
          </p:nvPr>
        </p:nvSpPr>
        <p:spPr/>
        <p:txBody>
          <a:bodyPr>
            <a:normAutofit fontScale="85000" lnSpcReduction="10000"/>
          </a:bodyPr>
          <a:lstStyle/>
          <a:p>
            <a:pPr lvl="0" algn="just">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Intimacy and Knowing the Sheep:</a:t>
            </a:r>
            <a:r>
              <a:rPr lang="en-GB" dirty="0">
                <a:latin typeface="Times New Roman"/>
                <a:ea typeface="Times New Roman"/>
                <a:cs typeface="Times New Roman"/>
              </a:rPr>
              <a:t> In John 10:14, Jesus says, </a:t>
            </a:r>
            <a:r>
              <a:rPr lang="en-GB" i="1" dirty="0">
                <a:latin typeface="Times New Roman"/>
                <a:ea typeface="Times New Roman"/>
                <a:cs typeface="Times New Roman"/>
              </a:rPr>
              <a:t>“I am the good shepherd; I know my sheep and my sheep know me.”</a:t>
            </a:r>
            <a:r>
              <a:rPr lang="en-GB" dirty="0">
                <a:latin typeface="Times New Roman"/>
                <a:ea typeface="Times New Roman"/>
                <a:cs typeface="Times New Roman"/>
              </a:rPr>
              <a:t> This emphasizes a personal relationship between Jesus and His followers. He knows them deeply and cares for each one individually.</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b="1" dirty="0">
                <a:latin typeface="Times New Roman"/>
                <a:ea typeface="Times New Roman"/>
                <a:cs typeface="Times New Roman"/>
              </a:rPr>
              <a:t>Leading to Safety:</a:t>
            </a:r>
            <a:r>
              <a:rPr lang="en-GB" dirty="0">
                <a:latin typeface="Times New Roman"/>
                <a:ea typeface="Times New Roman"/>
                <a:cs typeface="Times New Roman"/>
              </a:rPr>
              <a:t> The role of the shepherd is to guide the sheep to safe pastures, and Jesus does this by leading His followers into a relationship with God the Father and offering them eternal life.</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1694961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CHAPTER THREE</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endParaRPr lang="en-GB" dirty="0" smtClean="0">
              <a:latin typeface="Times New Roman" pitchFamily="18" charset="0"/>
              <a:cs typeface="Times New Roman" pitchFamily="18" charset="0"/>
            </a:endParaRPr>
          </a:p>
          <a:p>
            <a:pPr marL="0" indent="0">
              <a:buNone/>
            </a:pPr>
            <a:endParaRPr lang="en-GB" dirty="0">
              <a:latin typeface="Times New Roman" pitchFamily="18" charset="0"/>
              <a:cs typeface="Times New Roman" pitchFamily="18" charset="0"/>
            </a:endParaRPr>
          </a:p>
          <a:p>
            <a:pPr marL="0" indent="0">
              <a:buNone/>
            </a:pPr>
            <a:endParaRPr lang="en-GB" dirty="0" smtClean="0">
              <a:latin typeface="Times New Roman" pitchFamily="18" charset="0"/>
              <a:cs typeface="Times New Roman" pitchFamily="18" charset="0"/>
            </a:endParaRPr>
          </a:p>
          <a:p>
            <a:pPr marL="0" indent="0" algn="ctr">
              <a:lnSpc>
                <a:spcPct val="150000"/>
              </a:lnSpc>
              <a:spcAft>
                <a:spcPts val="600"/>
              </a:spcAft>
              <a:buNone/>
            </a:pPr>
            <a:r>
              <a:rPr lang="en-GB" sz="4000" b="1" dirty="0">
                <a:latin typeface="Times New Roman"/>
                <a:ea typeface="Times New Roman"/>
                <a:cs typeface="Times New Roman"/>
              </a:rPr>
              <a:t>Personal qualifications of the </a:t>
            </a:r>
            <a:r>
              <a:rPr lang="en-GB" sz="4000" b="1" dirty="0" smtClean="0">
                <a:latin typeface="Times New Roman"/>
                <a:ea typeface="Times New Roman"/>
                <a:cs typeface="Times New Roman"/>
              </a:rPr>
              <a:t>priest</a:t>
            </a:r>
          </a:p>
          <a:p>
            <a:pPr marL="0" indent="0" algn="ctr">
              <a:lnSpc>
                <a:spcPct val="150000"/>
              </a:lnSpc>
              <a:spcAft>
                <a:spcPts val="600"/>
              </a:spcAft>
              <a:buNone/>
            </a:pPr>
            <a:r>
              <a:rPr lang="en-GB" sz="4000" b="1" dirty="0" smtClean="0">
                <a:latin typeface="Times New Roman"/>
                <a:ea typeface="Times New Roman"/>
                <a:cs typeface="Times New Roman"/>
              </a:rPr>
              <a:t>(The priest in his home)</a:t>
            </a:r>
            <a:endParaRPr lang="en-GB" sz="3600" dirty="0">
              <a:ea typeface="Times New Roman"/>
              <a:cs typeface="Times New Roman"/>
            </a:endParaRPr>
          </a:p>
        </p:txBody>
      </p:sp>
    </p:spTree>
    <p:extLst>
      <p:ext uri="{BB962C8B-B14F-4D97-AF65-F5344CB8AC3E}">
        <p14:creationId xmlns:p14="http://schemas.microsoft.com/office/powerpoint/2010/main" val="12447024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20000"/>
          </a:bodyPr>
          <a:lstStyle/>
          <a:p>
            <a:pPr marL="0" indent="0" algn="just">
              <a:buNone/>
            </a:pPr>
            <a:r>
              <a:rPr lang="en-GB" dirty="0" smtClean="0">
                <a:latin typeface="Times New Roman" pitchFamily="18" charset="0"/>
                <a:cs typeface="Times New Roman" pitchFamily="18" charset="0"/>
              </a:rPr>
              <a:t>-The </a:t>
            </a:r>
            <a:r>
              <a:rPr lang="en-GB" dirty="0">
                <a:latin typeface="Times New Roman" pitchFamily="18" charset="0"/>
                <a:cs typeface="Times New Roman" pitchFamily="18" charset="0"/>
              </a:rPr>
              <a:t>priest's home should be a place of sanctuary, a refuge where he can rest, pray, and be with his family. However, because the priest’s role extends into every aspect of his life, the home can often feel like another "parish" in the sense that the priest is called to live out his vocation in every space he inhabits. In this context, the home becomes a "domestic Church" where prayer, love, and sacrificial leadership are central. That said, the priest must learn to distinguish between his pastoral duties and the needs of his family. His family should not become “another congregation” to serve; instead, they should be his primary support system, spiritually and emotionally.</a:t>
            </a:r>
          </a:p>
          <a:p>
            <a:pPr marL="0" indent="0">
              <a:buNone/>
            </a:pPr>
            <a:r>
              <a:rPr lang="en-GB" dirty="0" smtClean="0">
                <a:latin typeface="Times New Roman" pitchFamily="18" charset="0"/>
                <a:cs typeface="Times New Roman" pitchFamily="18" charset="0"/>
              </a:rPr>
              <a:t>-The </a:t>
            </a:r>
            <a:r>
              <a:rPr lang="en-GB" dirty="0">
                <a:latin typeface="Times New Roman" pitchFamily="18" charset="0"/>
                <a:cs typeface="Times New Roman" pitchFamily="18" charset="0"/>
              </a:rPr>
              <a:t>home is a microcosm of the Church.</a:t>
            </a:r>
          </a:p>
        </p:txBody>
      </p:sp>
    </p:spTree>
    <p:extLst>
      <p:ext uri="{BB962C8B-B14F-4D97-AF65-F5344CB8AC3E}">
        <p14:creationId xmlns:p14="http://schemas.microsoft.com/office/powerpoint/2010/main" val="2973867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The Priest’s Family Life</a:t>
            </a:r>
            <a:r>
              <a:rPr lang="en-GB" sz="3600" dirty="0">
                <a:ea typeface="Calibri"/>
                <a:cs typeface="Times New Roman"/>
              </a:rPr>
              <a:t/>
            </a:r>
            <a:br>
              <a:rPr lang="en-GB" sz="3600" dirty="0">
                <a:ea typeface="Calibri"/>
                <a:cs typeface="Times New Roman"/>
              </a:rPr>
            </a:br>
            <a:endParaRPr lang="en-GB" dirty="0"/>
          </a:p>
        </p:txBody>
      </p:sp>
      <p:sp>
        <p:nvSpPr>
          <p:cNvPr id="3" name="Content Placeholder 2"/>
          <p:cNvSpPr>
            <a:spLocks noGrp="1"/>
          </p:cNvSpPr>
          <p:nvPr>
            <p:ph idx="1"/>
          </p:nvPr>
        </p:nvSpPr>
        <p:spPr>
          <a:xfrm>
            <a:off x="457200" y="1124744"/>
            <a:ext cx="8229600" cy="5112568"/>
          </a:xfrm>
        </p:spPr>
        <p:txBody>
          <a:bodyPr>
            <a:normAutofit fontScale="25000" lnSpcReduction="20000"/>
          </a:bodyPr>
          <a:lstStyle/>
          <a:p>
            <a:pPr marL="0" indent="0" algn="just">
              <a:lnSpc>
                <a:spcPct val="115000"/>
              </a:lnSpc>
              <a:spcAft>
                <a:spcPts val="1000"/>
              </a:spcAft>
              <a:buNone/>
            </a:pPr>
            <a:r>
              <a:rPr lang="en-GB" sz="9600" dirty="0">
                <a:latin typeface="Times New Roman" pitchFamily="18" charset="0"/>
                <a:ea typeface="Times New Roman"/>
                <a:cs typeface="Times New Roman" pitchFamily="18" charset="0"/>
              </a:rPr>
              <a:t>A priest is called to be a true spiritual father, leading others toward God while also caring for his own family. Just as Christ is the head of the Church, the priest is the head of his parish and his household. To manage his family well, a priest must demonstrate qualities of integrity—being sober, self-controlled, and orderly. He must be hospitable, gentle, peaceful, and free from greed, violence, and drunkenness (1 Timothy 3:2-3).</a:t>
            </a:r>
            <a:endParaRPr lang="en-GB" sz="9600" dirty="0">
              <a:latin typeface="Times New Roman" pitchFamily="18" charset="0"/>
              <a:ea typeface="Calibri"/>
              <a:cs typeface="Times New Roman" pitchFamily="18" charset="0"/>
            </a:endParaRPr>
          </a:p>
          <a:p>
            <a:pPr marL="0" indent="0" algn="just">
              <a:lnSpc>
                <a:spcPct val="115000"/>
              </a:lnSpc>
              <a:spcAft>
                <a:spcPts val="1000"/>
              </a:spcAft>
              <a:buNone/>
            </a:pPr>
            <a:r>
              <a:rPr lang="en-GB" sz="9600" dirty="0">
                <a:latin typeface="Times New Roman" pitchFamily="18" charset="0"/>
                <a:ea typeface="Times New Roman"/>
                <a:cs typeface="Times New Roman" pitchFamily="18" charset="0"/>
              </a:rPr>
              <a:t>Scripture emphasizes that a priest must first manage his family effectively to care for the Church. As Paul writes, “If anyone does not provide for his relatives, especially his own household, he has denied the faith” (1 Timothy 5:8). A priest’s leadership within his family is essential to his role as a spiritual guide.</a:t>
            </a:r>
            <a:endParaRPr lang="en-GB" sz="9600" dirty="0">
              <a:latin typeface="Times New Roman" pitchFamily="18" charset="0"/>
              <a:ea typeface="Calibri"/>
              <a:cs typeface="Times New Roman" pitchFamily="18" charset="0"/>
            </a:endParaRPr>
          </a:p>
          <a:p>
            <a:pPr marL="0" indent="0" algn="just">
              <a:lnSpc>
                <a:spcPct val="150000"/>
              </a:lnSpc>
              <a:spcAft>
                <a:spcPts val="1000"/>
              </a:spcAft>
              <a:buNone/>
            </a:pPr>
            <a:endParaRPr lang="en-GB" sz="7600" dirty="0" smtClean="0">
              <a:latin typeface="Times New Roman" pitchFamily="18" charset="0"/>
              <a:ea typeface="Times New Roman"/>
              <a:cs typeface="Times New Roman" pitchFamily="18" charset="0"/>
            </a:endParaRPr>
          </a:p>
          <a:p>
            <a:pPr marL="0" indent="0">
              <a:lnSpc>
                <a:spcPct val="115000"/>
              </a:lnSpc>
              <a:spcAft>
                <a:spcPts val="1000"/>
              </a:spcAft>
              <a:buNone/>
            </a:pPr>
            <a:r>
              <a:rPr lang="en-GB" sz="6800" dirty="0">
                <a:latin typeface="Times New Roman" pitchFamily="18" charset="0"/>
                <a:ea typeface="Calibri"/>
                <a:cs typeface="Times New Roman" pitchFamily="18" charset="0"/>
              </a:rPr>
              <a:t> </a:t>
            </a:r>
          </a:p>
          <a:p>
            <a:endParaRPr lang="en-GB" dirty="0"/>
          </a:p>
        </p:txBody>
      </p:sp>
    </p:spTree>
    <p:extLst>
      <p:ext uri="{BB962C8B-B14F-4D97-AF65-F5344CB8AC3E}">
        <p14:creationId xmlns:p14="http://schemas.microsoft.com/office/powerpoint/2010/main" val="11857908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fontScale="85000" lnSpcReduction="20000"/>
          </a:bodyPr>
          <a:lstStyle/>
          <a:p>
            <a:pPr marL="0" indent="0" algn="just">
              <a:lnSpc>
                <a:spcPct val="115000"/>
              </a:lnSpc>
              <a:spcAft>
                <a:spcPts val="1000"/>
              </a:spcAft>
              <a:buNone/>
            </a:pPr>
            <a:r>
              <a:rPr lang="en-GB" dirty="0">
                <a:latin typeface="Times New Roman"/>
                <a:ea typeface="Calibri"/>
                <a:cs typeface="Times New Roman"/>
              </a:rPr>
              <a:t>St. Paul’s advice in </a:t>
            </a:r>
            <a:r>
              <a:rPr lang="en-GB" b="1" dirty="0">
                <a:latin typeface="Times New Roman"/>
                <a:ea typeface="Calibri"/>
                <a:cs typeface="Times New Roman"/>
              </a:rPr>
              <a:t>1 Timothy 3:5</a:t>
            </a:r>
            <a:r>
              <a:rPr lang="en-GB" dirty="0">
                <a:latin typeface="Times New Roman"/>
                <a:ea typeface="Calibri"/>
                <a:cs typeface="Times New Roman"/>
              </a:rPr>
              <a:t>, "If someone cannot manage his own family, how can he take care of the church of God?" primarily refers to the role of the </a:t>
            </a:r>
            <a:r>
              <a:rPr lang="en-GB" b="1" dirty="0">
                <a:latin typeface="Times New Roman"/>
                <a:ea typeface="Calibri"/>
                <a:cs typeface="Times New Roman"/>
              </a:rPr>
              <a:t>priest</a:t>
            </a:r>
            <a:r>
              <a:rPr lang="en-GB" dirty="0">
                <a:latin typeface="Times New Roman"/>
                <a:ea typeface="Calibri"/>
                <a:cs typeface="Times New Roman"/>
              </a:rPr>
              <a:t>. A priest is expected to have a family, as part of his leadership responsibility is being a spiritual father, both to his biological family and to his parish. Managing his own household is seen as a reflection of his ability to lead and guide the Church community. The priest’s family life provides a foundation for his pastoral care of the congregation.</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4588868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20000"/>
          </a:bodyPr>
          <a:lstStyle/>
          <a:p>
            <a:pPr marL="0" indent="0" algn="just">
              <a:buNone/>
            </a:pPr>
            <a:r>
              <a:rPr lang="en-GB" dirty="0">
                <a:latin typeface="Times New Roman" pitchFamily="18" charset="0"/>
                <a:cs typeface="Times New Roman" pitchFamily="18" charset="0"/>
              </a:rPr>
              <a:t>While St. Paul’s advice about managing the family applies directly to priests (married clergy), bishops (who are typically celibate monks) demonstrate spiritual maturity and leadership through their celibate commitment, focusing on the broader spiritual "family" of the Church. Both types of leadership—whether married or celibate—are seen as valid and essential in the Orthodox tradition, but they reflect different aspects of spiritual fatherhood and commitment to God.</a:t>
            </a:r>
          </a:p>
          <a:p>
            <a:pPr marL="0" indent="0" algn="just">
              <a:buNone/>
            </a:pPr>
            <a:r>
              <a:rPr lang="en-GB" dirty="0">
                <a:latin typeface="Times New Roman" pitchFamily="18" charset="0"/>
                <a:cs typeface="Times New Roman" pitchFamily="18" charset="0"/>
              </a:rPr>
              <a:t>This approach helps to reconcile the seeming contradiction, showing that both priestly and episcopal vocations have their own path to leadership and spiritual responsibility.</a:t>
            </a:r>
          </a:p>
          <a:p>
            <a:endParaRPr lang="en-GB" dirty="0"/>
          </a:p>
        </p:txBody>
      </p:sp>
    </p:spTree>
    <p:extLst>
      <p:ext uri="{BB962C8B-B14F-4D97-AF65-F5344CB8AC3E}">
        <p14:creationId xmlns:p14="http://schemas.microsoft.com/office/powerpoint/2010/main" val="3654642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The priest with his wife</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0" indent="0" algn="just">
              <a:buNone/>
            </a:pPr>
            <a:r>
              <a:rPr lang="en-GB" dirty="0">
                <a:latin typeface="Times New Roman" pitchFamily="18" charset="0"/>
                <a:cs typeface="Times New Roman" pitchFamily="18" charset="0"/>
              </a:rPr>
              <a:t>Christian matrimony is seen as a sacred union, reflecting the divine relationship between Christ and His Church. The purpose of marriage in Christianity goes beyond mere companionship, and the Church outlines three main goals that guide this holy </a:t>
            </a:r>
            <a:r>
              <a:rPr lang="en-GB" dirty="0" smtClean="0">
                <a:latin typeface="Times New Roman" pitchFamily="18" charset="0"/>
                <a:cs typeface="Times New Roman" pitchFamily="18" charset="0"/>
              </a:rPr>
              <a:t>covenant:</a:t>
            </a:r>
          </a:p>
          <a:p>
            <a:pPr marL="0" indent="0" algn="just">
              <a:buNone/>
            </a:pPr>
            <a:r>
              <a:rPr lang="en-GB" dirty="0" smtClean="0">
                <a:latin typeface="Times New Roman" pitchFamily="18" charset="0"/>
                <a:cs typeface="Times New Roman" pitchFamily="18" charset="0"/>
              </a:rPr>
              <a:t>-Cooperation </a:t>
            </a:r>
            <a:r>
              <a:rPr lang="en-GB" dirty="0">
                <a:latin typeface="Times New Roman" pitchFamily="18" charset="0"/>
                <a:cs typeface="Times New Roman" pitchFamily="18" charset="0"/>
              </a:rPr>
              <a:t>Between Man and </a:t>
            </a:r>
            <a:r>
              <a:rPr lang="en-GB" dirty="0" smtClean="0">
                <a:latin typeface="Times New Roman" pitchFamily="18" charset="0"/>
                <a:cs typeface="Times New Roman" pitchFamily="18" charset="0"/>
              </a:rPr>
              <a:t>Woman</a:t>
            </a:r>
          </a:p>
          <a:p>
            <a:pPr marL="0" indent="0" algn="just">
              <a:buNone/>
            </a:pPr>
            <a:r>
              <a:rPr lang="en-GB" dirty="0" smtClean="0">
                <a:latin typeface="Times New Roman" pitchFamily="18" charset="0"/>
                <a:cs typeface="Times New Roman" pitchFamily="18" charset="0"/>
              </a:rPr>
              <a:t>-Procreation</a:t>
            </a:r>
          </a:p>
          <a:p>
            <a:pPr marL="0" indent="0" algn="just">
              <a:buNone/>
            </a:pPr>
            <a:r>
              <a:rPr lang="en-GB" dirty="0" smtClean="0">
                <a:latin typeface="Times New Roman" pitchFamily="18" charset="0"/>
                <a:cs typeface="Times New Roman" pitchFamily="18" charset="0"/>
              </a:rPr>
              <a:t>-Protection </a:t>
            </a:r>
            <a:r>
              <a:rPr lang="en-GB" dirty="0">
                <a:latin typeface="Times New Roman" pitchFamily="18" charset="0"/>
                <a:cs typeface="Times New Roman" pitchFamily="18" charset="0"/>
              </a:rPr>
              <a:t>Against Adultery and Fornication</a:t>
            </a:r>
          </a:p>
        </p:txBody>
      </p:sp>
    </p:spTree>
    <p:extLst>
      <p:ext uri="{BB962C8B-B14F-4D97-AF65-F5344CB8AC3E}">
        <p14:creationId xmlns:p14="http://schemas.microsoft.com/office/powerpoint/2010/main" val="1342131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Autofit/>
          </a:bodyPr>
          <a:lstStyle/>
          <a:p>
            <a:pPr marL="0" indent="0" algn="just">
              <a:lnSpc>
                <a:spcPct val="150000"/>
              </a:lnSpc>
              <a:spcAft>
                <a:spcPts val="600"/>
              </a:spcAft>
              <a:buNone/>
            </a:pPr>
            <a:r>
              <a:rPr lang="en-GB" sz="1800" dirty="0">
                <a:latin typeface="Times New Roman" pitchFamily="18" charset="0"/>
                <a:ea typeface="Times New Roman"/>
                <a:cs typeface="Times New Roman" pitchFamily="18" charset="0"/>
              </a:rPr>
              <a:t>According to the holy bible, wives must submit completely to their husbands just as the church submits itself to Christ. Husbands also love their wives just as Christ loved the church and gave his life for it.  (Eph. 5</a:t>
            </a:r>
            <a:r>
              <a:rPr lang="en-GB" sz="1800" dirty="0">
                <a:latin typeface="Times New Roman" pitchFamily="18" charset="0"/>
                <a:ea typeface="Times New Roman"/>
                <a:cs typeface="Times New Roman" pitchFamily="18" charset="0"/>
                <a:sym typeface="Symbol"/>
              </a:rPr>
              <a:t></a:t>
            </a:r>
            <a:r>
              <a:rPr lang="en-GB" sz="1800" dirty="0">
                <a:latin typeface="Times New Roman" pitchFamily="18" charset="0"/>
                <a:ea typeface="Times New Roman"/>
                <a:cs typeface="Times New Roman" pitchFamily="18" charset="0"/>
              </a:rPr>
              <a:t> 21) Thus a priest’s wife many collaborate with him by taking charge of the church school, or by doing charitable work in the parish; but her chief and essential help to her husband consists in organizing his material life, in safe grading him from petty trivialities, increasing a pious and reverent atmosphere in the home and in being sensitive to the parishioners’ needs.  The activity of a priest’s wife who does all this can be compared only to that of a guardian angel. </a:t>
            </a:r>
          </a:p>
          <a:p>
            <a:pPr marL="0" indent="0" algn="just">
              <a:buNone/>
            </a:pPr>
            <a:r>
              <a:rPr lang="en-GB" sz="1800" dirty="0">
                <a:latin typeface="Times New Roman" pitchFamily="18" charset="0"/>
                <a:ea typeface="Times New Roman"/>
                <a:cs typeface="Times New Roman" pitchFamily="18" charset="0"/>
              </a:rPr>
              <a:t>It is sad to find instances to the contrary, when wife and children actually hinder a priest instead of helping him, and bring worldly vanity in to the pastoral </a:t>
            </a:r>
            <a:r>
              <a:rPr lang="en-GB" sz="1800" dirty="0" smtClean="0">
                <a:latin typeface="Times New Roman" pitchFamily="18" charset="0"/>
                <a:ea typeface="Times New Roman"/>
                <a:cs typeface="Times New Roman" pitchFamily="18" charset="0"/>
              </a:rPr>
              <a:t>home. </a:t>
            </a:r>
            <a:endParaRPr lang="en-GB" sz="1800" dirty="0">
              <a:latin typeface="Times New Roman" pitchFamily="18" charset="0"/>
              <a:cs typeface="Times New Roman" pitchFamily="18" charset="0"/>
            </a:endParaRPr>
          </a:p>
        </p:txBody>
      </p:sp>
    </p:spTree>
    <p:extLst>
      <p:ext uri="{BB962C8B-B14F-4D97-AF65-F5344CB8AC3E}">
        <p14:creationId xmlns:p14="http://schemas.microsoft.com/office/powerpoint/2010/main" val="2404020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47500" lnSpcReduction="20000"/>
          </a:bodyPr>
          <a:lstStyle/>
          <a:p>
            <a:pPr marL="114300" marR="457200" indent="0" algn="just">
              <a:lnSpc>
                <a:spcPct val="150000"/>
              </a:lnSpc>
              <a:spcAft>
                <a:spcPts val="600"/>
              </a:spcAft>
              <a:buNone/>
            </a:pPr>
            <a:r>
              <a:rPr lang="en-GB" sz="3400" i="1" dirty="0">
                <a:latin typeface="Power Geez Unicode1" pitchFamily="2" charset="0"/>
                <a:ea typeface="Times New Roman"/>
                <a:cs typeface="Times New Roman"/>
              </a:rPr>
              <a:t>“</a:t>
            </a:r>
            <a:r>
              <a:rPr lang="en-GB" sz="3400" i="1" dirty="0" err="1">
                <a:latin typeface="Power Geez Unicode1" pitchFamily="2" charset="0"/>
                <a:ea typeface="Times New Roman"/>
                <a:cs typeface="Times New Roman"/>
              </a:rPr>
              <a:t>የካህን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ሚስት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እንደ</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ካህኑ</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ክብሯን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የጠበቀችና</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የታፈረች</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መሆን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ይገባታል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ካህኑ</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ባሏ</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ወደ</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ቤተክርስቲያን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ሲሄድ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አብራው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የምትሄድ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በቤተክርስቲያን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ሥነ-ሥርዓትን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የምታስከብር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በቤቷ</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ልጆቿን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ሰርታ</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ቀጥታ</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የምታሳድግ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ለጎረቤቶቿም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ጥሩ</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ምሳሌነት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ያላት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ጎረቤቶቿን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የምትመክር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መሠረተ</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እምነትን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የምታስተምር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የተጣሉትን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የምታስታርቅ</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የካህን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ሚስት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ብትገኝ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የካህኑም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ተልዕኮና</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ትምህርቱ</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ተቀባይነት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ይኖረዋል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ባንጻሩ</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ግን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ባሏ</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ሲቀድስ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ወደ</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ቤተክርስቲያን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ሲሄድ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እርሷ</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ከቤቷ</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ተኝታ</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የምታረፍድ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በጎረቤት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ያሉ</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ምእመናን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ሴቶችም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ወንዶችም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ወደ</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ቤተክርስቲያን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ሄደው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ሲያስቀድሱ</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እርሷ</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ከአንዳንዶች</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ጋር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ቡናዋን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አፍልታ</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የምታንቃርር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ከሆነች</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የዚህ</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ካህን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ኖላዊነት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ተቀባይነት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ያጣል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ኖላዊነቱንም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ከቤት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ስላልጀመረው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ትምህርቱንም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እርሱንም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ይንቁታል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ይህም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ብቻ</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አይደለም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ባሏ</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በቤተክርስቲያን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አምልኮ</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ጣዖት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ሲያወግዝ</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እርሷ</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ወደ</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ጠንቋይ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ወደ</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ዛር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የምትሄድ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የቄስ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ሚስት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ባሏ</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መስቀል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ጨብጦ</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መዝገበ</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ጸበል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ይዞ</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የምእመናንን</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ቤት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ሲባርክ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ሲረጭ</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የምታሰደብ</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ልማደኛ</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የቄስ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ሚስት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ካለች</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ለኖላዊነት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ተልዕኮው</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እንቅፋት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ትሆንበታለች</a:t>
            </a:r>
            <a:r>
              <a:rPr lang="en-GB" sz="3400" i="1" dirty="0">
                <a:latin typeface="Power Geez Unicode1" pitchFamily="2" charset="0"/>
                <a:ea typeface="Times New Roman"/>
                <a:cs typeface="Times New Roman"/>
              </a:rPr>
              <a:t>”፡፡(</a:t>
            </a:r>
            <a:r>
              <a:rPr lang="en-GB" sz="3400" i="1" dirty="0" err="1">
                <a:latin typeface="Power Geez Unicode1" pitchFamily="2" charset="0"/>
                <a:ea typeface="Times New Roman"/>
                <a:cs typeface="Times New Roman"/>
              </a:rPr>
              <a:t>አባ</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ጎርጎርዮስ</a:t>
            </a:r>
            <a:r>
              <a:rPr lang="en-GB" sz="3400" i="1" dirty="0">
                <a:latin typeface="Power Geez Unicode1" pitchFamily="2" charset="0"/>
                <a:ea typeface="Times New Roman"/>
                <a:cs typeface="Times New Roman"/>
              </a:rPr>
              <a:t>፤ </a:t>
            </a:r>
            <a:r>
              <a:rPr lang="en-GB" sz="3400" i="1" dirty="0" err="1">
                <a:latin typeface="Power Geez Unicode1" pitchFamily="2" charset="0"/>
                <a:ea typeface="Times New Roman"/>
                <a:cs typeface="Times New Roman"/>
              </a:rPr>
              <a:t>ያልታተመ</a:t>
            </a:r>
            <a:r>
              <a:rPr lang="en-GB" sz="3400" i="1" dirty="0">
                <a:latin typeface="Power Geez Unicode1" pitchFamily="2" charset="0"/>
                <a:ea typeface="Times New Roman"/>
                <a:cs typeface="Times New Roman"/>
              </a:rPr>
              <a:t>) </a:t>
            </a:r>
            <a:endParaRPr lang="en-GB" sz="3400" dirty="0">
              <a:latin typeface="Power Geez Unicode1" pitchFamily="2" charset="0"/>
              <a:ea typeface="Times New Roman"/>
              <a:cs typeface="Times New Roman"/>
            </a:endParaRPr>
          </a:p>
          <a:p>
            <a:endParaRPr lang="en-GB" dirty="0"/>
          </a:p>
        </p:txBody>
      </p:sp>
    </p:spTree>
    <p:extLst>
      <p:ext uri="{BB962C8B-B14F-4D97-AF65-F5344CB8AC3E}">
        <p14:creationId xmlns:p14="http://schemas.microsoft.com/office/powerpoint/2010/main" val="2074283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The priest with his children </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marL="0" indent="0" algn="just">
              <a:buNone/>
            </a:pPr>
            <a:r>
              <a:rPr lang="en-GB" sz="2400" dirty="0" smtClean="0">
                <a:latin typeface="Times New Roman" pitchFamily="18" charset="0"/>
                <a:cs typeface="Times New Roman" pitchFamily="18" charset="0"/>
              </a:rPr>
              <a:t>The </a:t>
            </a:r>
            <a:r>
              <a:rPr lang="en-GB" sz="2400" dirty="0">
                <a:latin typeface="Times New Roman" pitchFamily="18" charset="0"/>
                <a:cs typeface="Times New Roman" pitchFamily="18" charset="0"/>
              </a:rPr>
              <a:t>priest’s relationship with his children is essential to both his personal life and his ministry. By raising his children in the faith, he </a:t>
            </a:r>
            <a:r>
              <a:rPr lang="en-GB" sz="2400" dirty="0" err="1">
                <a:latin typeface="Times New Roman" pitchFamily="18" charset="0"/>
                <a:cs typeface="Times New Roman" pitchFamily="18" charset="0"/>
              </a:rPr>
              <a:t>fulfills</a:t>
            </a:r>
            <a:r>
              <a:rPr lang="en-GB" sz="2400" dirty="0">
                <a:latin typeface="Times New Roman" pitchFamily="18" charset="0"/>
                <a:cs typeface="Times New Roman" pitchFamily="18" charset="0"/>
              </a:rPr>
              <a:t> his duty as a spiritual father, setting an example of Christian love, discipline, and service. The priest’s family is not only a source of support for him but also a model of Christian life for the wider community. Through his children, the priest demonstrates the importance of family, faith, and love in the Christian walk</a:t>
            </a:r>
            <a:r>
              <a:rPr lang="en-GB" sz="2400" dirty="0" smtClean="0">
                <a:latin typeface="Times New Roman" pitchFamily="18" charset="0"/>
                <a:cs typeface="Times New Roman" pitchFamily="18" charset="0"/>
              </a:rPr>
              <a:t>.</a:t>
            </a:r>
            <a:r>
              <a:rPr lang="en-GB" sz="2400" dirty="0">
                <a:latin typeface="Times New Roman" pitchFamily="18" charset="0"/>
                <a:cs typeface="Times New Roman" pitchFamily="18" charset="0"/>
              </a:rPr>
              <a:t> St. Paul’s advice in </a:t>
            </a:r>
            <a:r>
              <a:rPr lang="en-GB" sz="2400" b="1" dirty="0">
                <a:latin typeface="Times New Roman" pitchFamily="18" charset="0"/>
                <a:cs typeface="Times New Roman" pitchFamily="18" charset="0"/>
              </a:rPr>
              <a:t>Ephesians 6:4</a:t>
            </a:r>
            <a:r>
              <a:rPr lang="en-GB" sz="2400" dirty="0">
                <a:latin typeface="Times New Roman" pitchFamily="18" charset="0"/>
                <a:cs typeface="Times New Roman" pitchFamily="18" charset="0"/>
              </a:rPr>
              <a:t> is important here: “Fathers, do not provoke your children to anger, but bring them up in the discipline and instruction of the Lord.” This means that the priest must nurture his children with patience, understanding, and the guiding principles of the Christian faith.</a:t>
            </a:r>
          </a:p>
        </p:txBody>
      </p:sp>
    </p:spTree>
    <p:extLst>
      <p:ext uri="{BB962C8B-B14F-4D97-AF65-F5344CB8AC3E}">
        <p14:creationId xmlns:p14="http://schemas.microsoft.com/office/powerpoint/2010/main" val="426976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55000" lnSpcReduction="20000"/>
          </a:bodyPr>
          <a:lstStyle/>
          <a:p>
            <a:pPr marL="114300" marR="457200" indent="0" algn="just">
              <a:lnSpc>
                <a:spcPct val="150000"/>
              </a:lnSpc>
              <a:spcAft>
                <a:spcPts val="600"/>
              </a:spcAft>
              <a:buNone/>
            </a:pPr>
            <a:r>
              <a:rPr lang="en-GB" i="1" dirty="0" err="1" smtClean="0">
                <a:latin typeface="Power Geez Unicode1"/>
                <a:ea typeface="Times New Roman"/>
                <a:cs typeface="Times New Roman"/>
              </a:rPr>
              <a:t>የካህን</a:t>
            </a:r>
            <a:r>
              <a:rPr lang="en-GB" i="1" dirty="0" smtClean="0">
                <a:latin typeface="Power Geez Unicode1"/>
                <a:ea typeface="Times New Roman"/>
                <a:cs typeface="Times New Roman"/>
              </a:rPr>
              <a:t> </a:t>
            </a:r>
            <a:r>
              <a:rPr lang="en-GB" i="1" dirty="0" err="1">
                <a:latin typeface="Power Geez Unicode1"/>
                <a:ea typeface="Times New Roman"/>
                <a:cs typeface="Times New Roman"/>
              </a:rPr>
              <a:t>ልጆች</a:t>
            </a:r>
            <a:r>
              <a:rPr lang="en-GB" i="1" dirty="0">
                <a:latin typeface="Power Geez Unicode1"/>
                <a:ea typeface="Times New Roman"/>
                <a:cs typeface="Times New Roman"/>
              </a:rPr>
              <a:t> </a:t>
            </a:r>
            <a:r>
              <a:rPr lang="en-GB" i="1" dirty="0" err="1">
                <a:latin typeface="Power Geez Unicode1"/>
                <a:ea typeface="Times New Roman"/>
                <a:cs typeface="Times New Roman"/>
              </a:rPr>
              <a:t>ተሠርተው</a:t>
            </a:r>
            <a:r>
              <a:rPr lang="en-GB" i="1" dirty="0">
                <a:latin typeface="Power Geez Unicode1"/>
                <a:ea typeface="Times New Roman"/>
                <a:cs typeface="Times New Roman"/>
              </a:rPr>
              <a:t> </a:t>
            </a:r>
            <a:r>
              <a:rPr lang="en-GB" i="1" dirty="0" err="1">
                <a:latin typeface="Power Geez Unicode1"/>
                <a:ea typeface="Times New Roman"/>
                <a:cs typeface="Times New Roman"/>
              </a:rPr>
              <a:t>ተቀጥተው</a:t>
            </a:r>
            <a:r>
              <a:rPr lang="en-GB" i="1" dirty="0">
                <a:latin typeface="Power Geez Unicode1"/>
                <a:ea typeface="Times New Roman"/>
                <a:cs typeface="Times New Roman"/>
              </a:rPr>
              <a:t> </a:t>
            </a:r>
            <a:r>
              <a:rPr lang="en-GB" i="1" dirty="0" err="1">
                <a:latin typeface="Power Geez Unicode1"/>
                <a:ea typeface="Times New Roman"/>
                <a:cs typeface="Times New Roman"/>
              </a:rPr>
              <a:t>ያደጉ</a:t>
            </a:r>
            <a:r>
              <a:rPr lang="en-GB" i="1" dirty="0">
                <a:latin typeface="Power Geez Unicode1"/>
                <a:ea typeface="Times New Roman"/>
                <a:cs typeface="Times New Roman"/>
              </a:rPr>
              <a:t> </a:t>
            </a:r>
            <a:r>
              <a:rPr lang="en-GB" i="1" dirty="0" err="1">
                <a:latin typeface="Power Geez Unicode1"/>
                <a:ea typeface="Times New Roman"/>
                <a:cs typeface="Times New Roman"/>
              </a:rPr>
              <a:t>በጎረቤት</a:t>
            </a:r>
            <a:r>
              <a:rPr lang="en-GB" i="1" dirty="0">
                <a:latin typeface="Power Geez Unicode1"/>
                <a:ea typeface="Times New Roman"/>
                <a:cs typeface="Times New Roman"/>
              </a:rPr>
              <a:t> </a:t>
            </a:r>
            <a:r>
              <a:rPr lang="en-GB" i="1" dirty="0" err="1">
                <a:latin typeface="Power Geez Unicode1"/>
                <a:ea typeface="Times New Roman"/>
                <a:cs typeface="Times New Roman"/>
              </a:rPr>
              <a:t>የተመሰገኑ</a:t>
            </a:r>
            <a:r>
              <a:rPr lang="en-GB" i="1" dirty="0">
                <a:latin typeface="Power Geez Unicode1"/>
                <a:ea typeface="Times New Roman"/>
                <a:cs typeface="Times New Roman"/>
              </a:rPr>
              <a:t> </a:t>
            </a:r>
            <a:r>
              <a:rPr lang="en-GB" i="1" dirty="0" err="1">
                <a:latin typeface="Power Geez Unicode1"/>
                <a:ea typeface="Times New Roman"/>
                <a:cs typeface="Times New Roman"/>
              </a:rPr>
              <a:t>ጥሩ</a:t>
            </a:r>
            <a:r>
              <a:rPr lang="en-GB" i="1" dirty="0">
                <a:latin typeface="Power Geez Unicode1"/>
                <a:ea typeface="Times New Roman"/>
                <a:cs typeface="Times New Roman"/>
              </a:rPr>
              <a:t> </a:t>
            </a:r>
            <a:r>
              <a:rPr lang="en-GB" i="1" dirty="0" err="1">
                <a:latin typeface="Power Geez Unicode1"/>
                <a:ea typeface="Times New Roman"/>
                <a:cs typeface="Times New Roman"/>
              </a:rPr>
              <a:t>ምሳሌነት</a:t>
            </a:r>
            <a:r>
              <a:rPr lang="en-GB" i="1" dirty="0">
                <a:latin typeface="Power Geez Unicode1"/>
                <a:ea typeface="Times New Roman"/>
                <a:cs typeface="Times New Roman"/>
              </a:rPr>
              <a:t> </a:t>
            </a:r>
            <a:r>
              <a:rPr lang="en-GB" i="1" dirty="0" err="1">
                <a:latin typeface="Power Geez Unicode1"/>
                <a:ea typeface="Times New Roman"/>
                <a:cs typeface="Times New Roman"/>
              </a:rPr>
              <a:t>እንዲኖራቸው</a:t>
            </a:r>
            <a:r>
              <a:rPr lang="en-GB" i="1" dirty="0">
                <a:latin typeface="Power Geez Unicode1"/>
                <a:ea typeface="Times New Roman"/>
                <a:cs typeface="Times New Roman"/>
              </a:rPr>
              <a:t> </a:t>
            </a:r>
            <a:r>
              <a:rPr lang="en-GB" i="1" dirty="0" err="1">
                <a:latin typeface="Power Geez Unicode1"/>
                <a:ea typeface="Times New Roman"/>
                <a:cs typeface="Times New Roman"/>
              </a:rPr>
              <a:t>ያስፈልጋል</a:t>
            </a:r>
            <a:r>
              <a:rPr lang="en-GB" i="1" dirty="0">
                <a:latin typeface="Power Geez Unicode1"/>
                <a:ea typeface="Times New Roman"/>
                <a:cs typeface="Times New Roman"/>
              </a:rPr>
              <a:t>፡፡ </a:t>
            </a:r>
            <a:r>
              <a:rPr lang="en-GB" i="1" dirty="0" err="1">
                <a:latin typeface="Power Geez Unicode1"/>
                <a:ea typeface="Times New Roman"/>
                <a:cs typeface="Times New Roman"/>
              </a:rPr>
              <a:t>አባታቸው</a:t>
            </a:r>
            <a:r>
              <a:rPr lang="en-GB" i="1" dirty="0">
                <a:latin typeface="Power Geez Unicode1"/>
                <a:ea typeface="Times New Roman"/>
                <a:cs typeface="Times New Roman"/>
              </a:rPr>
              <a:t> </a:t>
            </a:r>
            <a:r>
              <a:rPr lang="en-GB" i="1" dirty="0" err="1">
                <a:latin typeface="Power Geez Unicode1"/>
                <a:ea typeface="Times New Roman"/>
                <a:cs typeface="Times New Roman"/>
              </a:rPr>
              <a:t>ወደ</a:t>
            </a:r>
            <a:r>
              <a:rPr lang="en-GB" i="1" dirty="0">
                <a:latin typeface="Power Geez Unicode1"/>
                <a:ea typeface="Times New Roman"/>
                <a:cs typeface="Times New Roman"/>
              </a:rPr>
              <a:t> </a:t>
            </a:r>
            <a:r>
              <a:rPr lang="en-GB" i="1" dirty="0" err="1">
                <a:latin typeface="Power Geez Unicode1"/>
                <a:ea typeface="Times New Roman"/>
                <a:cs typeface="Times New Roman"/>
              </a:rPr>
              <a:t>ቤተክርስቲያን</a:t>
            </a:r>
            <a:r>
              <a:rPr lang="en-GB" i="1" dirty="0">
                <a:latin typeface="Power Geez Unicode1"/>
                <a:ea typeface="Times New Roman"/>
                <a:cs typeface="Times New Roman"/>
              </a:rPr>
              <a:t> </a:t>
            </a:r>
            <a:r>
              <a:rPr lang="en-GB" i="1" dirty="0" err="1">
                <a:latin typeface="Power Geez Unicode1"/>
                <a:ea typeface="Times New Roman"/>
                <a:cs typeface="Times New Roman"/>
              </a:rPr>
              <a:t>ሲሄድ</a:t>
            </a:r>
            <a:r>
              <a:rPr lang="en-GB" i="1" dirty="0">
                <a:latin typeface="Power Geez Unicode1"/>
                <a:ea typeface="Times New Roman"/>
                <a:cs typeface="Times New Roman"/>
              </a:rPr>
              <a:t> </a:t>
            </a:r>
            <a:r>
              <a:rPr lang="en-GB" i="1" dirty="0" err="1">
                <a:latin typeface="Power Geez Unicode1"/>
                <a:ea typeface="Times New Roman"/>
                <a:cs typeface="Times New Roman"/>
              </a:rPr>
              <a:t>አብረው</a:t>
            </a:r>
            <a:r>
              <a:rPr lang="en-GB" i="1" dirty="0">
                <a:latin typeface="Power Geez Unicode1"/>
                <a:ea typeface="Times New Roman"/>
                <a:cs typeface="Times New Roman"/>
              </a:rPr>
              <a:t> </a:t>
            </a:r>
            <a:r>
              <a:rPr lang="en-GB" i="1" dirty="0" err="1">
                <a:latin typeface="Power Geez Unicode1"/>
                <a:ea typeface="Times New Roman"/>
                <a:cs typeface="Times New Roman"/>
              </a:rPr>
              <a:t>ሄደው</a:t>
            </a:r>
            <a:r>
              <a:rPr lang="en-GB" i="1" dirty="0">
                <a:latin typeface="Power Geez Unicode1"/>
                <a:ea typeface="Times New Roman"/>
                <a:cs typeface="Times New Roman"/>
              </a:rPr>
              <a:t> </a:t>
            </a:r>
            <a:r>
              <a:rPr lang="en-GB" i="1" dirty="0" err="1">
                <a:latin typeface="Power Geez Unicode1"/>
                <a:ea typeface="Times New Roman"/>
                <a:cs typeface="Times New Roman"/>
              </a:rPr>
              <a:t>በቤተክርስቲያን</a:t>
            </a:r>
            <a:r>
              <a:rPr lang="en-GB" i="1" dirty="0">
                <a:latin typeface="Power Geez Unicode1"/>
                <a:ea typeface="Times New Roman"/>
                <a:cs typeface="Times New Roman"/>
              </a:rPr>
              <a:t> </a:t>
            </a:r>
            <a:r>
              <a:rPr lang="en-GB" i="1" dirty="0" err="1">
                <a:latin typeface="Power Geez Unicode1"/>
                <a:ea typeface="Times New Roman"/>
                <a:cs typeface="Times New Roman"/>
              </a:rPr>
              <a:t>አገልግሎት</a:t>
            </a:r>
            <a:r>
              <a:rPr lang="en-GB" i="1" dirty="0">
                <a:latin typeface="Power Geez Unicode1"/>
                <a:ea typeface="Times New Roman"/>
                <a:cs typeface="Times New Roman"/>
              </a:rPr>
              <a:t> </a:t>
            </a:r>
            <a:r>
              <a:rPr lang="en-GB" i="1" dirty="0" err="1">
                <a:latin typeface="Power Geez Unicode1"/>
                <a:ea typeface="Times New Roman"/>
                <a:cs typeface="Times New Roman"/>
              </a:rPr>
              <a:t>የሚራዱ</a:t>
            </a:r>
            <a:r>
              <a:rPr lang="en-GB" i="1" dirty="0">
                <a:latin typeface="Power Geez Unicode1"/>
                <a:ea typeface="Times New Roman"/>
                <a:cs typeface="Times New Roman"/>
              </a:rPr>
              <a:t>፣ </a:t>
            </a:r>
            <a:r>
              <a:rPr lang="en-GB" i="1" dirty="0" err="1">
                <a:latin typeface="Power Geez Unicode1"/>
                <a:ea typeface="Times New Roman"/>
                <a:cs typeface="Times New Roman"/>
              </a:rPr>
              <a:t>ከጎረቤት</a:t>
            </a:r>
            <a:r>
              <a:rPr lang="en-GB" i="1" dirty="0">
                <a:latin typeface="Power Geez Unicode1"/>
                <a:ea typeface="Times New Roman"/>
                <a:cs typeface="Times New Roman"/>
              </a:rPr>
              <a:t> </a:t>
            </a:r>
            <a:r>
              <a:rPr lang="en-GB" i="1" dirty="0" err="1">
                <a:latin typeface="Power Geez Unicode1"/>
                <a:ea typeface="Times New Roman"/>
                <a:cs typeface="Times New Roman"/>
              </a:rPr>
              <a:t>ልጆች</a:t>
            </a:r>
            <a:r>
              <a:rPr lang="en-GB" i="1" dirty="0">
                <a:latin typeface="Power Geez Unicode1"/>
                <a:ea typeface="Times New Roman"/>
                <a:cs typeface="Times New Roman"/>
              </a:rPr>
              <a:t> </a:t>
            </a:r>
            <a:r>
              <a:rPr lang="en-GB" i="1" dirty="0" err="1">
                <a:latin typeface="Power Geez Unicode1"/>
                <a:ea typeface="Times New Roman"/>
                <a:cs typeface="Times New Roman"/>
              </a:rPr>
              <a:t>ጋር</a:t>
            </a:r>
            <a:r>
              <a:rPr lang="en-GB" i="1" dirty="0">
                <a:latin typeface="Power Geez Unicode1"/>
                <a:ea typeface="Times New Roman"/>
                <a:cs typeface="Times New Roman"/>
              </a:rPr>
              <a:t> </a:t>
            </a:r>
            <a:r>
              <a:rPr lang="en-GB" i="1" dirty="0" err="1">
                <a:latin typeface="Power Geez Unicode1"/>
                <a:ea typeface="Times New Roman"/>
                <a:cs typeface="Times New Roman"/>
              </a:rPr>
              <a:t>ሆነው</a:t>
            </a:r>
            <a:r>
              <a:rPr lang="en-GB" i="1" dirty="0">
                <a:latin typeface="Power Geez Unicode1"/>
                <a:ea typeface="Times New Roman"/>
                <a:cs typeface="Times New Roman"/>
              </a:rPr>
              <a:t> </a:t>
            </a:r>
            <a:r>
              <a:rPr lang="en-GB" i="1" dirty="0" err="1">
                <a:latin typeface="Power Geez Unicode1"/>
                <a:ea typeface="Times New Roman"/>
                <a:cs typeface="Times New Roman"/>
              </a:rPr>
              <a:t>ባላፊ</a:t>
            </a:r>
            <a:r>
              <a:rPr lang="en-GB" i="1" dirty="0">
                <a:latin typeface="Power Geez Unicode1"/>
                <a:ea typeface="Times New Roman"/>
                <a:cs typeface="Times New Roman"/>
              </a:rPr>
              <a:t> </a:t>
            </a:r>
            <a:r>
              <a:rPr lang="en-GB" i="1" dirty="0" err="1">
                <a:latin typeface="Power Geez Unicode1"/>
                <a:ea typeface="Times New Roman"/>
                <a:cs typeface="Times New Roman"/>
              </a:rPr>
              <a:t>ባግዳሚው</a:t>
            </a:r>
            <a:r>
              <a:rPr lang="en-GB" i="1" dirty="0">
                <a:latin typeface="Power Geez Unicode1"/>
                <a:ea typeface="Times New Roman"/>
                <a:cs typeface="Times New Roman"/>
              </a:rPr>
              <a:t> </a:t>
            </a:r>
            <a:r>
              <a:rPr lang="en-GB" i="1" dirty="0" err="1">
                <a:latin typeface="Power Geez Unicode1"/>
                <a:ea typeface="Times New Roman"/>
                <a:cs typeface="Times New Roman"/>
              </a:rPr>
              <a:t>በሰው</a:t>
            </a:r>
            <a:r>
              <a:rPr lang="en-GB" i="1" dirty="0">
                <a:latin typeface="Power Geez Unicode1"/>
                <a:ea typeface="Times New Roman"/>
                <a:cs typeface="Times New Roman"/>
              </a:rPr>
              <a:t> </a:t>
            </a:r>
            <a:r>
              <a:rPr lang="en-GB" i="1" dirty="0" err="1">
                <a:latin typeface="Power Geez Unicode1"/>
                <a:ea typeface="Times New Roman"/>
                <a:cs typeface="Times New Roman"/>
              </a:rPr>
              <a:t>የማይቀልዱ</a:t>
            </a:r>
            <a:r>
              <a:rPr lang="en-GB" i="1" dirty="0">
                <a:latin typeface="Power Geez Unicode1"/>
                <a:ea typeface="Times New Roman"/>
                <a:cs typeface="Times New Roman"/>
              </a:rPr>
              <a:t> </a:t>
            </a:r>
            <a:r>
              <a:rPr lang="en-GB" i="1" dirty="0" err="1">
                <a:latin typeface="Power Geez Unicode1"/>
                <a:ea typeface="Times New Roman"/>
                <a:cs typeface="Times New Roman"/>
              </a:rPr>
              <a:t>ትልልቆችን</a:t>
            </a:r>
            <a:r>
              <a:rPr lang="en-GB" i="1" dirty="0">
                <a:latin typeface="Power Geez Unicode1"/>
                <a:ea typeface="Times New Roman"/>
                <a:cs typeface="Times New Roman"/>
              </a:rPr>
              <a:t> </a:t>
            </a:r>
            <a:r>
              <a:rPr lang="en-GB" i="1" dirty="0" err="1">
                <a:latin typeface="Power Geez Unicode1"/>
                <a:ea typeface="Times New Roman"/>
                <a:cs typeface="Times New Roman"/>
              </a:rPr>
              <a:t>አባባ</a:t>
            </a:r>
            <a:r>
              <a:rPr lang="en-GB" i="1" dirty="0">
                <a:latin typeface="Power Geez Unicode1"/>
                <a:ea typeface="Times New Roman"/>
                <a:cs typeface="Times New Roman"/>
              </a:rPr>
              <a:t>፣ </a:t>
            </a:r>
            <a:r>
              <a:rPr lang="en-GB" i="1" dirty="0" err="1">
                <a:latin typeface="Power Geez Unicode1"/>
                <a:ea typeface="Times New Roman"/>
                <a:cs typeface="Times New Roman"/>
              </a:rPr>
              <a:t>እማማ</a:t>
            </a:r>
            <a:r>
              <a:rPr lang="en-GB" i="1" dirty="0">
                <a:latin typeface="Power Geez Unicode1"/>
                <a:ea typeface="Times New Roman"/>
                <a:cs typeface="Times New Roman"/>
              </a:rPr>
              <a:t> </a:t>
            </a:r>
            <a:r>
              <a:rPr lang="en-GB" i="1" dirty="0" err="1">
                <a:latin typeface="Power Geez Unicode1"/>
                <a:ea typeface="Times New Roman"/>
                <a:cs typeface="Times New Roman"/>
              </a:rPr>
              <a:t>ሌሎችን</a:t>
            </a:r>
            <a:r>
              <a:rPr lang="en-GB" i="1" dirty="0">
                <a:latin typeface="Power Geez Unicode1"/>
                <a:ea typeface="Times New Roman"/>
                <a:cs typeface="Times New Roman"/>
              </a:rPr>
              <a:t> </a:t>
            </a:r>
            <a:r>
              <a:rPr lang="en-GB" i="1" dirty="0" err="1">
                <a:latin typeface="Power Geez Unicode1"/>
                <a:ea typeface="Times New Roman"/>
                <a:cs typeface="Times New Roman"/>
              </a:rPr>
              <a:t>ደግሞ</a:t>
            </a:r>
            <a:r>
              <a:rPr lang="en-GB" i="1" dirty="0">
                <a:latin typeface="Power Geez Unicode1"/>
                <a:ea typeface="Times New Roman"/>
                <a:cs typeface="Times New Roman"/>
              </a:rPr>
              <a:t> </a:t>
            </a:r>
            <a:r>
              <a:rPr lang="en-GB" i="1" dirty="0" err="1">
                <a:latin typeface="Power Geez Unicode1"/>
                <a:ea typeface="Times New Roman"/>
                <a:cs typeface="Times New Roman"/>
              </a:rPr>
              <a:t>ጋሼ</a:t>
            </a:r>
            <a:r>
              <a:rPr lang="en-GB" i="1" dirty="0">
                <a:latin typeface="Power Geez Unicode1"/>
                <a:ea typeface="Times New Roman"/>
                <a:cs typeface="Times New Roman"/>
              </a:rPr>
              <a:t> </a:t>
            </a:r>
            <a:r>
              <a:rPr lang="en-GB" i="1" dirty="0" err="1">
                <a:latin typeface="Power Geez Unicode1"/>
                <a:ea typeface="Times New Roman"/>
                <a:cs typeface="Times New Roman"/>
              </a:rPr>
              <a:t>እትዬ</a:t>
            </a:r>
            <a:r>
              <a:rPr lang="en-GB" i="1" dirty="0">
                <a:latin typeface="Power Geez Unicode1"/>
                <a:ea typeface="Times New Roman"/>
                <a:cs typeface="Times New Roman"/>
              </a:rPr>
              <a:t> </a:t>
            </a:r>
            <a:r>
              <a:rPr lang="en-GB" i="1" dirty="0" err="1">
                <a:latin typeface="Power Geez Unicode1"/>
                <a:ea typeface="Times New Roman"/>
                <a:cs typeface="Times New Roman"/>
              </a:rPr>
              <a:t>ብለው</a:t>
            </a:r>
            <a:r>
              <a:rPr lang="en-GB" i="1" dirty="0">
                <a:latin typeface="Power Geez Unicode1"/>
                <a:ea typeface="Times New Roman"/>
                <a:cs typeface="Times New Roman"/>
              </a:rPr>
              <a:t> </a:t>
            </a:r>
            <a:r>
              <a:rPr lang="en-GB" i="1" dirty="0" err="1">
                <a:latin typeface="Power Geez Unicode1"/>
                <a:ea typeface="Times New Roman"/>
                <a:cs typeface="Times New Roman"/>
              </a:rPr>
              <a:t>የሚጠሩ</a:t>
            </a:r>
            <a:r>
              <a:rPr lang="en-GB" i="1" dirty="0">
                <a:latin typeface="Power Geez Unicode1"/>
                <a:ea typeface="Times New Roman"/>
                <a:cs typeface="Times New Roman"/>
              </a:rPr>
              <a:t> </a:t>
            </a:r>
            <a:r>
              <a:rPr lang="en-GB" i="1" dirty="0" err="1">
                <a:latin typeface="Power Geez Unicode1"/>
                <a:ea typeface="Times New Roman"/>
                <a:cs typeface="Times New Roman"/>
              </a:rPr>
              <a:t>ግብረ</a:t>
            </a:r>
            <a:r>
              <a:rPr lang="en-GB" i="1" dirty="0">
                <a:latin typeface="Power Geez Unicode1"/>
                <a:ea typeface="Times New Roman"/>
                <a:cs typeface="Times New Roman"/>
              </a:rPr>
              <a:t> </a:t>
            </a:r>
            <a:r>
              <a:rPr lang="en-GB" i="1" dirty="0" err="1">
                <a:latin typeface="Power Geez Unicode1"/>
                <a:ea typeface="Times New Roman"/>
                <a:cs typeface="Times New Roman"/>
              </a:rPr>
              <a:t>ገብነት</a:t>
            </a:r>
            <a:r>
              <a:rPr lang="en-GB" i="1" dirty="0">
                <a:latin typeface="Power Geez Unicode1"/>
                <a:ea typeface="Times New Roman"/>
                <a:cs typeface="Times New Roman"/>
              </a:rPr>
              <a:t> </a:t>
            </a:r>
            <a:r>
              <a:rPr lang="en-GB" i="1" dirty="0" err="1">
                <a:latin typeface="Power Geez Unicode1"/>
                <a:ea typeface="Times New Roman"/>
                <a:cs typeface="Times New Roman"/>
              </a:rPr>
              <a:t>ያላቸው</a:t>
            </a:r>
            <a:r>
              <a:rPr lang="en-GB" i="1" dirty="0">
                <a:latin typeface="Power Geez Unicode1"/>
                <a:ea typeface="Times New Roman"/>
                <a:cs typeface="Times New Roman"/>
              </a:rPr>
              <a:t> </a:t>
            </a:r>
            <a:r>
              <a:rPr lang="en-GB" i="1" dirty="0" err="1">
                <a:latin typeface="Power Geez Unicode1"/>
                <a:ea typeface="Times New Roman"/>
                <a:cs typeface="Times New Roman"/>
              </a:rPr>
              <a:t>ሁል</a:t>
            </a:r>
            <a:r>
              <a:rPr lang="en-GB" i="1" dirty="0">
                <a:latin typeface="Power Geez Unicode1"/>
                <a:ea typeface="Times New Roman"/>
                <a:cs typeface="Times New Roman"/>
              </a:rPr>
              <a:t> </a:t>
            </a:r>
            <a:r>
              <a:rPr lang="en-GB" i="1" dirty="0" err="1">
                <a:latin typeface="Power Geez Unicode1"/>
                <a:ea typeface="Times New Roman"/>
                <a:cs typeface="Times New Roman"/>
              </a:rPr>
              <a:t>ጊዜ</a:t>
            </a:r>
            <a:r>
              <a:rPr lang="en-GB" i="1" dirty="0">
                <a:latin typeface="Power Geez Unicode1"/>
                <a:ea typeface="Times New Roman"/>
                <a:cs typeface="Times New Roman"/>
              </a:rPr>
              <a:t> </a:t>
            </a:r>
            <a:r>
              <a:rPr lang="en-GB" i="1" dirty="0" err="1">
                <a:latin typeface="Power Geez Unicode1"/>
                <a:ea typeface="Times New Roman"/>
                <a:cs typeface="Times New Roman"/>
              </a:rPr>
              <a:t>ጠብና</a:t>
            </a:r>
            <a:r>
              <a:rPr lang="en-GB" i="1" dirty="0">
                <a:latin typeface="Power Geez Unicode1"/>
                <a:ea typeface="Times New Roman"/>
                <a:cs typeface="Times New Roman"/>
              </a:rPr>
              <a:t> </a:t>
            </a:r>
            <a:r>
              <a:rPr lang="en-GB" i="1" dirty="0" err="1">
                <a:latin typeface="Power Geez Unicode1"/>
                <a:ea typeface="Times New Roman"/>
                <a:cs typeface="Times New Roman"/>
              </a:rPr>
              <a:t>ክርክር</a:t>
            </a:r>
            <a:r>
              <a:rPr lang="en-GB" i="1" dirty="0">
                <a:latin typeface="Power Geez Unicode1"/>
                <a:ea typeface="Times New Roman"/>
                <a:cs typeface="Times New Roman"/>
              </a:rPr>
              <a:t>፣ </a:t>
            </a:r>
            <a:r>
              <a:rPr lang="en-GB" i="1" dirty="0" err="1">
                <a:latin typeface="Power Geez Unicode1"/>
                <a:ea typeface="Times New Roman"/>
                <a:cs typeface="Times New Roman"/>
              </a:rPr>
              <a:t>ጩኸትና</a:t>
            </a:r>
            <a:r>
              <a:rPr lang="en-GB" i="1" dirty="0">
                <a:latin typeface="Power Geez Unicode1"/>
                <a:ea typeface="Times New Roman"/>
                <a:cs typeface="Times New Roman"/>
              </a:rPr>
              <a:t> </a:t>
            </a:r>
            <a:r>
              <a:rPr lang="en-GB" i="1" dirty="0" err="1">
                <a:latin typeface="Power Geez Unicode1"/>
                <a:ea typeface="Times New Roman"/>
                <a:cs typeface="Times New Roman"/>
              </a:rPr>
              <a:t>መደባደብ</a:t>
            </a:r>
            <a:r>
              <a:rPr lang="en-GB" i="1" dirty="0">
                <a:latin typeface="Power Geez Unicode1"/>
                <a:ea typeface="Times New Roman"/>
                <a:cs typeface="Times New Roman"/>
              </a:rPr>
              <a:t> </a:t>
            </a:r>
            <a:r>
              <a:rPr lang="en-GB" i="1" dirty="0" err="1">
                <a:latin typeface="Power Geez Unicode1"/>
                <a:ea typeface="Times New Roman"/>
                <a:cs typeface="Times New Roman"/>
              </a:rPr>
              <a:t>የማይሰማባቸው</a:t>
            </a:r>
            <a:r>
              <a:rPr lang="en-GB" i="1" dirty="0">
                <a:latin typeface="Power Geez Unicode1"/>
                <a:ea typeface="Times New Roman"/>
                <a:cs typeface="Times New Roman"/>
              </a:rPr>
              <a:t> </a:t>
            </a:r>
            <a:r>
              <a:rPr lang="en-GB" i="1" dirty="0" err="1">
                <a:latin typeface="Power Geez Unicode1"/>
                <a:ea typeface="Times New Roman"/>
                <a:cs typeface="Times New Roman"/>
              </a:rPr>
              <a:t>ትዕግስትና</a:t>
            </a:r>
            <a:r>
              <a:rPr lang="en-GB" i="1" dirty="0">
                <a:latin typeface="Power Geez Unicode1"/>
                <a:ea typeface="Times New Roman"/>
                <a:cs typeface="Times New Roman"/>
              </a:rPr>
              <a:t> </a:t>
            </a:r>
            <a:r>
              <a:rPr lang="en-GB" i="1" dirty="0" err="1">
                <a:latin typeface="Power Geez Unicode1"/>
                <a:ea typeface="Times New Roman"/>
                <a:cs typeface="Times New Roman"/>
              </a:rPr>
              <a:t>ትህትና</a:t>
            </a:r>
            <a:r>
              <a:rPr lang="en-GB" i="1" dirty="0">
                <a:latin typeface="Power Geez Unicode1"/>
                <a:ea typeface="Times New Roman"/>
                <a:cs typeface="Times New Roman"/>
              </a:rPr>
              <a:t> </a:t>
            </a:r>
            <a:r>
              <a:rPr lang="en-GB" i="1" dirty="0" err="1">
                <a:latin typeface="Power Geez Unicode1"/>
                <a:ea typeface="Times New Roman"/>
                <a:cs typeface="Times New Roman"/>
              </a:rPr>
              <a:t>የሚታይባቸው</a:t>
            </a:r>
            <a:r>
              <a:rPr lang="en-GB" i="1" dirty="0">
                <a:latin typeface="Power Geez Unicode1"/>
                <a:ea typeface="Times New Roman"/>
                <a:cs typeface="Times New Roman"/>
              </a:rPr>
              <a:t> </a:t>
            </a:r>
            <a:r>
              <a:rPr lang="en-GB" i="1" dirty="0" err="1">
                <a:latin typeface="Power Geez Unicode1"/>
                <a:ea typeface="Times New Roman"/>
                <a:cs typeface="Times New Roman"/>
              </a:rPr>
              <a:t>መሆን</a:t>
            </a:r>
            <a:r>
              <a:rPr lang="en-GB" i="1" dirty="0">
                <a:latin typeface="Power Geez Unicode1"/>
                <a:ea typeface="Times New Roman"/>
                <a:cs typeface="Times New Roman"/>
              </a:rPr>
              <a:t> </a:t>
            </a:r>
            <a:r>
              <a:rPr lang="en-GB" i="1" dirty="0" err="1">
                <a:latin typeface="Power Geez Unicode1"/>
                <a:ea typeface="Times New Roman"/>
                <a:cs typeface="Times New Roman"/>
              </a:rPr>
              <a:t>ይገባቸዋል</a:t>
            </a:r>
            <a:r>
              <a:rPr lang="en-GB" i="1" dirty="0">
                <a:latin typeface="Power Geez Unicode1"/>
                <a:ea typeface="Times New Roman"/>
                <a:cs typeface="Times New Roman"/>
              </a:rPr>
              <a:t>፡፡ </a:t>
            </a:r>
            <a:r>
              <a:rPr lang="en-GB" i="1" dirty="0" err="1">
                <a:latin typeface="Power Geez Unicode1"/>
                <a:ea typeface="Times New Roman"/>
                <a:cs typeface="Times New Roman"/>
              </a:rPr>
              <a:t>ነገር</a:t>
            </a:r>
            <a:r>
              <a:rPr lang="en-GB" i="1" dirty="0">
                <a:latin typeface="Power Geez Unicode1"/>
                <a:ea typeface="Times New Roman"/>
                <a:cs typeface="Times New Roman"/>
              </a:rPr>
              <a:t> </a:t>
            </a:r>
            <a:r>
              <a:rPr lang="en-GB" i="1" dirty="0" err="1">
                <a:latin typeface="Power Geez Unicode1"/>
                <a:ea typeface="Times New Roman"/>
                <a:cs typeface="Times New Roman"/>
              </a:rPr>
              <a:t>ግን</a:t>
            </a:r>
            <a:r>
              <a:rPr lang="en-GB" i="1" dirty="0">
                <a:latin typeface="Power Geez Unicode1"/>
                <a:ea typeface="Times New Roman"/>
                <a:cs typeface="Times New Roman"/>
              </a:rPr>
              <a:t> </a:t>
            </a:r>
            <a:r>
              <a:rPr lang="en-GB" i="1" dirty="0" err="1">
                <a:latin typeface="Power Geez Unicode1"/>
                <a:ea typeface="Times New Roman"/>
                <a:cs typeface="Times New Roman"/>
              </a:rPr>
              <a:t>የካህን</a:t>
            </a:r>
            <a:r>
              <a:rPr lang="en-GB" i="1" dirty="0">
                <a:latin typeface="Power Geez Unicode1"/>
                <a:ea typeface="Times New Roman"/>
                <a:cs typeface="Times New Roman"/>
              </a:rPr>
              <a:t> </a:t>
            </a:r>
            <a:r>
              <a:rPr lang="en-GB" i="1" dirty="0" err="1">
                <a:latin typeface="Power Geez Unicode1"/>
                <a:ea typeface="Times New Roman"/>
                <a:cs typeface="Times New Roman"/>
              </a:rPr>
              <a:t>ልጆች</a:t>
            </a:r>
            <a:r>
              <a:rPr lang="en-GB" i="1" dirty="0">
                <a:latin typeface="Power Geez Unicode1"/>
                <a:ea typeface="Times New Roman"/>
                <a:cs typeface="Times New Roman"/>
              </a:rPr>
              <a:t> </a:t>
            </a:r>
            <a:r>
              <a:rPr lang="en-GB" i="1" dirty="0" err="1">
                <a:latin typeface="Power Geez Unicode1"/>
                <a:ea typeface="Times New Roman"/>
                <a:cs typeface="Times New Roman"/>
              </a:rPr>
              <a:t>አባታቸው</a:t>
            </a:r>
            <a:r>
              <a:rPr lang="en-GB" i="1" dirty="0">
                <a:latin typeface="Power Geez Unicode1"/>
                <a:ea typeface="Times New Roman"/>
                <a:cs typeface="Times New Roman"/>
              </a:rPr>
              <a:t> </a:t>
            </a:r>
            <a:r>
              <a:rPr lang="en-GB" i="1" dirty="0" err="1">
                <a:latin typeface="Power Geez Unicode1"/>
                <a:ea typeface="Times New Roman"/>
                <a:cs typeface="Times New Roman"/>
              </a:rPr>
              <a:t>ሌላውን</a:t>
            </a:r>
            <a:r>
              <a:rPr lang="en-GB" i="1" dirty="0">
                <a:latin typeface="Power Geez Unicode1"/>
                <a:ea typeface="Times New Roman"/>
                <a:cs typeface="Times New Roman"/>
              </a:rPr>
              <a:t> </a:t>
            </a:r>
            <a:r>
              <a:rPr lang="en-GB" i="1" dirty="0" err="1">
                <a:latin typeface="Power Geez Unicode1"/>
                <a:ea typeface="Times New Roman"/>
                <a:cs typeface="Times New Roman"/>
              </a:rPr>
              <a:t>ሲያስተምር</a:t>
            </a:r>
            <a:r>
              <a:rPr lang="en-GB" i="1" dirty="0">
                <a:latin typeface="Power Geez Unicode1"/>
                <a:ea typeface="Times New Roman"/>
                <a:cs typeface="Times New Roman"/>
              </a:rPr>
              <a:t> </a:t>
            </a:r>
            <a:r>
              <a:rPr lang="en-GB" i="1" dirty="0" err="1">
                <a:latin typeface="Power Geez Unicode1"/>
                <a:ea typeface="Times New Roman"/>
                <a:cs typeface="Times New Roman"/>
              </a:rPr>
              <a:t>እነርሱ</a:t>
            </a:r>
            <a:r>
              <a:rPr lang="en-GB" i="1" dirty="0">
                <a:latin typeface="Power Geez Unicode1"/>
                <a:ea typeface="Times New Roman"/>
                <a:cs typeface="Times New Roman"/>
              </a:rPr>
              <a:t> </a:t>
            </a:r>
            <a:r>
              <a:rPr lang="en-GB" i="1" dirty="0" err="1">
                <a:latin typeface="Power Geez Unicode1"/>
                <a:ea typeface="Times New Roman"/>
                <a:cs typeface="Times New Roman"/>
              </a:rPr>
              <a:t>ዋዘኞች</a:t>
            </a:r>
            <a:r>
              <a:rPr lang="en-GB" i="1" dirty="0">
                <a:latin typeface="Power Geez Unicode1"/>
                <a:ea typeface="Times New Roman"/>
                <a:cs typeface="Times New Roman"/>
              </a:rPr>
              <a:t>፤ </a:t>
            </a:r>
            <a:r>
              <a:rPr lang="en-GB" i="1" dirty="0" err="1">
                <a:latin typeface="Power Geez Unicode1"/>
                <a:ea typeface="Times New Roman"/>
                <a:cs typeface="Times New Roman"/>
              </a:rPr>
              <a:t>ወሮበሎችና</a:t>
            </a:r>
            <a:r>
              <a:rPr lang="en-GB" i="1" dirty="0">
                <a:latin typeface="Power Geez Unicode1"/>
                <a:ea typeface="Times New Roman"/>
                <a:cs typeface="Times New Roman"/>
              </a:rPr>
              <a:t> </a:t>
            </a:r>
            <a:r>
              <a:rPr lang="en-GB" i="1" dirty="0" err="1">
                <a:latin typeface="Power Geez Unicode1"/>
                <a:ea typeface="Times New Roman"/>
                <a:cs typeface="Times New Roman"/>
              </a:rPr>
              <a:t>ኪስ</a:t>
            </a:r>
            <a:r>
              <a:rPr lang="en-GB" i="1" dirty="0">
                <a:latin typeface="Power Geez Unicode1"/>
                <a:ea typeface="Times New Roman"/>
                <a:cs typeface="Times New Roman"/>
              </a:rPr>
              <a:t> </a:t>
            </a:r>
            <a:r>
              <a:rPr lang="en-GB" i="1" dirty="0" err="1">
                <a:latin typeface="Power Geez Unicode1"/>
                <a:ea typeface="Times New Roman"/>
                <a:cs typeface="Times New Roman"/>
              </a:rPr>
              <a:t>አውላቂዎች</a:t>
            </a:r>
            <a:r>
              <a:rPr lang="en-GB" i="1" dirty="0">
                <a:latin typeface="Power Geez Unicode1"/>
                <a:ea typeface="Times New Roman"/>
                <a:cs typeface="Times New Roman"/>
              </a:rPr>
              <a:t> </a:t>
            </a:r>
            <a:r>
              <a:rPr lang="en-GB" i="1" dirty="0" err="1">
                <a:latin typeface="Power Geez Unicode1"/>
                <a:ea typeface="Times New Roman"/>
                <a:cs typeface="Times New Roman"/>
              </a:rPr>
              <a:t>ከሆኑ</a:t>
            </a:r>
            <a:r>
              <a:rPr lang="en-GB" i="1" dirty="0">
                <a:latin typeface="Power Geez Unicode1"/>
                <a:ea typeface="Times New Roman"/>
                <a:cs typeface="Times New Roman"/>
              </a:rPr>
              <a:t> </a:t>
            </a:r>
            <a:r>
              <a:rPr lang="en-GB" i="1" dirty="0" err="1">
                <a:latin typeface="Power Geez Unicode1"/>
                <a:ea typeface="Times New Roman"/>
                <a:cs typeface="Times New Roman"/>
              </a:rPr>
              <a:t>ዐይነ</a:t>
            </a:r>
            <a:r>
              <a:rPr lang="en-GB" i="1" dirty="0">
                <a:latin typeface="Power Geez Unicode1"/>
                <a:ea typeface="Times New Roman"/>
                <a:cs typeface="Times New Roman"/>
              </a:rPr>
              <a:t> </a:t>
            </a:r>
            <a:r>
              <a:rPr lang="en-GB" i="1" dirty="0" err="1">
                <a:latin typeface="Power Geez Unicode1"/>
                <a:ea typeface="Times New Roman"/>
                <a:cs typeface="Times New Roman"/>
              </a:rPr>
              <a:t>ስውርን</a:t>
            </a:r>
            <a:r>
              <a:rPr lang="en-GB" i="1" dirty="0">
                <a:latin typeface="Power Geez Unicode1"/>
                <a:ea typeface="Times New Roman"/>
                <a:cs typeface="Times New Roman"/>
              </a:rPr>
              <a:t> </a:t>
            </a:r>
            <a:r>
              <a:rPr lang="en-GB" i="1" dirty="0" err="1">
                <a:latin typeface="Power Geez Unicode1"/>
                <a:ea typeface="Times New Roman"/>
                <a:cs typeface="Times New Roman"/>
              </a:rPr>
              <a:t>በመምራት</a:t>
            </a:r>
            <a:r>
              <a:rPr lang="en-GB" i="1" dirty="0">
                <a:latin typeface="Power Geez Unicode1"/>
                <a:ea typeface="Times New Roman"/>
                <a:cs typeface="Times New Roman"/>
              </a:rPr>
              <a:t> </a:t>
            </a:r>
            <a:r>
              <a:rPr lang="en-GB" i="1" dirty="0" err="1">
                <a:latin typeface="Power Geez Unicode1"/>
                <a:ea typeface="Times New Roman"/>
                <a:cs typeface="Times New Roman"/>
              </a:rPr>
              <a:t>ፈንታ</a:t>
            </a:r>
            <a:r>
              <a:rPr lang="en-GB" i="1" dirty="0">
                <a:latin typeface="Power Geez Unicode1"/>
                <a:ea typeface="Times New Roman"/>
                <a:cs typeface="Times New Roman"/>
              </a:rPr>
              <a:t> </a:t>
            </a:r>
            <a:r>
              <a:rPr lang="en-GB" i="1" dirty="0" err="1">
                <a:latin typeface="Power Geez Unicode1"/>
                <a:ea typeface="Times New Roman"/>
                <a:cs typeface="Times New Roman"/>
              </a:rPr>
              <a:t>ገደል</a:t>
            </a:r>
            <a:r>
              <a:rPr lang="en-GB" i="1" dirty="0">
                <a:latin typeface="Power Geez Unicode1"/>
                <a:ea typeface="Times New Roman"/>
                <a:cs typeface="Times New Roman"/>
              </a:rPr>
              <a:t> </a:t>
            </a:r>
            <a:r>
              <a:rPr lang="en-GB" i="1" dirty="0" err="1">
                <a:latin typeface="Power Geez Unicode1"/>
                <a:ea typeface="Times New Roman"/>
                <a:cs typeface="Times New Roman"/>
              </a:rPr>
              <a:t>ሲገባ</a:t>
            </a:r>
            <a:r>
              <a:rPr lang="en-GB" i="1" dirty="0">
                <a:latin typeface="Power Geez Unicode1"/>
                <a:ea typeface="Times New Roman"/>
                <a:cs typeface="Times New Roman"/>
              </a:rPr>
              <a:t> </a:t>
            </a:r>
            <a:r>
              <a:rPr lang="en-GB" i="1" dirty="0" err="1">
                <a:latin typeface="Power Geez Unicode1"/>
                <a:ea typeface="Times New Roman"/>
                <a:cs typeface="Times New Roman"/>
              </a:rPr>
              <a:t>የሚስቁ</a:t>
            </a:r>
            <a:r>
              <a:rPr lang="en-GB" i="1" dirty="0">
                <a:latin typeface="Power Geez Unicode1"/>
                <a:ea typeface="Times New Roman"/>
                <a:cs typeface="Times New Roman"/>
              </a:rPr>
              <a:t> </a:t>
            </a:r>
            <a:r>
              <a:rPr lang="en-GB" i="1" dirty="0" err="1">
                <a:latin typeface="Power Geez Unicode1"/>
                <a:ea typeface="Times New Roman"/>
                <a:cs typeface="Times New Roman"/>
              </a:rPr>
              <a:t>ደካማውን</a:t>
            </a:r>
            <a:r>
              <a:rPr lang="en-GB" i="1" dirty="0">
                <a:latin typeface="Power Geez Unicode1"/>
                <a:ea typeface="Times New Roman"/>
                <a:cs typeface="Times New Roman"/>
              </a:rPr>
              <a:t> </a:t>
            </a:r>
            <a:r>
              <a:rPr lang="en-GB" i="1" dirty="0" err="1">
                <a:latin typeface="Power Geez Unicode1"/>
                <a:ea typeface="Times New Roman"/>
                <a:cs typeface="Times New Roman"/>
              </a:rPr>
              <a:t>በመርዳት</a:t>
            </a:r>
            <a:r>
              <a:rPr lang="en-GB" i="1" dirty="0">
                <a:latin typeface="Power Geez Unicode1"/>
                <a:ea typeface="Times New Roman"/>
                <a:cs typeface="Times New Roman"/>
              </a:rPr>
              <a:t> </a:t>
            </a:r>
            <a:r>
              <a:rPr lang="en-GB" i="1" dirty="0" err="1">
                <a:latin typeface="Power Geez Unicode1"/>
                <a:ea typeface="Times New Roman"/>
                <a:cs typeface="Times New Roman"/>
              </a:rPr>
              <a:t>ፈንታ</a:t>
            </a:r>
            <a:r>
              <a:rPr lang="en-GB" i="1" dirty="0">
                <a:latin typeface="Power Geez Unicode1"/>
                <a:ea typeface="Times New Roman"/>
                <a:cs typeface="Times New Roman"/>
              </a:rPr>
              <a:t> </a:t>
            </a:r>
            <a:r>
              <a:rPr lang="en-GB" i="1" dirty="0" err="1">
                <a:latin typeface="Power Geez Unicode1"/>
                <a:ea typeface="Times New Roman"/>
                <a:cs typeface="Times New Roman"/>
              </a:rPr>
              <a:t>በችግሩ</a:t>
            </a:r>
            <a:r>
              <a:rPr lang="en-GB" i="1" dirty="0">
                <a:latin typeface="Power Geez Unicode1"/>
                <a:ea typeface="Times New Roman"/>
                <a:cs typeface="Times New Roman"/>
              </a:rPr>
              <a:t> </a:t>
            </a:r>
            <a:r>
              <a:rPr lang="en-GB" i="1" dirty="0" err="1">
                <a:latin typeface="Power Geez Unicode1"/>
                <a:ea typeface="Times New Roman"/>
                <a:cs typeface="Times New Roman"/>
              </a:rPr>
              <a:t>የሚሳለቁ</a:t>
            </a:r>
            <a:r>
              <a:rPr lang="en-GB" i="1" dirty="0">
                <a:latin typeface="Power Geez Unicode1"/>
                <a:ea typeface="Times New Roman"/>
                <a:cs typeface="Times New Roman"/>
              </a:rPr>
              <a:t> </a:t>
            </a:r>
            <a:r>
              <a:rPr lang="en-GB" i="1" dirty="0" err="1">
                <a:latin typeface="Power Geez Unicode1"/>
                <a:ea typeface="Times New Roman"/>
                <a:cs typeface="Times New Roman"/>
              </a:rPr>
              <a:t>የመንገድ</a:t>
            </a:r>
            <a:r>
              <a:rPr lang="en-GB" i="1" dirty="0">
                <a:latin typeface="Power Geez Unicode1"/>
                <a:ea typeface="Times New Roman"/>
                <a:cs typeface="Times New Roman"/>
              </a:rPr>
              <a:t> </a:t>
            </a:r>
            <a:r>
              <a:rPr lang="en-GB" i="1" dirty="0" err="1">
                <a:latin typeface="Power Geez Unicode1"/>
                <a:ea typeface="Times New Roman"/>
                <a:cs typeface="Times New Roman"/>
              </a:rPr>
              <a:t>ልጆች</a:t>
            </a:r>
            <a:r>
              <a:rPr lang="en-GB" i="1" dirty="0">
                <a:latin typeface="Power Geez Unicode1"/>
                <a:ea typeface="Times New Roman"/>
                <a:cs typeface="Times New Roman"/>
              </a:rPr>
              <a:t> </a:t>
            </a:r>
            <a:r>
              <a:rPr lang="en-GB" i="1" dirty="0" err="1">
                <a:latin typeface="Power Geez Unicode1"/>
                <a:ea typeface="Times New Roman"/>
                <a:cs typeface="Times New Roman"/>
              </a:rPr>
              <a:t>ከሆኑ</a:t>
            </a:r>
            <a:r>
              <a:rPr lang="en-GB" i="1" dirty="0">
                <a:latin typeface="Power Geez Unicode1"/>
                <a:ea typeface="Times New Roman"/>
                <a:cs typeface="Times New Roman"/>
              </a:rPr>
              <a:t> </a:t>
            </a:r>
            <a:r>
              <a:rPr lang="en-GB" i="1" dirty="0" err="1">
                <a:latin typeface="Power Geez Unicode1"/>
                <a:ea typeface="Times New Roman"/>
                <a:cs typeface="Times New Roman"/>
              </a:rPr>
              <a:t>አሁንም</a:t>
            </a:r>
            <a:r>
              <a:rPr lang="en-GB" i="1" dirty="0">
                <a:latin typeface="Power Geez Unicode1"/>
                <a:ea typeface="Times New Roman"/>
                <a:cs typeface="Times New Roman"/>
              </a:rPr>
              <a:t> </a:t>
            </a:r>
            <a:r>
              <a:rPr lang="en-GB" i="1" dirty="0" err="1">
                <a:latin typeface="Power Geez Unicode1"/>
                <a:ea typeface="Times New Roman"/>
                <a:cs typeface="Times New Roman"/>
              </a:rPr>
              <a:t>ለኖላዊነቱ</a:t>
            </a:r>
            <a:r>
              <a:rPr lang="en-GB" i="1" dirty="0">
                <a:latin typeface="Power Geez Unicode1"/>
                <a:ea typeface="Times New Roman"/>
                <a:cs typeface="Times New Roman"/>
              </a:rPr>
              <a:t> </a:t>
            </a:r>
            <a:r>
              <a:rPr lang="en-GB" i="1" dirty="0" err="1">
                <a:latin typeface="Power Geez Unicode1"/>
                <a:ea typeface="Times New Roman"/>
                <a:cs typeface="Times New Roman"/>
              </a:rPr>
              <a:t>እንቅፋት</a:t>
            </a:r>
            <a:r>
              <a:rPr lang="en-GB" i="1" dirty="0">
                <a:latin typeface="Power Geez Unicode1"/>
                <a:ea typeface="Times New Roman"/>
                <a:cs typeface="Times New Roman"/>
              </a:rPr>
              <a:t> </a:t>
            </a:r>
            <a:r>
              <a:rPr lang="en-GB" i="1" dirty="0" err="1">
                <a:latin typeface="Power Geez Unicode1"/>
                <a:ea typeface="Times New Roman"/>
                <a:cs typeface="Times New Roman"/>
              </a:rPr>
              <a:t>ይሆኑበታል</a:t>
            </a:r>
            <a:r>
              <a:rPr lang="en-GB" i="1" dirty="0">
                <a:latin typeface="Power Geez Unicode1"/>
                <a:ea typeface="Times New Roman"/>
                <a:cs typeface="Times New Roman"/>
              </a:rPr>
              <a:t>፡፡ </a:t>
            </a:r>
            <a:r>
              <a:rPr lang="en-GB" i="1" dirty="0" err="1">
                <a:latin typeface="Power Geez Unicode1"/>
                <a:ea typeface="Times New Roman"/>
                <a:cs typeface="Times New Roman"/>
              </a:rPr>
              <a:t>ለነፍስ</a:t>
            </a:r>
            <a:r>
              <a:rPr lang="en-GB" i="1" dirty="0">
                <a:latin typeface="Power Geez Unicode1"/>
                <a:ea typeface="Times New Roman"/>
                <a:cs typeface="Times New Roman"/>
              </a:rPr>
              <a:t> </a:t>
            </a:r>
            <a:r>
              <a:rPr lang="en-GB" i="1" dirty="0" err="1">
                <a:latin typeface="Power Geez Unicode1"/>
                <a:ea typeface="Times New Roman"/>
                <a:cs typeface="Times New Roman"/>
              </a:rPr>
              <a:t>ልጆቹ</a:t>
            </a:r>
            <a:r>
              <a:rPr lang="en-GB" i="1" dirty="0">
                <a:latin typeface="Power Geez Unicode1"/>
                <a:ea typeface="Times New Roman"/>
                <a:cs typeface="Times New Roman"/>
              </a:rPr>
              <a:t> </a:t>
            </a:r>
            <a:r>
              <a:rPr lang="en-GB" i="1" dirty="0" err="1">
                <a:latin typeface="Power Geez Unicode1"/>
                <a:ea typeface="Times New Roman"/>
                <a:cs typeface="Times New Roman"/>
              </a:rPr>
              <a:t>ምእመናን</a:t>
            </a:r>
            <a:r>
              <a:rPr lang="en-GB" i="1" dirty="0">
                <a:latin typeface="Power Geez Unicode1"/>
                <a:ea typeface="Times New Roman"/>
                <a:cs typeface="Times New Roman"/>
              </a:rPr>
              <a:t> </a:t>
            </a:r>
            <a:r>
              <a:rPr lang="en-GB" i="1" dirty="0" err="1">
                <a:latin typeface="Power Geez Unicode1"/>
                <a:ea typeface="Times New Roman"/>
                <a:cs typeface="Times New Roman"/>
              </a:rPr>
              <a:t>የሚናገረው</a:t>
            </a:r>
            <a:r>
              <a:rPr lang="en-GB" i="1" dirty="0">
                <a:latin typeface="Power Geez Unicode1"/>
                <a:ea typeface="Times New Roman"/>
                <a:cs typeface="Times New Roman"/>
              </a:rPr>
              <a:t> </a:t>
            </a:r>
            <a:r>
              <a:rPr lang="en-GB" i="1" dirty="0" err="1">
                <a:latin typeface="Power Geez Unicode1"/>
                <a:ea typeface="Times New Roman"/>
                <a:cs typeface="Times New Roman"/>
              </a:rPr>
              <a:t>ሁሉ</a:t>
            </a:r>
            <a:r>
              <a:rPr lang="en-GB" i="1" dirty="0">
                <a:latin typeface="Power Geez Unicode1"/>
                <a:ea typeface="Times New Roman"/>
                <a:cs typeface="Times New Roman"/>
              </a:rPr>
              <a:t> </a:t>
            </a:r>
            <a:r>
              <a:rPr lang="en-GB" i="1" dirty="0" err="1">
                <a:latin typeface="Power Geez Unicode1"/>
                <a:ea typeface="Times New Roman"/>
                <a:cs typeface="Times New Roman"/>
              </a:rPr>
              <a:t>እነርሱን</a:t>
            </a:r>
            <a:r>
              <a:rPr lang="en-GB" i="1" dirty="0">
                <a:latin typeface="Power Geez Unicode1"/>
                <a:ea typeface="Times New Roman"/>
                <a:cs typeface="Times New Roman"/>
              </a:rPr>
              <a:t> </a:t>
            </a:r>
            <a:r>
              <a:rPr lang="en-GB" i="1" dirty="0" err="1">
                <a:latin typeface="Power Geez Unicode1"/>
                <a:ea typeface="Times New Roman"/>
                <a:cs typeface="Times New Roman"/>
              </a:rPr>
              <a:t>ለማታለል</a:t>
            </a:r>
            <a:r>
              <a:rPr lang="en-GB" i="1" dirty="0">
                <a:latin typeface="Power Geez Unicode1"/>
                <a:ea typeface="Times New Roman"/>
                <a:cs typeface="Times New Roman"/>
              </a:rPr>
              <a:t> </a:t>
            </a:r>
            <a:r>
              <a:rPr lang="en-GB" i="1" dirty="0" err="1">
                <a:latin typeface="Power Geez Unicode1"/>
                <a:ea typeface="Times New Roman"/>
                <a:cs typeface="Times New Roman"/>
              </a:rPr>
              <a:t>የሚናገር</a:t>
            </a:r>
            <a:r>
              <a:rPr lang="en-GB" i="1" dirty="0">
                <a:latin typeface="Power Geez Unicode1"/>
                <a:ea typeface="Times New Roman"/>
                <a:cs typeface="Times New Roman"/>
              </a:rPr>
              <a:t> </a:t>
            </a:r>
            <a:r>
              <a:rPr lang="en-GB" i="1" dirty="0" err="1">
                <a:latin typeface="Power Geez Unicode1"/>
                <a:ea typeface="Times New Roman"/>
                <a:cs typeface="Times New Roman"/>
              </a:rPr>
              <a:t>ይመስላቸዋል</a:t>
            </a:r>
            <a:r>
              <a:rPr lang="en-GB" i="1" dirty="0">
                <a:latin typeface="Power Geez Unicode1"/>
                <a:ea typeface="Times New Roman"/>
                <a:cs typeface="Times New Roman"/>
              </a:rPr>
              <a:t> </a:t>
            </a:r>
            <a:r>
              <a:rPr lang="en-GB" i="1" dirty="0" err="1">
                <a:latin typeface="Power Geez Unicode1"/>
                <a:ea typeface="Times New Roman"/>
                <a:cs typeface="Times New Roman"/>
              </a:rPr>
              <a:t>መስሎ</a:t>
            </a:r>
            <a:r>
              <a:rPr lang="en-GB" i="1" dirty="0">
                <a:latin typeface="Power Geez Unicode1"/>
                <a:ea typeface="Times New Roman"/>
                <a:cs typeface="Times New Roman"/>
              </a:rPr>
              <a:t> </a:t>
            </a:r>
            <a:r>
              <a:rPr lang="en-GB" i="1" dirty="0" err="1">
                <a:latin typeface="Power Geez Unicode1"/>
                <a:ea typeface="Times New Roman"/>
                <a:cs typeface="Times New Roman"/>
              </a:rPr>
              <a:t>መታየትና</a:t>
            </a:r>
            <a:r>
              <a:rPr lang="en-GB" i="1" dirty="0">
                <a:latin typeface="Power Geez Unicode1"/>
                <a:ea typeface="Times New Roman"/>
                <a:cs typeface="Times New Roman"/>
              </a:rPr>
              <a:t> </a:t>
            </a:r>
            <a:r>
              <a:rPr lang="en-GB" i="1" dirty="0" err="1">
                <a:latin typeface="Power Geez Unicode1"/>
                <a:ea typeface="Times New Roman"/>
                <a:cs typeface="Times New Roman"/>
              </a:rPr>
              <a:t>ሆኖ</a:t>
            </a:r>
            <a:r>
              <a:rPr lang="en-GB" i="1" dirty="0">
                <a:latin typeface="Power Geez Unicode1"/>
                <a:ea typeface="Times New Roman"/>
                <a:cs typeface="Times New Roman"/>
              </a:rPr>
              <a:t> </a:t>
            </a:r>
            <a:r>
              <a:rPr lang="en-GB" i="1" dirty="0" err="1">
                <a:latin typeface="Power Geez Unicode1"/>
                <a:ea typeface="Times New Roman"/>
                <a:cs typeface="Times New Roman"/>
              </a:rPr>
              <a:t>መገኘት</a:t>
            </a:r>
            <a:r>
              <a:rPr lang="en-GB" i="1" dirty="0">
                <a:latin typeface="Power Geez Unicode1"/>
                <a:ea typeface="Times New Roman"/>
                <a:cs typeface="Times New Roman"/>
              </a:rPr>
              <a:t> </a:t>
            </a:r>
            <a:r>
              <a:rPr lang="en-GB" i="1" dirty="0" err="1">
                <a:latin typeface="Power Geez Unicode1"/>
                <a:ea typeface="Times New Roman"/>
                <a:cs typeface="Times New Roman"/>
              </a:rPr>
              <a:t>የተለያዩ</a:t>
            </a:r>
            <a:r>
              <a:rPr lang="en-GB" i="1" dirty="0">
                <a:latin typeface="Power Geez Unicode1"/>
                <a:ea typeface="Times New Roman"/>
                <a:cs typeface="Times New Roman"/>
              </a:rPr>
              <a:t> </a:t>
            </a:r>
            <a:r>
              <a:rPr lang="en-GB" i="1" dirty="0" err="1" smtClean="0">
                <a:latin typeface="Power Geez Unicode1"/>
                <a:ea typeface="Times New Roman"/>
                <a:cs typeface="Times New Roman"/>
              </a:rPr>
              <a:t>ስለሆኑ</a:t>
            </a:r>
            <a:r>
              <a:rPr lang="en-GB" i="1" dirty="0" smtClean="0">
                <a:latin typeface="Power Geez Unicode1"/>
                <a:ea typeface="Times New Roman"/>
                <a:cs typeface="Times New Roman"/>
              </a:rPr>
              <a:t>፡፡ </a:t>
            </a:r>
            <a:r>
              <a:rPr lang="en-GB" i="1" dirty="0">
                <a:latin typeface="Power Geez Unicode1"/>
                <a:ea typeface="Times New Roman"/>
                <a:cs typeface="Times New Roman"/>
              </a:rPr>
              <a:t>(</a:t>
            </a:r>
            <a:r>
              <a:rPr lang="en-GB" i="1" dirty="0" err="1">
                <a:latin typeface="Power Geez Unicode1"/>
                <a:ea typeface="Times New Roman"/>
                <a:cs typeface="Times New Roman"/>
              </a:rPr>
              <a:t>አቡነ</a:t>
            </a:r>
            <a:r>
              <a:rPr lang="en-GB" i="1" dirty="0">
                <a:latin typeface="Power Geez Unicode1"/>
                <a:ea typeface="Times New Roman"/>
                <a:cs typeface="Times New Roman"/>
              </a:rPr>
              <a:t> </a:t>
            </a:r>
            <a:r>
              <a:rPr lang="en-GB" i="1" dirty="0" err="1">
                <a:latin typeface="Power Geez Unicode1"/>
                <a:ea typeface="Times New Roman"/>
                <a:cs typeface="Times New Roman"/>
              </a:rPr>
              <a:t>ጎርጎርዮስ</a:t>
            </a:r>
            <a:r>
              <a:rPr lang="en-GB" i="1" dirty="0">
                <a:latin typeface="Power Geez Unicode1"/>
                <a:ea typeface="Times New Roman"/>
                <a:cs typeface="Times New Roman"/>
              </a:rPr>
              <a:t>፤ </a:t>
            </a:r>
            <a:r>
              <a:rPr lang="en-GB" i="1" dirty="0" err="1">
                <a:latin typeface="Power Geez Unicode1"/>
                <a:ea typeface="Times New Roman"/>
                <a:cs typeface="Times New Roman"/>
              </a:rPr>
              <a:t>ያልታተመ</a:t>
            </a:r>
            <a:r>
              <a:rPr lang="en-GB" i="1" dirty="0">
                <a:latin typeface="Power Geez Unicode1"/>
                <a:ea typeface="Times New Roman"/>
                <a:cs typeface="Times New Roman"/>
              </a:rPr>
              <a:t>)  </a:t>
            </a:r>
            <a:r>
              <a:rPr lang="en-GB" i="1" dirty="0">
                <a:latin typeface="Ge"/>
                <a:ea typeface="Times New Roman"/>
                <a:cs typeface="Times New Roman"/>
              </a:rPr>
              <a:t> </a:t>
            </a:r>
            <a:endParaRPr lang="en-GB" sz="2800" dirty="0">
              <a:ea typeface="Times New Roman"/>
              <a:cs typeface="Times New Roman"/>
            </a:endParaRPr>
          </a:p>
          <a:p>
            <a:endParaRPr lang="en-GB" dirty="0"/>
          </a:p>
        </p:txBody>
      </p:sp>
    </p:spTree>
    <p:extLst>
      <p:ext uri="{BB962C8B-B14F-4D97-AF65-F5344CB8AC3E}">
        <p14:creationId xmlns:p14="http://schemas.microsoft.com/office/powerpoint/2010/main" val="3060773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000" b="1" dirty="0">
                <a:solidFill>
                  <a:prstClr val="black"/>
                </a:solidFill>
                <a:latin typeface="Times New Roman" pitchFamily="18" charset="0"/>
                <a:cs typeface="Times New Roman" pitchFamily="18" charset="0"/>
              </a:rPr>
              <a:t>References to Church Fathers</a:t>
            </a:r>
            <a:endParaRPr lang="en-GB" dirty="0"/>
          </a:p>
        </p:txBody>
      </p:sp>
      <p:sp>
        <p:nvSpPr>
          <p:cNvPr id="3" name="Content Placeholder 2"/>
          <p:cNvSpPr>
            <a:spLocks noGrp="1"/>
          </p:cNvSpPr>
          <p:nvPr>
            <p:ph idx="1"/>
          </p:nvPr>
        </p:nvSpPr>
        <p:spPr/>
        <p:txBody>
          <a:bodyPr/>
          <a:lstStyle/>
          <a:p>
            <a:pPr marL="0" lvl="0" indent="0">
              <a:buNone/>
            </a:pPr>
            <a:r>
              <a:rPr lang="en-GB" dirty="0">
                <a:solidFill>
                  <a:prstClr val="black"/>
                </a:solidFill>
                <a:latin typeface="Times New Roman" pitchFamily="18" charset="0"/>
                <a:cs typeface="Times New Roman" pitchFamily="18" charset="0"/>
              </a:rPr>
              <a:t>St. John Chrysostom, </a:t>
            </a:r>
            <a:r>
              <a:rPr lang="en-GB" i="1" dirty="0">
                <a:solidFill>
                  <a:prstClr val="black"/>
                </a:solidFill>
                <a:latin typeface="Times New Roman" pitchFamily="18" charset="0"/>
                <a:cs typeface="Times New Roman" pitchFamily="18" charset="0"/>
              </a:rPr>
              <a:t>Homilies on Ephesians</a:t>
            </a:r>
            <a:r>
              <a:rPr lang="en-GB" dirty="0">
                <a:solidFill>
                  <a:prstClr val="black"/>
                </a:solidFill>
                <a:latin typeface="Times New Roman" pitchFamily="18" charset="0"/>
                <a:cs typeface="Times New Roman" pitchFamily="18" charset="0"/>
              </a:rPr>
              <a:t>, Homily 20.</a:t>
            </a:r>
          </a:p>
          <a:p>
            <a:pPr marL="0" lvl="0" indent="0">
              <a:buNone/>
            </a:pPr>
            <a:r>
              <a:rPr lang="en-GB" dirty="0">
                <a:solidFill>
                  <a:prstClr val="black"/>
                </a:solidFill>
                <a:latin typeface="Times New Roman" pitchFamily="18" charset="0"/>
                <a:cs typeface="Times New Roman" pitchFamily="18" charset="0"/>
              </a:rPr>
              <a:t>St. Basil the Great, </a:t>
            </a:r>
            <a:r>
              <a:rPr lang="en-GB" i="1" dirty="0">
                <a:solidFill>
                  <a:prstClr val="black"/>
                </a:solidFill>
                <a:latin typeface="Times New Roman" pitchFamily="18" charset="0"/>
                <a:cs typeface="Times New Roman" pitchFamily="18" charset="0"/>
              </a:rPr>
              <a:t>Letters</a:t>
            </a:r>
            <a:r>
              <a:rPr lang="en-GB" dirty="0">
                <a:solidFill>
                  <a:prstClr val="black"/>
                </a:solidFill>
                <a:latin typeface="Times New Roman" pitchFamily="18" charset="0"/>
                <a:cs typeface="Times New Roman" pitchFamily="18" charset="0"/>
              </a:rPr>
              <a:t> (Letter 2, Letter 199).</a:t>
            </a:r>
          </a:p>
          <a:p>
            <a:pPr marL="0" lvl="0" indent="0">
              <a:buNone/>
            </a:pPr>
            <a:r>
              <a:rPr lang="en-GB" dirty="0">
                <a:solidFill>
                  <a:prstClr val="black"/>
                </a:solidFill>
                <a:latin typeface="Times New Roman" pitchFamily="18" charset="0"/>
                <a:cs typeface="Times New Roman" pitchFamily="18" charset="0"/>
              </a:rPr>
              <a:t>St. Gregory the Great, </a:t>
            </a:r>
            <a:r>
              <a:rPr lang="en-GB" i="1" dirty="0" err="1">
                <a:solidFill>
                  <a:prstClr val="black"/>
                </a:solidFill>
                <a:latin typeface="Times New Roman" pitchFamily="18" charset="0"/>
                <a:cs typeface="Times New Roman" pitchFamily="18" charset="0"/>
              </a:rPr>
              <a:t>Moralia</a:t>
            </a:r>
            <a:r>
              <a:rPr lang="en-GB" i="1" dirty="0">
                <a:solidFill>
                  <a:prstClr val="black"/>
                </a:solidFill>
                <a:latin typeface="Times New Roman" pitchFamily="18" charset="0"/>
                <a:cs typeface="Times New Roman" pitchFamily="18" charset="0"/>
              </a:rPr>
              <a:t> in Job</a:t>
            </a:r>
            <a:r>
              <a:rPr lang="en-GB" dirty="0">
                <a:solidFill>
                  <a:prstClr val="black"/>
                </a:solidFill>
                <a:latin typeface="Times New Roman" pitchFamily="18" charset="0"/>
                <a:cs typeface="Times New Roman" pitchFamily="18" charset="0"/>
              </a:rPr>
              <a:t>.</a:t>
            </a:r>
          </a:p>
          <a:p>
            <a:pPr marL="0" lvl="0" indent="0">
              <a:buNone/>
            </a:pPr>
            <a:r>
              <a:rPr lang="en-GB" dirty="0">
                <a:solidFill>
                  <a:prstClr val="black"/>
                </a:solidFill>
                <a:latin typeface="Times New Roman" pitchFamily="18" charset="0"/>
                <a:cs typeface="Times New Roman" pitchFamily="18" charset="0"/>
              </a:rPr>
              <a:t>St. Gregory </a:t>
            </a:r>
            <a:r>
              <a:rPr lang="en-GB" dirty="0" err="1">
                <a:solidFill>
                  <a:prstClr val="black"/>
                </a:solidFill>
                <a:latin typeface="Times New Roman" pitchFamily="18" charset="0"/>
                <a:cs typeface="Times New Roman" pitchFamily="18" charset="0"/>
              </a:rPr>
              <a:t>Nazianzus</a:t>
            </a:r>
            <a:r>
              <a:rPr lang="en-GB" dirty="0">
                <a:solidFill>
                  <a:prstClr val="black"/>
                </a:solidFill>
                <a:latin typeface="Times New Roman" pitchFamily="18" charset="0"/>
                <a:cs typeface="Times New Roman" pitchFamily="18" charset="0"/>
              </a:rPr>
              <a:t>, </a:t>
            </a:r>
            <a:r>
              <a:rPr lang="en-GB" i="1" dirty="0">
                <a:solidFill>
                  <a:prstClr val="black"/>
                </a:solidFill>
                <a:latin typeface="Times New Roman" pitchFamily="18" charset="0"/>
                <a:cs typeface="Times New Roman" pitchFamily="18" charset="0"/>
              </a:rPr>
              <a:t>Oration on the Priesthood</a:t>
            </a:r>
            <a:r>
              <a:rPr lang="en-GB" dirty="0">
                <a:solidFill>
                  <a:prstClr val="black"/>
                </a:solidFill>
                <a:latin typeface="Times New Roman" pitchFamily="18" charset="0"/>
                <a:cs typeface="Times New Roman" pitchFamily="18" charset="0"/>
              </a:rPr>
              <a:t> (Oration 2).</a:t>
            </a:r>
          </a:p>
          <a:p>
            <a:pPr marL="0" lvl="0" indent="0">
              <a:buNone/>
            </a:pPr>
            <a:r>
              <a:rPr lang="en-GB" dirty="0">
                <a:solidFill>
                  <a:prstClr val="black"/>
                </a:solidFill>
                <a:latin typeface="Times New Roman" pitchFamily="18" charset="0"/>
                <a:cs typeface="Times New Roman" pitchFamily="18" charset="0"/>
              </a:rPr>
              <a:t>St. Athanasius the Great, </a:t>
            </a:r>
            <a:r>
              <a:rPr lang="en-GB" i="1" dirty="0">
                <a:solidFill>
                  <a:prstClr val="black"/>
                </a:solidFill>
                <a:latin typeface="Times New Roman" pitchFamily="18" charset="0"/>
                <a:cs typeface="Times New Roman" pitchFamily="18" charset="0"/>
              </a:rPr>
              <a:t>Letter to </a:t>
            </a:r>
            <a:r>
              <a:rPr lang="en-GB" i="1" dirty="0" err="1">
                <a:solidFill>
                  <a:prstClr val="black"/>
                </a:solidFill>
                <a:latin typeface="Times New Roman" pitchFamily="18" charset="0"/>
                <a:cs typeface="Times New Roman" pitchFamily="18" charset="0"/>
              </a:rPr>
              <a:t>Serapion</a:t>
            </a:r>
            <a:r>
              <a:rPr lang="en-GB" dirty="0">
                <a:solidFill>
                  <a:prstClr val="black"/>
                </a:solidFill>
              </a:rPr>
              <a:t>.</a:t>
            </a:r>
          </a:p>
          <a:p>
            <a:endParaRPr lang="en-GB" dirty="0"/>
          </a:p>
        </p:txBody>
      </p:sp>
    </p:spTree>
    <p:extLst>
      <p:ext uri="{BB962C8B-B14F-4D97-AF65-F5344CB8AC3E}">
        <p14:creationId xmlns:p14="http://schemas.microsoft.com/office/powerpoint/2010/main" val="619581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577</TotalTime>
  <Words>2658</Words>
  <Application>Microsoft Office PowerPoint</Application>
  <PresentationFormat>On-screen Show (4:3)</PresentationFormat>
  <Paragraphs>86</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CHAPTER TWO</vt:lpstr>
      <vt:lpstr>Introduction </vt:lpstr>
      <vt:lpstr>PowerPoint Presentation</vt:lpstr>
      <vt:lpstr>PowerPoint Presentation</vt:lpstr>
      <vt:lpstr>The Priesthood in the Old Testament</vt:lpstr>
      <vt:lpstr>PowerPoint Presentation</vt:lpstr>
      <vt:lpstr>Pastoral Ministry in the Old Testament </vt:lpstr>
      <vt:lpstr>Shepherds as Priests, Kings, and Prophets: </vt:lpstr>
      <vt:lpstr>Functions and Roles of the Priests </vt:lpstr>
      <vt:lpstr>The High Priest and the Day of Atonement</vt:lpstr>
      <vt:lpstr>Symbolism of Priesthood</vt:lpstr>
      <vt:lpstr>PowerPoint Presentation</vt:lpstr>
      <vt:lpstr>summary</vt:lpstr>
      <vt:lpstr>The Priesthood in the New Testament</vt:lpstr>
      <vt:lpstr>PowerPoint Presentation</vt:lpstr>
      <vt:lpstr>Jesus as the Good Shepherd:</vt:lpstr>
      <vt:lpstr>Jesus' Shepherding Ministry in the New Testament: </vt:lpstr>
      <vt:lpstr>The Shepherd’s Relationship with the Sheep: </vt:lpstr>
      <vt:lpstr>CHAPTER THREE</vt:lpstr>
      <vt:lpstr>PowerPoint Presentation</vt:lpstr>
      <vt:lpstr>The Priest’s Family Life </vt:lpstr>
      <vt:lpstr>PowerPoint Presentation</vt:lpstr>
      <vt:lpstr>PowerPoint Presentation</vt:lpstr>
      <vt:lpstr>The priest with his wife</vt:lpstr>
      <vt:lpstr>PowerPoint Presentation</vt:lpstr>
      <vt:lpstr>PowerPoint Presentation</vt:lpstr>
      <vt:lpstr>The priest with his children </vt:lpstr>
      <vt:lpstr>PowerPoint Presentation</vt:lpstr>
      <vt:lpstr>References to Church Fathers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Two</dc:title>
  <dc:creator>Windows User</dc:creator>
  <cp:lastModifiedBy>Windows User</cp:lastModifiedBy>
  <cp:revision>26</cp:revision>
  <dcterms:created xsi:type="dcterms:W3CDTF">2025-03-29T05:22:29Z</dcterms:created>
  <dcterms:modified xsi:type="dcterms:W3CDTF">2025-04-07T19:27:20Z</dcterms:modified>
</cp:coreProperties>
</file>