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98" r:id="rId4"/>
    <p:sldId id="299" r:id="rId5"/>
    <p:sldId id="300" r:id="rId6"/>
    <p:sldId id="310" r:id="rId7"/>
    <p:sldId id="260" r:id="rId8"/>
    <p:sldId id="261" r:id="rId9"/>
    <p:sldId id="262" r:id="rId10"/>
    <p:sldId id="263" r:id="rId11"/>
    <p:sldId id="264" r:id="rId12"/>
    <p:sldId id="265" r:id="rId13"/>
    <p:sldId id="266" r:id="rId14"/>
    <p:sldId id="267" r:id="rId15"/>
    <p:sldId id="311" r:id="rId16"/>
    <p:sldId id="269" r:id="rId17"/>
    <p:sldId id="270" r:id="rId18"/>
    <p:sldId id="307" r:id="rId19"/>
    <p:sldId id="271" r:id="rId20"/>
    <p:sldId id="272" r:id="rId21"/>
    <p:sldId id="273" r:id="rId22"/>
    <p:sldId id="274" r:id="rId23"/>
    <p:sldId id="308" r:id="rId24"/>
    <p:sldId id="312" r:id="rId25"/>
    <p:sldId id="301" r:id="rId26"/>
    <p:sldId id="302" r:id="rId27"/>
    <p:sldId id="303" r:id="rId28"/>
    <p:sldId id="309" r:id="rId29"/>
    <p:sldId id="304" r:id="rId30"/>
    <p:sldId id="305" r:id="rId31"/>
    <p:sldId id="306" r:id="rId32"/>
    <p:sldId id="313" r:id="rId33"/>
    <p:sldId id="275" r:id="rId34"/>
    <p:sldId id="276" r:id="rId35"/>
    <p:sldId id="277" r:id="rId36"/>
    <p:sldId id="278" r:id="rId37"/>
    <p:sldId id="279" r:id="rId38"/>
    <p:sldId id="280" r:id="rId39"/>
    <p:sldId id="281" r:id="rId40"/>
    <p:sldId id="282" r:id="rId41"/>
    <p:sldId id="314" r:id="rId42"/>
    <p:sldId id="283" r:id="rId43"/>
    <p:sldId id="284" r:id="rId44"/>
    <p:sldId id="285" r:id="rId45"/>
    <p:sldId id="286" r:id="rId46"/>
    <p:sldId id="288" r:id="rId47"/>
    <p:sldId id="315" r:id="rId48"/>
    <p:sldId id="289" r:id="rId49"/>
    <p:sldId id="290" r:id="rId50"/>
    <p:sldId id="291" r:id="rId51"/>
    <p:sldId id="292" r:id="rId52"/>
    <p:sldId id="293" r:id="rId53"/>
    <p:sldId id="294" r:id="rId54"/>
    <p:sldId id="256" r:id="rId55"/>
    <p:sldId id="295" r:id="rId56"/>
    <p:sldId id="258" r:id="rId57"/>
    <p:sldId id="296" r:id="rId58"/>
    <p:sldId id="297" r:id="rId59"/>
    <p:sldId id="316" r:id="rId60"/>
    <p:sldId id="317" r:id="rId61"/>
    <p:sldId id="318" r:id="rId62"/>
    <p:sldId id="319" r:id="rId63"/>
    <p:sldId id="268" r:id="rId6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86" y="2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gradFill flip="none" rotWithShape="1">
                  <a:gsLst>
                    <a:gs pos="0">
                      <a:schemeClr val="tx1"/>
                    </a:gs>
                    <a:gs pos="100000">
                      <a:schemeClr val="tx1">
                        <a:lumMod val="75000"/>
                      </a:schemeClr>
                    </a:gs>
                  </a:gsLst>
                  <a:lin ang="0" scaled="1"/>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1375490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900" b="1"/>
            </a:lvl1pPr>
          </a:lstStyle>
          <a:p>
            <a:r>
              <a:rPr lang="en-US" dirty="0"/>
              <a:t>Click to edit Master title style</a:t>
            </a:r>
          </a:p>
        </p:txBody>
      </p:sp>
      <p:sp>
        <p:nvSpPr>
          <p:cNvPr id="3" name="Content Placeholder 2"/>
          <p:cNvSpPr>
            <a:spLocks noGrp="1"/>
          </p:cNvSpPr>
          <p:nvPr>
            <p:ph idx="1"/>
          </p:nvPr>
        </p:nvSpPr>
        <p:spPr/>
        <p:txBody>
          <a:bodyPr anchor="ctr">
            <a:normAutofit/>
          </a:bodyPr>
          <a:lstStyle>
            <a:lvl1pPr>
              <a:defRPr sz="2400">
                <a:latin typeface="Verdana" panose="020B0604030504040204" pitchFamily="34" charset="0"/>
                <a:ea typeface="Verdana" panose="020B0604030504040204" pitchFamily="34" charset="0"/>
              </a:defRPr>
            </a:lvl1pPr>
            <a:lvl2pPr>
              <a:defRPr sz="2400">
                <a:latin typeface="Verdana" panose="020B0604030504040204" pitchFamily="34" charset="0"/>
                <a:ea typeface="Verdana" panose="020B0604030504040204" pitchFamily="34" charset="0"/>
              </a:defRPr>
            </a:lvl2pPr>
            <a:lvl3pPr>
              <a:defRPr sz="2400">
                <a:latin typeface="Verdana" panose="020B0604030504040204" pitchFamily="34" charset="0"/>
                <a:ea typeface="Verdana" panose="020B0604030504040204" pitchFamily="34" charset="0"/>
              </a:defRPr>
            </a:lvl3pPr>
            <a:lvl4pPr>
              <a:defRPr sz="2400">
                <a:latin typeface="Verdana" panose="020B0604030504040204" pitchFamily="34" charset="0"/>
                <a:ea typeface="Verdana" panose="020B0604030504040204" pitchFamily="34" charset="0"/>
              </a:defRPr>
            </a:lvl4pPr>
            <a:lvl5pPr>
              <a:defRPr sz="2400">
                <a:latin typeface="Verdana" panose="020B0604030504040204" pitchFamily="34" charset="0"/>
                <a:ea typeface="Verdana" panose="020B060403050404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201689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2945861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2D2C98-5521-407E-A1BD-AF5B0535656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2159994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900" b="1"/>
            </a:lvl1pPr>
          </a:lstStyle>
          <a:p>
            <a:r>
              <a:rPr lang="en-US" dirty="0"/>
              <a:t>Click to edit Master title style</a:t>
            </a:r>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18347" y="2786027"/>
            <a:ext cx="3685073" cy="3316033"/>
          </a:xfrm>
        </p:spPr>
        <p:txBody>
          <a:bodyPr anchor="t">
            <a:normAutofit/>
          </a:bodyPr>
          <a:lstStyle>
            <a:lvl1pPr>
              <a:lnSpc>
                <a:spcPct val="150000"/>
              </a:lnSpc>
              <a:defRPr sz="2400">
                <a:latin typeface="Verdana" panose="020B0604030504040204" pitchFamily="34" charset="0"/>
                <a:ea typeface="Verdana" panose="020B0604030504040204" pitchFamily="34" charset="0"/>
              </a:defRPr>
            </a:lvl1pPr>
            <a:lvl2pPr>
              <a:lnSpc>
                <a:spcPct val="150000"/>
              </a:lnSpc>
              <a:defRPr sz="2400">
                <a:latin typeface="Verdana" panose="020B0604030504040204" pitchFamily="34" charset="0"/>
                <a:ea typeface="Verdana" panose="020B0604030504040204" pitchFamily="34" charset="0"/>
              </a:defRPr>
            </a:lvl2pPr>
            <a:lvl3pPr>
              <a:lnSpc>
                <a:spcPct val="150000"/>
              </a:lnSpc>
              <a:defRPr sz="2400">
                <a:latin typeface="Verdana" panose="020B0604030504040204" pitchFamily="34" charset="0"/>
                <a:ea typeface="Verdana" panose="020B0604030504040204" pitchFamily="34" charset="0"/>
              </a:defRPr>
            </a:lvl3pPr>
            <a:lvl4pPr>
              <a:lnSpc>
                <a:spcPct val="150000"/>
              </a:lnSpc>
              <a:defRPr sz="2400">
                <a:latin typeface="Verdana" panose="020B0604030504040204" pitchFamily="34" charset="0"/>
                <a:ea typeface="Verdana" panose="020B0604030504040204" pitchFamily="34" charset="0"/>
              </a:defRPr>
            </a:lvl4pPr>
            <a:lvl5pPr>
              <a:lnSpc>
                <a:spcPct val="150000"/>
              </a:lnSpc>
              <a:defRPr sz="2400">
                <a:latin typeface="Verdana" panose="020B0604030504040204" pitchFamily="34" charset="0"/>
                <a:ea typeface="Verdana" panose="020B0604030504040204" pitchFamily="34" charset="0"/>
              </a:defRPr>
            </a:lvl5pPr>
            <a:lvl6pPr>
              <a:defRPr sz="1100"/>
            </a:lvl6pPr>
            <a:lvl7pPr>
              <a:defRPr sz="1100"/>
            </a:lvl7pPr>
            <a:lvl8pPr>
              <a:defRPr sz="1100"/>
            </a:lvl8pPr>
            <a:lvl9pPr>
              <a:defRPr sz="11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A2D2C98-5521-407E-A1BD-AF5B0535656B}" type="datetimeFigureOut">
              <a:rPr lang="en-US" smtClean="0"/>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1897846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A2D2C98-5521-407E-A1BD-AF5B0535656B}" type="datetimeFigureOut">
              <a:rPr lang="en-US" smtClean="0"/>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4079925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2D2C98-5521-407E-A1BD-AF5B0535656B}" type="datetimeFigureOut">
              <a:rPr lang="en-US" smtClean="0"/>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96413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n-US"/>
              <a:t>Click to edit Master title style</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2D2C98-5521-407E-A1BD-AF5B0535656B}"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843700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23649" y="6181344"/>
            <a:ext cx="718502" cy="365125"/>
          </a:xfrm>
        </p:spPr>
        <p:txBody>
          <a:bodyPr/>
          <a:lstStyle/>
          <a:p>
            <a:fld id="{0A2D2C98-5521-407E-A1BD-AF5B0535656B}" type="datetimeFigureOut">
              <a:rPr lang="en-US" smtClean="0"/>
              <a:t>1/8/2025</a:t>
            </a:fld>
            <a:endParaRPr lang="en-US"/>
          </a:p>
        </p:txBody>
      </p:sp>
      <p:sp>
        <p:nvSpPr>
          <p:cNvPr id="6" name="Footer Placeholder 5"/>
          <p:cNvSpPr>
            <a:spLocks noGrp="1"/>
          </p:cNvSpPr>
          <p:nvPr>
            <p:ph type="ftr" sz="quarter" idx="11"/>
          </p:nvPr>
        </p:nvSpPr>
        <p:spPr>
          <a:xfrm>
            <a:off x="818348" y="6181344"/>
            <a:ext cx="3705300" cy="365125"/>
          </a:xfrm>
        </p:spPr>
        <p:txBody>
          <a:bodyPr/>
          <a:lstStyle/>
          <a:p>
            <a:endParaRPr lang="en-US"/>
          </a:p>
        </p:txBody>
      </p:sp>
      <p:sp>
        <p:nvSpPr>
          <p:cNvPr id="7" name="Slide Number Placeholder 6"/>
          <p:cNvSpPr>
            <a:spLocks noGrp="1"/>
          </p:cNvSpPr>
          <p:nvPr>
            <p:ph type="sldNum" sz="quarter" idx="12"/>
          </p:nvPr>
        </p:nvSpPr>
        <p:spPr>
          <a:xfrm>
            <a:off x="8024262" y="6181344"/>
            <a:ext cx="305186" cy="329250"/>
          </a:xfrm>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851934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2D2C98-5521-407E-A1BD-AF5B0535656B}" type="datetimeFigureOut">
              <a:rPr lang="en-US" smtClean="0"/>
              <a:t>1/8/2025</a:t>
            </a:fld>
            <a:endParaRPr lang="en-US"/>
          </a:p>
        </p:txBody>
      </p:sp>
      <p:sp>
        <p:nvSpPr>
          <p:cNvPr id="6" name="Footer Placeholder 5"/>
          <p:cNvSpPr>
            <a:spLocks noGrp="1"/>
          </p:cNvSpPr>
          <p:nvPr>
            <p:ph type="ftr" sz="quarter" idx="11"/>
          </p:nvPr>
        </p:nvSpPr>
        <p:spPr>
          <a:xfrm>
            <a:off x="917678" y="6181344"/>
            <a:ext cx="5337278" cy="365125"/>
          </a:xfrm>
        </p:spPr>
        <p:txBody>
          <a:bodyPr/>
          <a:lstStyle/>
          <a:p>
            <a:endParaRPr lang="en-US"/>
          </a:p>
        </p:txBody>
      </p:sp>
      <p:sp>
        <p:nvSpPr>
          <p:cNvPr id="7" name="Slide Number Placeholder 6"/>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254628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507682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gradFill flip="none" rotWithShape="1">
                  <a:gsLst>
                    <a:gs pos="0">
                      <a:schemeClr val="tx1"/>
                    </a:gs>
                    <a:gs pos="100000">
                      <a:schemeClr val="tx1">
                        <a:lumMod val="75000"/>
                      </a:schemeClr>
                    </a:gs>
                  </a:gsLst>
                  <a:lin ang="0" scaled="1"/>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412443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6034639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3876561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2080537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1707024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2D2C98-5521-407E-A1BD-AF5B0535656B}"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CA019B-F19A-4C98-ADA4-807A9D08D925}" type="slidenum">
              <a:rPr lang="en-US" smtClean="0"/>
              <a:t>‹#›</a:t>
            </a:fld>
            <a:endParaRPr lang="en-US"/>
          </a:p>
        </p:txBody>
      </p:sp>
    </p:spTree>
    <p:extLst>
      <p:ext uri="{BB962C8B-B14F-4D97-AF65-F5344CB8AC3E}">
        <p14:creationId xmlns:p14="http://schemas.microsoft.com/office/powerpoint/2010/main" val="497004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0A2D2C98-5521-407E-A1BD-AF5B0535656B}" type="datetimeFigureOut">
              <a:rPr lang="en-US" smtClean="0"/>
              <a:t>1/8/2025</a:t>
            </a:fld>
            <a:endParaRPr lang="en-U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84CA019B-F19A-4C98-ADA4-807A9D08D925}" type="slidenum">
              <a:rPr lang="en-US" smtClean="0"/>
              <a:t>‹#›</a:t>
            </a:fld>
            <a:endParaRPr lang="en-US"/>
          </a:p>
        </p:txBody>
      </p:sp>
    </p:spTree>
    <p:extLst>
      <p:ext uri="{BB962C8B-B14F-4D97-AF65-F5344CB8AC3E}">
        <p14:creationId xmlns:p14="http://schemas.microsoft.com/office/powerpoint/2010/main" val="103979622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2900" b="1"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30000"/>
        <a:buFont typeface="Arial"/>
        <a:buChar char="•"/>
        <a:defRPr sz="2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30000"/>
        <a:buFont typeface="Arial"/>
        <a:buChar char="•"/>
        <a:defRPr sz="2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30000"/>
        <a:buFont typeface="Arial"/>
        <a:buChar char="•"/>
        <a:defRPr sz="2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30000"/>
        <a:buFont typeface="Arial"/>
        <a:buChar char="•"/>
        <a:defRPr sz="2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30000"/>
        <a:buFont typeface="Arial"/>
        <a:buChar char="•"/>
        <a:defRPr sz="2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en.m.wikipedia.org/wiki/Confucianism" TargetMode="External"/><Relationship Id="rId2" Type="http://schemas.openxmlformats.org/officeDocument/2006/relationships/hyperlink" Target="https://www.britannica.com/summary/Confucianis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58060"/>
            <a:ext cx="8229600" cy="1094740"/>
          </a:xfrm>
        </p:spPr>
        <p:txBody>
          <a:bodyPr>
            <a:normAutofit fontScale="90000"/>
          </a:bodyPr>
          <a:lstStyle/>
          <a:p>
            <a:pPr algn="ctr"/>
            <a:r>
              <a:rPr lang="en-US" sz="3200" b="1" dirty="0">
                <a:solidFill>
                  <a:srgbClr val="FF0000"/>
                </a:solidFill>
              </a:rPr>
              <a:t>HOLY TRINITY </a:t>
            </a:r>
            <a:r>
              <a:rPr lang="en-US" b="1" dirty="0"/>
              <a:t>UNIVERSITY</a:t>
            </a:r>
            <a:br>
              <a:rPr lang="en-US" b="1" dirty="0"/>
            </a:br>
            <a:br>
              <a:rPr lang="en-US" b="1" dirty="0"/>
            </a:br>
            <a:r>
              <a:rPr lang="en-US" sz="3200" b="1" dirty="0"/>
              <a:t>CONFUCIANISM RELIGION</a:t>
            </a:r>
            <a:endParaRPr lang="en-US" dirty="0"/>
          </a:p>
        </p:txBody>
      </p:sp>
      <p:sp>
        <p:nvSpPr>
          <p:cNvPr id="4" name="Content Placeholder 3"/>
          <p:cNvSpPr>
            <a:spLocks noGrp="1"/>
          </p:cNvSpPr>
          <p:nvPr>
            <p:ph sz="half" idx="2"/>
          </p:nvPr>
        </p:nvSpPr>
        <p:spPr>
          <a:xfrm>
            <a:off x="457199" y="3429000"/>
            <a:ext cx="4187825" cy="3429000"/>
          </a:xfrm>
        </p:spPr>
        <p:txBody>
          <a:bodyPr>
            <a:noAutofit/>
          </a:bodyPr>
          <a:lstStyle/>
          <a:p>
            <a:pPr>
              <a:buNone/>
            </a:pPr>
            <a:r>
              <a:rPr lang="en-US" sz="1100" b="1" dirty="0"/>
              <a:t>Done by:- Group 4</a:t>
            </a:r>
          </a:p>
          <a:p>
            <a:pPr marL="514350" indent="-514350">
              <a:buFont typeface="+mj-lt"/>
              <a:buAutoNum type="arabicPeriod"/>
            </a:pPr>
            <a:r>
              <a:rPr lang="en-US" sz="1100" b="1" dirty="0" err="1"/>
              <a:t>Selamawit</a:t>
            </a:r>
            <a:r>
              <a:rPr lang="en-US" sz="1100" b="1" dirty="0"/>
              <a:t> Asfaw……………….. .E-214/15</a:t>
            </a:r>
          </a:p>
          <a:p>
            <a:pPr marL="514350" indent="-514350">
              <a:buFont typeface="+mj-lt"/>
              <a:buAutoNum type="arabicPeriod"/>
            </a:pPr>
            <a:r>
              <a:rPr lang="en-US" sz="1100" b="1" dirty="0"/>
              <a:t>Dawit </a:t>
            </a:r>
            <a:r>
              <a:rPr lang="en-US" sz="1100" b="1" dirty="0" err="1"/>
              <a:t>Yaregal</a:t>
            </a:r>
            <a:r>
              <a:rPr lang="en-US" sz="1100" b="1" dirty="0"/>
              <a:t>…………………….E-84/15</a:t>
            </a:r>
          </a:p>
          <a:p>
            <a:pPr marL="514350" indent="-514350">
              <a:buFont typeface="+mj-lt"/>
              <a:buAutoNum type="arabicPeriod"/>
            </a:pPr>
            <a:r>
              <a:rPr lang="en-US" sz="1100" b="1" dirty="0"/>
              <a:t>Alemayehu </a:t>
            </a:r>
            <a:r>
              <a:rPr lang="en-US" sz="1100" b="1" dirty="0" err="1"/>
              <a:t>Semunigus</a:t>
            </a:r>
            <a:r>
              <a:rPr lang="en-US" sz="1100" b="1" dirty="0"/>
              <a:t>………..   W-029/15</a:t>
            </a:r>
            <a:endParaRPr lang="en-US" sz="1100" dirty="0"/>
          </a:p>
          <a:p>
            <a:pPr marL="514350" indent="-514350">
              <a:buFont typeface="+mj-lt"/>
              <a:buAutoNum type="arabicPeriod"/>
            </a:pPr>
            <a:r>
              <a:rPr lang="en-US" sz="1100" b="1" dirty="0" err="1"/>
              <a:t>Mikiyas</a:t>
            </a:r>
            <a:r>
              <a:rPr lang="en-US" sz="1100" b="1" dirty="0"/>
              <a:t> </a:t>
            </a:r>
            <a:r>
              <a:rPr lang="en-US" sz="1100" b="1" dirty="0" err="1"/>
              <a:t>Hailu</a:t>
            </a:r>
            <a:r>
              <a:rPr lang="en-US" sz="1100" b="1" dirty="0"/>
              <a:t>……………………...W-192/15</a:t>
            </a:r>
            <a:endParaRPr lang="en-US" sz="1100" dirty="0"/>
          </a:p>
          <a:p>
            <a:pPr marL="514350" indent="-514350">
              <a:buFont typeface="+mj-lt"/>
              <a:buAutoNum type="arabicPeriod"/>
            </a:pPr>
            <a:r>
              <a:rPr lang="en-US" sz="1100" b="1" dirty="0"/>
              <a:t>Nega Bisrat………………………..W-205/15</a:t>
            </a:r>
            <a:endParaRPr lang="en-US" sz="1100" dirty="0"/>
          </a:p>
          <a:p>
            <a:pPr marL="514350" indent="-514350">
              <a:buFont typeface="+mj-lt"/>
              <a:buAutoNum type="arabicPeriod"/>
            </a:pPr>
            <a:r>
              <a:rPr lang="en-US" sz="1100" b="1" dirty="0" err="1"/>
              <a:t>Kesis</a:t>
            </a:r>
            <a:r>
              <a:rPr lang="en-US" sz="1100" b="1" dirty="0"/>
              <a:t> Ephrem </a:t>
            </a:r>
            <a:r>
              <a:rPr lang="en-US" sz="1100" b="1" dirty="0" err="1"/>
              <a:t>Nigussie</a:t>
            </a:r>
            <a:r>
              <a:rPr lang="en-US" sz="1100" b="1" dirty="0"/>
              <a:t>………... W-108/15</a:t>
            </a:r>
            <a:endParaRPr lang="en-US" sz="1100" dirty="0"/>
          </a:p>
          <a:p>
            <a:pPr marL="514350" indent="-514350">
              <a:buFont typeface="+mj-lt"/>
              <a:buAutoNum type="arabicPeriod"/>
            </a:pPr>
            <a:r>
              <a:rPr lang="en-US" sz="1100" b="1" dirty="0"/>
              <a:t>Yonas </a:t>
            </a:r>
            <a:r>
              <a:rPr lang="en-US" sz="1100" b="1" dirty="0" err="1"/>
              <a:t>Shewalem</a:t>
            </a:r>
            <a:r>
              <a:rPr lang="en-US" sz="1100" b="1" dirty="0"/>
              <a:t>…………………. W-287/15</a:t>
            </a:r>
            <a:endParaRPr lang="en-US" sz="1100" dirty="0"/>
          </a:p>
        </p:txBody>
      </p:sp>
      <p:sp>
        <p:nvSpPr>
          <p:cNvPr id="6" name="Content Placeholder 5"/>
          <p:cNvSpPr>
            <a:spLocks noGrp="1"/>
          </p:cNvSpPr>
          <p:nvPr>
            <p:ph sz="quarter" idx="4"/>
          </p:nvPr>
        </p:nvSpPr>
        <p:spPr>
          <a:xfrm>
            <a:off x="4645025" y="3505200"/>
            <a:ext cx="4041775" cy="2971800"/>
          </a:xfrm>
        </p:spPr>
        <p:txBody>
          <a:bodyPr>
            <a:noAutofit/>
          </a:bodyPr>
          <a:lstStyle/>
          <a:p>
            <a:pPr>
              <a:buNone/>
            </a:pPr>
            <a:endParaRPr lang="en-US" sz="2100" b="1" dirty="0"/>
          </a:p>
          <a:p>
            <a:pPr>
              <a:buNone/>
            </a:pPr>
            <a:r>
              <a:rPr lang="en-US" sz="2100" b="1" dirty="0"/>
              <a:t>           Submitted to:-</a:t>
            </a:r>
          </a:p>
          <a:p>
            <a:pPr>
              <a:buNone/>
            </a:pPr>
            <a:r>
              <a:rPr lang="en-US" sz="2100" b="1" dirty="0"/>
              <a:t>                          </a:t>
            </a:r>
            <a:r>
              <a:rPr lang="en-US" sz="2100" b="1" dirty="0" err="1"/>
              <a:t>Mhr</a:t>
            </a:r>
            <a:r>
              <a:rPr lang="en-US" sz="2100" b="1" dirty="0"/>
              <a:t>. Getachew</a:t>
            </a:r>
          </a:p>
          <a:p>
            <a:pPr>
              <a:buNone/>
            </a:pPr>
            <a:endParaRPr lang="en-US" sz="2100" b="1" dirty="0"/>
          </a:p>
          <a:p>
            <a:pPr>
              <a:buNone/>
            </a:pPr>
            <a:endParaRPr lang="en-US" sz="2100" b="1" dirty="0"/>
          </a:p>
          <a:p>
            <a:pPr algn="r">
              <a:buNone/>
            </a:pPr>
            <a:r>
              <a:rPr lang="en-US" sz="2100" dirty="0"/>
              <a:t>Jan,2025</a:t>
            </a:r>
          </a:p>
          <a:p>
            <a:pPr algn="r">
              <a:buNone/>
            </a:pPr>
            <a:r>
              <a:rPr lang="en-US" sz="2100" dirty="0"/>
              <a:t>Addis Ababa, Ethiopia</a:t>
            </a:r>
          </a:p>
        </p:txBody>
      </p:sp>
      <p:pic>
        <p:nvPicPr>
          <p:cNvPr id="3" name="Picture 2" descr="Trinity3">
            <a:extLst>
              <a:ext uri="{FF2B5EF4-FFF2-40B4-BE49-F238E27FC236}">
                <a16:creationId xmlns:a16="http://schemas.microsoft.com/office/drawing/2014/main" id="{90BBA7EB-F6B0-FEA8-8D9F-36D7F0FBFA1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6790055" cy="22580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9120"/>
            <a:ext cx="7511473" cy="1312480"/>
          </a:xfrm>
        </p:spPr>
        <p:txBody>
          <a:bodyPr/>
          <a:lstStyle/>
          <a:p>
            <a:pPr algn="ctr"/>
            <a:r>
              <a:rPr lang="en-US" b="1" dirty="0"/>
              <a:t>Content</a:t>
            </a:r>
          </a:p>
        </p:txBody>
      </p:sp>
      <p:sp>
        <p:nvSpPr>
          <p:cNvPr id="3" name="Content Placeholder 2"/>
          <p:cNvSpPr>
            <a:spLocks noGrp="1"/>
          </p:cNvSpPr>
          <p:nvPr>
            <p:ph idx="1"/>
          </p:nvPr>
        </p:nvSpPr>
        <p:spPr>
          <a:xfrm>
            <a:off x="1828800" y="1371600"/>
            <a:ext cx="3733800" cy="4708525"/>
          </a:xfrm>
        </p:spPr>
        <p:txBody>
          <a:bodyPr>
            <a:noAutofit/>
          </a:bodyPr>
          <a:lstStyle/>
          <a:p>
            <a:pPr>
              <a:lnSpc>
                <a:spcPct val="150000"/>
              </a:lnSpc>
              <a:buFont typeface="Wingdings" panose="05000000000000000000" pitchFamily="2" charset="2"/>
              <a:buChar char="Ø"/>
            </a:pPr>
            <a:r>
              <a:rPr lang="en-US" sz="2400" dirty="0"/>
              <a:t>Cosmos</a:t>
            </a:r>
          </a:p>
          <a:p>
            <a:pPr>
              <a:lnSpc>
                <a:spcPct val="150000"/>
              </a:lnSpc>
              <a:buFont typeface="Wingdings" panose="05000000000000000000" pitchFamily="2" charset="2"/>
              <a:buChar char="Ø"/>
            </a:pPr>
            <a:r>
              <a:rPr lang="en-US" sz="2400" dirty="0"/>
              <a:t>Deity (</a:t>
            </a:r>
            <a:r>
              <a:rPr lang="gez-Ethi-ET" sz="2400" dirty="0"/>
              <a:t>አምላክ)</a:t>
            </a:r>
          </a:p>
          <a:p>
            <a:pPr>
              <a:lnSpc>
                <a:spcPct val="150000"/>
              </a:lnSpc>
              <a:buFont typeface="Wingdings" panose="05000000000000000000" pitchFamily="2" charset="2"/>
              <a:buChar char="Ø"/>
            </a:pPr>
            <a:r>
              <a:rPr lang="en-US" sz="2400" dirty="0"/>
              <a:t>Man (</a:t>
            </a:r>
            <a:r>
              <a:rPr lang="gez-Ethi-ET" sz="2400" dirty="0"/>
              <a:t>ሰው)</a:t>
            </a:r>
          </a:p>
          <a:p>
            <a:pPr>
              <a:lnSpc>
                <a:spcPct val="150000"/>
              </a:lnSpc>
              <a:buFont typeface="Wingdings" panose="05000000000000000000" pitchFamily="2" charset="2"/>
              <a:buChar char="Ø"/>
            </a:pPr>
            <a:r>
              <a:rPr lang="en-US" sz="2400" dirty="0"/>
              <a:t>Man's Plight </a:t>
            </a:r>
          </a:p>
          <a:p>
            <a:pPr>
              <a:lnSpc>
                <a:spcPct val="150000"/>
              </a:lnSpc>
              <a:buFont typeface="Wingdings" panose="05000000000000000000" pitchFamily="2" charset="2"/>
              <a:buChar char="Ø"/>
            </a:pPr>
            <a:r>
              <a:rPr lang="en-US" sz="2400" dirty="0"/>
              <a:t>Salivation(</a:t>
            </a:r>
            <a:r>
              <a:rPr lang="gez-Ethi-ET" sz="2400" dirty="0"/>
              <a:t>ነገረ ድኅነት)</a:t>
            </a:r>
          </a:p>
          <a:p>
            <a:pPr>
              <a:lnSpc>
                <a:spcPct val="150000"/>
              </a:lnSpc>
              <a:buFont typeface="Wingdings" panose="05000000000000000000" pitchFamily="2" charset="2"/>
              <a:buChar char="Ø"/>
            </a:pPr>
            <a:r>
              <a:rPr lang="en-US" sz="2400" dirty="0"/>
              <a:t>Conduct</a:t>
            </a:r>
          </a:p>
          <a:p>
            <a:pPr>
              <a:lnSpc>
                <a:spcPct val="150000"/>
              </a:lnSpc>
              <a:buFont typeface="Wingdings" panose="05000000000000000000" pitchFamily="2" charset="2"/>
              <a:buChar char="Ø"/>
            </a:pPr>
            <a:r>
              <a:rPr lang="en-US" sz="2400" dirty="0"/>
              <a:t>Destiny</a:t>
            </a:r>
          </a:p>
          <a:p>
            <a:pPr>
              <a:lnSpc>
                <a:spcPct val="150000"/>
              </a:lnSpc>
              <a:buFont typeface="Wingdings" panose="05000000000000000000" pitchFamily="2" charset="2"/>
              <a:buChar char="Ø"/>
            </a:pPr>
            <a:r>
              <a:rPr lang="en-US" sz="2400" dirty="0"/>
              <a:t>Reference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FFFC6-A531-4491-2998-4E00558780E1}"/>
              </a:ext>
            </a:extLst>
          </p:cNvPr>
          <p:cNvSpPr>
            <a:spLocks noGrp="1"/>
          </p:cNvSpPr>
          <p:nvPr>
            <p:ph type="title"/>
          </p:nvPr>
        </p:nvSpPr>
        <p:spPr>
          <a:xfrm>
            <a:off x="457200" y="274638"/>
            <a:ext cx="8229600" cy="715962"/>
          </a:xfrm>
        </p:spPr>
        <p:txBody>
          <a:bodyPr>
            <a:normAutofit/>
          </a:bodyPr>
          <a:lstStyle/>
          <a:p>
            <a:pPr algn="ctr"/>
            <a:r>
              <a:rPr lang="en-US" b="1" dirty="0"/>
              <a:t>Confucius Statue</a:t>
            </a:r>
          </a:p>
        </p:txBody>
      </p:sp>
      <p:pic>
        <p:nvPicPr>
          <p:cNvPr id="5" name="Content Placeholder 4">
            <a:extLst>
              <a:ext uri="{FF2B5EF4-FFF2-40B4-BE49-F238E27FC236}">
                <a16:creationId xmlns:a16="http://schemas.microsoft.com/office/drawing/2014/main" id="{0B93ED02-F4FB-86B8-4484-71F87096C80B}"/>
              </a:ext>
            </a:extLst>
          </p:cNvPr>
          <p:cNvPicPr>
            <a:picLocks noGrp="1" noChangeAspect="1"/>
          </p:cNvPicPr>
          <p:nvPr>
            <p:ph idx="1"/>
          </p:nvPr>
        </p:nvPicPr>
        <p:blipFill>
          <a:blip r:embed="rId2"/>
          <a:srcRect l="35801" t="15153" r="37695" b="5717"/>
          <a:stretch/>
        </p:blipFill>
        <p:spPr>
          <a:xfrm>
            <a:off x="1752600" y="990600"/>
            <a:ext cx="5791200" cy="5592761"/>
          </a:xfrm>
        </p:spPr>
      </p:pic>
    </p:spTree>
    <p:extLst>
      <p:ext uri="{BB962C8B-B14F-4D97-AF65-F5344CB8AC3E}">
        <p14:creationId xmlns:p14="http://schemas.microsoft.com/office/powerpoint/2010/main" val="422591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D27E7FF-B5CD-4526-45FA-A7E7C1A1955E}"/>
              </a:ext>
            </a:extLst>
          </p:cNvPr>
          <p:cNvPicPr>
            <a:picLocks noGrp="1" noChangeAspect="1"/>
          </p:cNvPicPr>
          <p:nvPr>
            <p:ph idx="1"/>
          </p:nvPr>
        </p:nvPicPr>
        <p:blipFill>
          <a:blip r:embed="rId2"/>
          <a:srcRect l="32568" t="33370" r="32961" b="25920"/>
          <a:stretch/>
        </p:blipFill>
        <p:spPr>
          <a:xfrm>
            <a:off x="190500" y="0"/>
            <a:ext cx="8953500" cy="6705600"/>
          </a:xfrm>
        </p:spPr>
      </p:pic>
    </p:spTree>
    <p:extLst>
      <p:ext uri="{BB962C8B-B14F-4D97-AF65-F5344CB8AC3E}">
        <p14:creationId xmlns:p14="http://schemas.microsoft.com/office/powerpoint/2010/main" val="245554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15DB74-ECF6-17C7-DFED-457FBC841CB4}"/>
              </a:ext>
            </a:extLst>
          </p:cNvPr>
          <p:cNvPicPr>
            <a:picLocks noGrp="1" noChangeAspect="1"/>
          </p:cNvPicPr>
          <p:nvPr>
            <p:ph idx="1"/>
          </p:nvPr>
        </p:nvPicPr>
        <p:blipFill>
          <a:blip r:embed="rId2"/>
          <a:srcRect l="32007" t="28622" r="33900" b="17502"/>
          <a:stretch/>
        </p:blipFill>
        <p:spPr>
          <a:xfrm>
            <a:off x="76200" y="609600"/>
            <a:ext cx="9067800" cy="6248400"/>
          </a:xfrm>
        </p:spPr>
      </p:pic>
    </p:spTree>
    <p:extLst>
      <p:ext uri="{BB962C8B-B14F-4D97-AF65-F5344CB8AC3E}">
        <p14:creationId xmlns:p14="http://schemas.microsoft.com/office/powerpoint/2010/main" val="178155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E9213-A0CF-F470-0E7D-3E5307C36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AFEBA-70A4-E3F1-D5C9-EFCBF830E518}"/>
              </a:ext>
            </a:extLst>
          </p:cNvPr>
          <p:cNvSpPr>
            <a:spLocks noGrp="1"/>
          </p:cNvSpPr>
          <p:nvPr>
            <p:ph type="ctrTitle"/>
          </p:nvPr>
        </p:nvSpPr>
        <p:spPr/>
        <p:txBody>
          <a:bodyPr>
            <a:normAutofit/>
          </a:bodyPr>
          <a:lstStyle/>
          <a:p>
            <a:r>
              <a:rPr lang="en-US" sz="7700" dirty="0"/>
              <a:t>Cosmos</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622002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fontScale="90000"/>
          </a:bodyPr>
          <a:lstStyle/>
          <a:p>
            <a:br>
              <a:rPr lang="en-US" sz="4900" dirty="0"/>
            </a:br>
            <a:r>
              <a:rPr lang="en-US" sz="4900" dirty="0"/>
              <a:t>INTRODUCTION</a:t>
            </a:r>
            <a:br>
              <a:rPr lang="en-US" dirty="0"/>
            </a:br>
            <a:endParaRPr lang="en-US" dirty="0"/>
          </a:p>
        </p:txBody>
      </p:sp>
      <p:sp>
        <p:nvSpPr>
          <p:cNvPr id="3" name="Content Placeholder 2"/>
          <p:cNvSpPr>
            <a:spLocks noGrp="1"/>
          </p:cNvSpPr>
          <p:nvPr>
            <p:ph idx="1"/>
          </p:nvPr>
        </p:nvSpPr>
        <p:spPr>
          <a:xfrm>
            <a:off x="457200" y="990600"/>
            <a:ext cx="8458200" cy="5867400"/>
          </a:xfrm>
        </p:spPr>
        <p:txBody>
          <a:bodyPr>
            <a:normAutofit fontScale="92500" lnSpcReduction="10000"/>
          </a:bodyPr>
          <a:lstStyle/>
          <a:p>
            <a:pPr algn="just">
              <a:lnSpc>
                <a:spcPct val="150000"/>
              </a:lnSpc>
              <a:buFont typeface="Wingdings" pitchFamily="2" charset="2"/>
              <a:buChar char="Ø"/>
            </a:pPr>
            <a:r>
              <a:rPr lang="en-US" sz="2400" dirty="0">
                <a:latin typeface="Verdana" panose="020B0604030504040204" pitchFamily="34" charset="0"/>
                <a:ea typeface="Verdana" panose="020B0604030504040204" pitchFamily="34" charset="0"/>
              </a:rPr>
              <a:t>Confucianism is a philosophical and ethical system based on the teachings of Confucius, a Chinese philosopher who lived from 551 to 479 BC. </a:t>
            </a:r>
          </a:p>
          <a:p>
            <a:pPr algn="just">
              <a:lnSpc>
                <a:spcPct val="150000"/>
              </a:lnSpc>
              <a:buFont typeface="Wingdings" pitchFamily="2" charset="2"/>
              <a:buChar char="Ø"/>
            </a:pPr>
            <a:r>
              <a:rPr lang="en-US" sz="2400" dirty="0">
                <a:latin typeface="Verdana" panose="020B0604030504040204" pitchFamily="34" charset="0"/>
                <a:ea typeface="Verdana" panose="020B0604030504040204" pitchFamily="34" charset="0"/>
              </a:rPr>
              <a:t>Although it is not a religion in the traditional sense, Confucianism has deeply influenced Chinese culture, values, and social structure for centuries. </a:t>
            </a:r>
          </a:p>
          <a:p>
            <a:pPr algn="just">
              <a:lnSpc>
                <a:spcPct val="150000"/>
              </a:lnSpc>
              <a:buFont typeface="Wingdings" pitchFamily="2" charset="2"/>
              <a:buChar char="Ø"/>
            </a:pPr>
            <a:r>
              <a:rPr lang="en-US" sz="2400" dirty="0">
                <a:latin typeface="Verdana" panose="020B0604030504040204" pitchFamily="34" charset="0"/>
                <a:ea typeface="Verdana" panose="020B0604030504040204" pitchFamily="34" charset="0"/>
              </a:rPr>
              <a:t>Confucianism has played a significant role in shaping the moral and social fabric of  East Asian societies. While it is more a way of  life and a social philosophy than a religion with deities and rituals, its influence is profound and enduring.</a:t>
            </a:r>
          </a:p>
          <a:p>
            <a:pPr algn="just">
              <a:lnSpc>
                <a:spcPct val="150000"/>
              </a:lnSpc>
              <a:buFont typeface="Wingdings" pitchFamily="2" charset="2"/>
              <a:buChar char="Ø"/>
            </a:pPr>
            <a:endParaRPr lang="en-US" sz="2400" dirty="0">
              <a:latin typeface="Verdana" panose="020B0604030504040204" pitchFamily="34" charset="0"/>
              <a:ea typeface="Verdan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263" y="105158"/>
            <a:ext cx="7511473" cy="1312480"/>
          </a:xfrm>
        </p:spPr>
        <p:txBody>
          <a:bodyPr>
            <a:normAutofit/>
          </a:bodyPr>
          <a:lstStyle/>
          <a:p>
            <a:r>
              <a:rPr lang="en-US" sz="3300" b="1" dirty="0"/>
              <a:t>KEY ASPECTS OF CONFUCIANISM</a:t>
            </a:r>
          </a:p>
        </p:txBody>
      </p:sp>
      <p:sp>
        <p:nvSpPr>
          <p:cNvPr id="3" name="Content Placeholder 2"/>
          <p:cNvSpPr>
            <a:spLocks noGrp="1"/>
          </p:cNvSpPr>
          <p:nvPr>
            <p:ph idx="1"/>
          </p:nvPr>
        </p:nvSpPr>
        <p:spPr>
          <a:xfrm>
            <a:off x="457200" y="1417638"/>
            <a:ext cx="8229600" cy="4983162"/>
          </a:xfrm>
        </p:spPr>
        <p:txBody>
          <a:bodyPr>
            <a:normAutofit/>
          </a:bodyPr>
          <a:lstStyle/>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Humaneness (Ren)</a:t>
            </a:r>
            <a:endParaRPr lang="en-US" sz="2700" dirty="0">
              <a:latin typeface="Verdana" panose="020B0604030504040204" pitchFamily="34" charset="0"/>
              <a:ea typeface="Verdana" panose="020B0604030504040204" pitchFamily="34" charset="0"/>
            </a:endParaRPr>
          </a:p>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Ritual Propriety (Li)</a:t>
            </a:r>
            <a:endParaRPr lang="en-US" sz="2700" dirty="0">
              <a:latin typeface="Verdana" panose="020B0604030504040204" pitchFamily="34" charset="0"/>
              <a:ea typeface="Verdana" panose="020B0604030504040204" pitchFamily="34" charset="0"/>
            </a:endParaRPr>
          </a:p>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Filial Piety (Xiao)</a:t>
            </a:r>
            <a:endParaRPr lang="en-US" sz="2700" dirty="0">
              <a:latin typeface="Verdana" panose="020B0604030504040204" pitchFamily="34" charset="0"/>
              <a:ea typeface="Verdana" panose="020B0604030504040204" pitchFamily="34" charset="0"/>
            </a:endParaRPr>
          </a:p>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Rectification of Names (</a:t>
            </a:r>
            <a:r>
              <a:rPr lang="en-US" sz="2700" b="1" dirty="0" err="1">
                <a:latin typeface="Verdana" panose="020B0604030504040204" pitchFamily="34" charset="0"/>
                <a:ea typeface="Verdana" panose="020B0604030504040204" pitchFamily="34" charset="0"/>
              </a:rPr>
              <a:t>Zhengming</a:t>
            </a:r>
            <a:r>
              <a:rPr lang="en-US" sz="2700" b="1" dirty="0">
                <a:latin typeface="Verdana" panose="020B0604030504040204" pitchFamily="34" charset="0"/>
                <a:ea typeface="Verdana" panose="020B0604030504040204" pitchFamily="34" charset="0"/>
              </a:rPr>
              <a:t>)</a:t>
            </a:r>
            <a:endParaRPr lang="en-US" sz="2700" dirty="0">
              <a:latin typeface="Verdana" panose="020B0604030504040204" pitchFamily="34" charset="0"/>
              <a:ea typeface="Verdana" panose="020B0604030504040204" pitchFamily="34" charset="0"/>
            </a:endParaRPr>
          </a:p>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Five Constant Relationships (</a:t>
            </a:r>
            <a:r>
              <a:rPr lang="en-US" sz="2700" b="1" dirty="0" err="1">
                <a:latin typeface="Verdana" panose="020B0604030504040204" pitchFamily="34" charset="0"/>
                <a:ea typeface="Verdana" panose="020B0604030504040204" pitchFamily="34" charset="0"/>
              </a:rPr>
              <a:t>Wulun</a:t>
            </a:r>
            <a:r>
              <a:rPr lang="en-US" sz="2700" b="1" dirty="0">
                <a:latin typeface="Verdana" panose="020B0604030504040204" pitchFamily="34" charset="0"/>
                <a:ea typeface="Verdana" panose="020B0604030504040204" pitchFamily="34" charset="0"/>
              </a:rPr>
              <a:t>)</a:t>
            </a:r>
            <a:r>
              <a:rPr lang="en-US" sz="2700" dirty="0">
                <a:latin typeface="Verdana" panose="020B0604030504040204" pitchFamily="34" charset="0"/>
                <a:ea typeface="Verdana" panose="020B0604030504040204" pitchFamily="34" charset="0"/>
              </a:rPr>
              <a:t>:</a:t>
            </a:r>
          </a:p>
          <a:p>
            <a:pPr marL="571500" lvl="0" indent="-571500">
              <a:lnSpc>
                <a:spcPct val="150000"/>
              </a:lnSpc>
              <a:buFont typeface="+mj-lt"/>
              <a:buAutoNum type="romanUcPeriod"/>
            </a:pPr>
            <a:r>
              <a:rPr lang="en-US" sz="2700" b="1" dirty="0">
                <a:latin typeface="Verdana" panose="020B0604030504040204" pitchFamily="34" charset="0"/>
                <a:ea typeface="Verdana" panose="020B0604030504040204" pitchFamily="34" charset="0"/>
              </a:rPr>
              <a:t>Education and Self-Cultivation</a:t>
            </a:r>
            <a:endParaRPr lang="en-US" sz="2700" dirty="0">
              <a:latin typeface="Verdana" panose="020B0604030504040204" pitchFamily="34" charset="0"/>
              <a:ea typeface="Verdana" panose="020B0604030504040204" pitchFamily="34" charset="0"/>
            </a:endParaRPr>
          </a:p>
          <a:p>
            <a:pPr>
              <a:buNone/>
            </a:pPr>
            <a:endParaRPr lang="en-US" sz="2900" dirty="0">
              <a:latin typeface="Verdana" panose="020B0604030504040204" pitchFamily="34" charset="0"/>
              <a:ea typeface="Verdan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8200"/>
          </a:xfrm>
        </p:spPr>
        <p:txBody>
          <a:bodyPr>
            <a:normAutofit/>
          </a:bodyPr>
          <a:lstStyle/>
          <a:p>
            <a:r>
              <a:rPr lang="en-US" b="1" dirty="0"/>
              <a:t>KEY ASPECTS OF CONFUCIANISM</a:t>
            </a:r>
          </a:p>
        </p:txBody>
      </p:sp>
      <p:sp>
        <p:nvSpPr>
          <p:cNvPr id="3" name="Content Placeholder 2"/>
          <p:cNvSpPr>
            <a:spLocks noGrp="1"/>
          </p:cNvSpPr>
          <p:nvPr>
            <p:ph idx="1"/>
          </p:nvPr>
        </p:nvSpPr>
        <p:spPr>
          <a:xfrm>
            <a:off x="457200" y="838200"/>
            <a:ext cx="8229600" cy="5867400"/>
          </a:xfrm>
        </p:spPr>
        <p:txBody>
          <a:bodyPr>
            <a:normAutofit fontScale="92500" lnSpcReduction="10000"/>
          </a:bodyPr>
          <a:lstStyle/>
          <a:p>
            <a:pPr lvl="0" algn="just">
              <a:lnSpc>
                <a:spcPct val="170000"/>
              </a:lnSpc>
            </a:pPr>
            <a:r>
              <a:rPr lang="en-US" b="1" dirty="0">
                <a:latin typeface="Verdana" panose="020B0604030504040204" pitchFamily="34" charset="0"/>
                <a:ea typeface="Verdana" panose="020B0604030504040204" pitchFamily="34" charset="0"/>
              </a:rPr>
              <a:t>Humaneness (</a:t>
            </a:r>
            <a:r>
              <a:rPr lang="en-US" b="1" dirty="0" err="1">
                <a:latin typeface="Verdana" panose="020B0604030504040204" pitchFamily="34" charset="0"/>
                <a:ea typeface="Verdana" panose="020B0604030504040204" pitchFamily="34" charset="0"/>
              </a:rPr>
              <a:t>Ren</a:t>
            </a:r>
            <a:r>
              <a:rPr lang="en-US" b="1" dirty="0">
                <a:latin typeface="Verdana" panose="020B0604030504040204" pitchFamily="34" charset="0"/>
                <a:ea typeface="Verdana" panose="020B0604030504040204" pitchFamily="34" charset="0"/>
              </a:rPr>
              <a:t>)</a:t>
            </a:r>
            <a:r>
              <a:rPr lang="en-US" dirty="0">
                <a:latin typeface="Verdana" panose="020B0604030504040204" pitchFamily="34" charset="0"/>
                <a:ea typeface="Verdana" panose="020B0604030504040204" pitchFamily="34" charset="0"/>
              </a:rPr>
              <a:t>: This is the central virtue in Confucianism, emphasizing kindness, compassion, and empathy towards others. It is about building harmonious relationships and treating others with respect.</a:t>
            </a:r>
          </a:p>
          <a:p>
            <a:pPr lvl="0" algn="just">
              <a:lnSpc>
                <a:spcPct val="170000"/>
              </a:lnSpc>
            </a:pPr>
            <a:r>
              <a:rPr lang="en-US" b="1" dirty="0">
                <a:latin typeface="Verdana" panose="020B0604030504040204" pitchFamily="34" charset="0"/>
                <a:ea typeface="Verdana" panose="020B0604030504040204" pitchFamily="34" charset="0"/>
              </a:rPr>
              <a:t>Ritual Propriety (Li)</a:t>
            </a:r>
            <a:r>
              <a:rPr lang="en-US" dirty="0">
                <a:latin typeface="Verdana" panose="020B0604030504040204" pitchFamily="34" charset="0"/>
                <a:ea typeface="Verdana" panose="020B0604030504040204" pitchFamily="34" charset="0"/>
              </a:rPr>
              <a:t>: Li refers to the proper conduct, rituals, and social norms that govern behavior. It includes everything from daily etiquette to important ceremonial practices, all aimed at maintaining social harmony and order.</a:t>
            </a:r>
          </a:p>
          <a:p>
            <a:pPr algn="just">
              <a:lnSpc>
                <a:spcPct val="170000"/>
              </a:lnSpc>
              <a:buNone/>
            </a:pPr>
            <a:endParaRPr lang="en-US" dirty="0">
              <a:latin typeface="Verdana" panose="020B0604030504040204" pitchFamily="34" charset="0"/>
              <a:ea typeface="Verdana" panose="020B060403050404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b="1" dirty="0"/>
              <a:t>KEY ASPECTS OF CONFUCIANISM</a:t>
            </a:r>
          </a:p>
        </p:txBody>
      </p:sp>
      <p:sp>
        <p:nvSpPr>
          <p:cNvPr id="3" name="Content Placeholder 2"/>
          <p:cNvSpPr>
            <a:spLocks noGrp="1"/>
          </p:cNvSpPr>
          <p:nvPr>
            <p:ph idx="1"/>
          </p:nvPr>
        </p:nvSpPr>
        <p:spPr>
          <a:xfrm>
            <a:off x="152400" y="990600"/>
            <a:ext cx="8915400" cy="5715000"/>
          </a:xfrm>
        </p:spPr>
        <p:txBody>
          <a:bodyPr>
            <a:noAutofit/>
          </a:bodyPr>
          <a:lstStyle/>
          <a:p>
            <a:pPr algn="just">
              <a:lnSpc>
                <a:spcPct val="160000"/>
              </a:lnSpc>
            </a:pPr>
            <a:r>
              <a:rPr lang="en-US" sz="2400" b="1" dirty="0">
                <a:latin typeface="Verdana" panose="020B0604030504040204" pitchFamily="34" charset="0"/>
                <a:ea typeface="Verdana" panose="020B0604030504040204" pitchFamily="34" charset="0"/>
              </a:rPr>
              <a:t>Filial Piety (Xiao)</a:t>
            </a:r>
            <a:r>
              <a:rPr lang="en-US" sz="2400" dirty="0">
                <a:latin typeface="Verdana" panose="020B0604030504040204" pitchFamily="34" charset="0"/>
                <a:ea typeface="Verdana" panose="020B0604030504040204" pitchFamily="34" charset="0"/>
              </a:rPr>
              <a:t>: This virtue stresses the importance of respect and obedience to one's parents and ancestors. It is seen as the foundation of social harmony and a key aspect of moral development.</a:t>
            </a:r>
          </a:p>
          <a:p>
            <a:pPr lvl="0" algn="just">
              <a:lnSpc>
                <a:spcPct val="160000"/>
              </a:lnSpc>
            </a:pPr>
            <a:r>
              <a:rPr lang="en-US" sz="2400" b="1" dirty="0">
                <a:latin typeface="Verdana" panose="020B0604030504040204" pitchFamily="34" charset="0"/>
                <a:ea typeface="Verdana" panose="020B0604030504040204" pitchFamily="34" charset="0"/>
              </a:rPr>
              <a:t>Rectification of Names (</a:t>
            </a:r>
            <a:r>
              <a:rPr lang="en-US" sz="2400" b="1" dirty="0" err="1">
                <a:latin typeface="Verdana" panose="020B0604030504040204" pitchFamily="34" charset="0"/>
                <a:ea typeface="Verdana" panose="020B0604030504040204" pitchFamily="34" charset="0"/>
              </a:rPr>
              <a:t>Zhengming</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 This principle emphasizes the importance of using correct terms and titles to ensure that people fulfill their roles and responsibilities appropriately. It is about aligning words with actions and roles within society.</a:t>
            </a:r>
          </a:p>
          <a:p>
            <a:pPr algn="just">
              <a:lnSpc>
                <a:spcPct val="160000"/>
              </a:lnSpc>
              <a:buNone/>
            </a:pPr>
            <a:endParaRPr lang="en-US" sz="2400" dirty="0">
              <a:latin typeface="Verdana" panose="020B0604030504040204" pitchFamily="34" charset="0"/>
              <a:ea typeface="Verdan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4" y="0"/>
            <a:ext cx="8229600" cy="650313"/>
          </a:xfrm>
        </p:spPr>
        <p:txBody>
          <a:bodyPr>
            <a:normAutofit/>
          </a:bodyPr>
          <a:lstStyle/>
          <a:p>
            <a:r>
              <a:rPr lang="en-US" b="1" dirty="0"/>
              <a:t>KEY ASPECTS OF CONFUCIANISM</a:t>
            </a:r>
          </a:p>
        </p:txBody>
      </p:sp>
      <p:sp>
        <p:nvSpPr>
          <p:cNvPr id="3" name="Content Placeholder 2"/>
          <p:cNvSpPr>
            <a:spLocks noGrp="1"/>
          </p:cNvSpPr>
          <p:nvPr>
            <p:ph idx="1"/>
          </p:nvPr>
        </p:nvSpPr>
        <p:spPr>
          <a:xfrm>
            <a:off x="438443" y="1178487"/>
            <a:ext cx="8229600" cy="4742094"/>
          </a:xfrm>
        </p:spPr>
        <p:txBody>
          <a:bodyPr>
            <a:noAutofit/>
          </a:bodyPr>
          <a:lstStyle/>
          <a:p>
            <a:pPr lvl="0" algn="just">
              <a:lnSpc>
                <a:spcPct val="170000"/>
              </a:lnSpc>
            </a:pPr>
            <a:r>
              <a:rPr lang="en-US" sz="2400" b="1" dirty="0"/>
              <a:t>Five Constant Relationships (</a:t>
            </a:r>
            <a:r>
              <a:rPr lang="en-US" sz="2400" b="1" dirty="0" err="1"/>
              <a:t>Wulun</a:t>
            </a:r>
            <a:r>
              <a:rPr lang="en-US" sz="2400" b="1" dirty="0"/>
              <a:t>)</a:t>
            </a:r>
            <a:r>
              <a:rPr lang="en-US" sz="2400" dirty="0"/>
              <a:t>: Confucianism outlines five fundamental relationships: ruler-subject, father-son, husband-wife, elder-younger, and friend-friend. Each relationship has defined roles and duties that contribute to social stability and harmony.</a:t>
            </a:r>
          </a:p>
          <a:p>
            <a:pPr lvl="0" algn="just">
              <a:lnSpc>
                <a:spcPct val="170000"/>
              </a:lnSpc>
            </a:pPr>
            <a:r>
              <a:rPr lang="en-US" sz="2400" b="1" dirty="0"/>
              <a:t>Education and Self-Cultivation</a:t>
            </a:r>
            <a:r>
              <a:rPr lang="en-US" sz="2400" dirty="0"/>
              <a:t>: Confucius emphasized the importance of education and continuous self-improvement. He believed that moral and intellectual cultivation is essential for personal development and societal well-being.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263" y="105158"/>
            <a:ext cx="7511473" cy="1312480"/>
          </a:xfrm>
        </p:spPr>
        <p:txBody>
          <a:bodyPr>
            <a:normAutofit/>
          </a:bodyPr>
          <a:lstStyle/>
          <a:p>
            <a:r>
              <a:rPr lang="en-US" b="1" dirty="0"/>
              <a:t>The Cosmos View of Confucianism </a:t>
            </a:r>
          </a:p>
        </p:txBody>
      </p:sp>
      <p:sp>
        <p:nvSpPr>
          <p:cNvPr id="3" name="Content Placeholder 2"/>
          <p:cNvSpPr>
            <a:spLocks noGrp="1"/>
          </p:cNvSpPr>
          <p:nvPr>
            <p:ph idx="1"/>
          </p:nvPr>
        </p:nvSpPr>
        <p:spPr>
          <a:xfrm>
            <a:off x="457200" y="1417638"/>
            <a:ext cx="8229600" cy="4708525"/>
          </a:xfrm>
        </p:spPr>
        <p:txBody>
          <a:bodyPr>
            <a:normAutofit lnSpcReduction="10000"/>
          </a:bodyPr>
          <a:lstStyle/>
          <a:p>
            <a:pPr algn="just">
              <a:lnSpc>
                <a:spcPct val="150000"/>
              </a:lnSpc>
              <a:buFont typeface="Wingdings" pitchFamily="2" charset="2"/>
              <a:buChar char="v"/>
            </a:pPr>
            <a:r>
              <a:rPr lang="en-US" sz="2900" dirty="0">
                <a:latin typeface="Verdana" panose="020B0604030504040204" pitchFamily="34" charset="0"/>
                <a:ea typeface="Verdana" panose="020B0604030504040204" pitchFamily="34" charset="0"/>
              </a:rPr>
              <a:t>Confucianism offers a unique perspective on the cosmos, emphasizing a </a:t>
            </a:r>
            <a:r>
              <a:rPr lang="en-US" sz="2900" b="1" dirty="0">
                <a:latin typeface="Verdana" panose="020B0604030504040204" pitchFamily="34" charset="0"/>
                <a:ea typeface="Verdana" panose="020B0604030504040204" pitchFamily="34" charset="0"/>
              </a:rPr>
              <a:t>human-centered religiousness</a:t>
            </a:r>
            <a:r>
              <a:rPr lang="en-US" sz="2900" dirty="0">
                <a:latin typeface="Verdana" panose="020B0604030504040204" pitchFamily="34" charset="0"/>
                <a:ea typeface="Verdana" panose="020B0604030504040204" pitchFamily="34" charset="0"/>
              </a:rPr>
              <a:t>. Unlike many Western religions, Confucianism doesn't focus on a transcendent deity but rather on the </a:t>
            </a:r>
            <a:r>
              <a:rPr lang="en-US" sz="2900" b="1" dirty="0">
                <a:latin typeface="Verdana" panose="020B0604030504040204" pitchFamily="34" charset="0"/>
                <a:ea typeface="Verdana" panose="020B0604030504040204" pitchFamily="34" charset="0"/>
              </a:rPr>
              <a:t>harmonious relationship between humans and the cosmos</a:t>
            </a:r>
            <a:r>
              <a:rPr lang="en-US" sz="2900" dirty="0">
                <a:latin typeface="Verdana" panose="020B0604030504040204" pitchFamily="34" charset="0"/>
                <a:ea typeface="Verdana" panose="020B0604030504040204" pitchFamily="34" charset="0"/>
              </a:rPr>
              <a:t>.</a:t>
            </a:r>
          </a:p>
          <a:p>
            <a:pPr algn="just">
              <a:lnSpc>
                <a:spcPct val="150000"/>
              </a:lnSpc>
            </a:pPr>
            <a:endParaRPr lang="en-US" sz="2900" dirty="0">
              <a:latin typeface="Verdana" panose="020B0604030504040204" pitchFamily="34" charset="0"/>
              <a:ea typeface="Verdana" panose="020B060403050404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263" y="119226"/>
            <a:ext cx="7511473" cy="1312480"/>
          </a:xfrm>
        </p:spPr>
        <p:txBody>
          <a:bodyPr>
            <a:normAutofit/>
          </a:bodyPr>
          <a:lstStyle/>
          <a:p>
            <a:r>
              <a:rPr lang="en-US" b="1" dirty="0"/>
              <a:t>The Cosmos View of Confucianism </a:t>
            </a:r>
          </a:p>
        </p:txBody>
      </p:sp>
      <p:sp>
        <p:nvSpPr>
          <p:cNvPr id="3" name="Content Placeholder 2"/>
          <p:cNvSpPr>
            <a:spLocks noGrp="1"/>
          </p:cNvSpPr>
          <p:nvPr>
            <p:ph idx="1"/>
          </p:nvPr>
        </p:nvSpPr>
        <p:spPr>
          <a:xfrm>
            <a:off x="457200" y="1143000"/>
            <a:ext cx="8229600" cy="5257800"/>
          </a:xfrm>
        </p:spPr>
        <p:txBody>
          <a:bodyPr>
            <a:normAutofit/>
          </a:bodyPr>
          <a:lstStyle/>
          <a:p>
            <a:pPr algn="just">
              <a:lnSpc>
                <a:spcPct val="150000"/>
              </a:lnSpc>
              <a:buFont typeface="Wingdings" pitchFamily="2" charset="2"/>
              <a:buChar char="v"/>
            </a:pPr>
            <a:r>
              <a:rPr lang="en-US" sz="2400" dirty="0">
                <a:latin typeface="Verdana" panose="020B0604030504040204" pitchFamily="34" charset="0"/>
                <a:ea typeface="Verdana" panose="020B0604030504040204" pitchFamily="34" charset="0"/>
              </a:rPr>
              <a:t>Confucian thought views humans as </a:t>
            </a:r>
            <a:r>
              <a:rPr lang="en-US" sz="2400" b="1" dirty="0">
                <a:latin typeface="Verdana" panose="020B0604030504040204" pitchFamily="34" charset="0"/>
                <a:ea typeface="Verdana" panose="020B0604030504040204" pitchFamily="34" charset="0"/>
              </a:rPr>
              <a:t>active participants in the cosmos</a:t>
            </a:r>
            <a:r>
              <a:rPr lang="en-US" sz="2400" dirty="0">
                <a:latin typeface="Verdana" panose="020B0604030504040204" pitchFamily="34" charset="0"/>
                <a:ea typeface="Verdana" panose="020B0604030504040204" pitchFamily="34" charset="0"/>
              </a:rPr>
              <a:t>, with a moral obligation to engage in </a:t>
            </a:r>
            <a:r>
              <a:rPr lang="en-US" sz="2400" b="1" dirty="0">
                <a:latin typeface="Verdana" panose="020B0604030504040204" pitchFamily="34" charset="0"/>
                <a:ea typeface="Verdana" panose="020B0604030504040204" pitchFamily="34" charset="0"/>
              </a:rPr>
              <a:t>co-creation</a:t>
            </a:r>
            <a:r>
              <a:rPr lang="en-US" sz="2400" dirty="0">
                <a:latin typeface="Verdana" panose="020B0604030504040204" pitchFamily="34" charset="0"/>
                <a:ea typeface="Verdana" panose="020B0604030504040204" pitchFamily="34" charset="0"/>
              </a:rPr>
              <a:t>. This means humans have the capacity to assist in the </a:t>
            </a:r>
            <a:r>
              <a:rPr lang="en-US" sz="2400" b="1" dirty="0">
                <a:latin typeface="Verdana" panose="020B0604030504040204" pitchFamily="34" charset="0"/>
                <a:ea typeface="Verdana" panose="020B0604030504040204" pitchFamily="34" charset="0"/>
              </a:rPr>
              <a:t>transforming and nourishing activities</a:t>
            </a:r>
            <a:r>
              <a:rPr lang="en-US" sz="2400" dirty="0">
                <a:latin typeface="Verdana" panose="020B0604030504040204" pitchFamily="34" charset="0"/>
                <a:ea typeface="Verdana" panose="020B0604030504040204" pitchFamily="34" charset="0"/>
              </a:rPr>
              <a:t> of the cosmos, contribute`14ng to the overall harmony and balance.</a:t>
            </a:r>
          </a:p>
          <a:p>
            <a:pPr algn="just">
              <a:buNone/>
            </a:pPr>
            <a:endParaRPr lang="en-US" sz="2400" dirty="0">
              <a:latin typeface="Verdana" panose="020B0604030504040204" pitchFamily="34" charset="0"/>
              <a:ea typeface="Verdana" panose="020B060403050404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263" y="99700"/>
            <a:ext cx="7511473" cy="1312480"/>
          </a:xfrm>
        </p:spPr>
        <p:txBody>
          <a:bodyPr>
            <a:normAutofit/>
          </a:bodyPr>
          <a:lstStyle/>
          <a:p>
            <a:r>
              <a:rPr lang="en-US" dirty="0"/>
              <a:t>The Cosmos View of Confucianism </a:t>
            </a:r>
          </a:p>
        </p:txBody>
      </p:sp>
      <p:sp>
        <p:nvSpPr>
          <p:cNvPr id="3" name="Content Placeholder 2"/>
          <p:cNvSpPr>
            <a:spLocks noGrp="1"/>
          </p:cNvSpPr>
          <p:nvPr>
            <p:ph idx="1"/>
          </p:nvPr>
        </p:nvSpPr>
        <p:spPr>
          <a:xfrm>
            <a:off x="818348" y="1600200"/>
            <a:ext cx="7868452" cy="4501860"/>
          </a:xfrm>
        </p:spPr>
        <p:txBody>
          <a:bodyPr>
            <a:normAutofit lnSpcReduction="10000"/>
          </a:bodyPr>
          <a:lstStyle/>
          <a:p>
            <a:pPr marL="0" indent="0" algn="just">
              <a:lnSpc>
                <a:spcPct val="150000"/>
              </a:lnSpc>
              <a:buNone/>
            </a:pPr>
            <a:r>
              <a:rPr lang="en-US" sz="2900" dirty="0"/>
              <a:t>The concept of </a:t>
            </a:r>
            <a:r>
              <a:rPr lang="en-US" sz="2900" b="1" dirty="0"/>
              <a:t>ritual propriety (</a:t>
            </a:r>
            <a:r>
              <a:rPr lang="en-US" sz="2900" b="1" dirty="0" err="1"/>
              <a:t>li</a:t>
            </a:r>
            <a:r>
              <a:rPr lang="en-US" sz="2900" b="1" dirty="0"/>
              <a:t>)</a:t>
            </a:r>
            <a:r>
              <a:rPr lang="en-US" sz="2900" dirty="0"/>
              <a:t> is central to Confucianism, guiding proper behavior and actions to achieve collective well-being. By observing these rituals and maintaining harmony in relationships, individuals can align themselves with the cosmic order.</a:t>
            </a:r>
          </a:p>
          <a:p>
            <a:pPr algn="just">
              <a:lnSpc>
                <a:spcPct val="150000"/>
              </a:lnSpc>
              <a:buNone/>
            </a:pPr>
            <a:endParaRPr lang="en-US" sz="2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C95F9-EC4C-AD3A-D93B-BC044D27CF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175D3-A16F-D06D-57C3-0493EA27E1E5}"/>
              </a:ext>
            </a:extLst>
          </p:cNvPr>
          <p:cNvSpPr>
            <a:spLocks noGrp="1"/>
          </p:cNvSpPr>
          <p:nvPr>
            <p:ph type="ctrTitle"/>
          </p:nvPr>
        </p:nvSpPr>
        <p:spPr/>
        <p:txBody>
          <a:bodyPr>
            <a:normAutofit/>
          </a:bodyPr>
          <a:lstStyle/>
          <a:p>
            <a:r>
              <a:rPr lang="en-US" sz="6600" dirty="0">
                <a:effectLst>
                  <a:glow rad="38100">
                    <a:schemeClr val="bg1">
                      <a:lumMod val="65000"/>
                      <a:lumOff val="35000"/>
                      <a:alpha val="40000"/>
                    </a:schemeClr>
                  </a:glow>
                </a:effectLst>
                <a:latin typeface="Verdana" panose="020B0604030504040204" pitchFamily="34" charset="0"/>
                <a:ea typeface="Verdana" panose="020B0604030504040204" pitchFamily="34" charset="0"/>
              </a:rPr>
              <a:t>deity</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4049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5D5C-BD92-8FFC-926F-08A4B8CE43C7}"/>
              </a:ext>
            </a:extLst>
          </p:cNvPr>
          <p:cNvSpPr>
            <a:spLocks noGrp="1"/>
          </p:cNvSpPr>
          <p:nvPr>
            <p:ph type="title"/>
          </p:nvPr>
        </p:nvSpPr>
        <p:spPr>
          <a:xfrm>
            <a:off x="818347" y="596018"/>
            <a:ext cx="7511473" cy="1080382"/>
          </a:xfrm>
        </p:spPr>
        <p:txBody>
          <a:bodyPr>
            <a:normAutofit/>
          </a:bodyPr>
          <a:lstStyle/>
          <a:p>
            <a:pPr algn="ctr"/>
            <a:r>
              <a:rPr lang="en-US" dirty="0">
                <a:effectLst>
                  <a:glow rad="38100">
                    <a:schemeClr val="bg1">
                      <a:lumMod val="65000"/>
                      <a:lumOff val="35000"/>
                      <a:alpha val="40000"/>
                    </a:schemeClr>
                  </a:glow>
                </a:effectLst>
                <a:latin typeface="Verdana" panose="020B0604030504040204" pitchFamily="34" charset="0"/>
                <a:ea typeface="Verdana" panose="020B0604030504040204" pitchFamily="34" charset="0"/>
              </a:rPr>
              <a:t>Confucianism deity</a:t>
            </a:r>
            <a:br>
              <a:rPr lang="en-US" dirty="0">
                <a:effectLst/>
                <a:latin typeface="Verdana" panose="020B0604030504040204" pitchFamily="34" charset="0"/>
                <a:ea typeface="Verdana" panose="020B0604030504040204" pitchFamily="34" charset="0"/>
                <a:cs typeface="Times New Roman" panose="02020603050405020304" pitchFamily="18" charset="0"/>
              </a:rPr>
            </a:br>
            <a:endParaRPr lang="en-US" dirty="0">
              <a:effectLst/>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7F71444B-4F7B-B226-1448-3E6E8B38855C}"/>
              </a:ext>
            </a:extLst>
          </p:cNvPr>
          <p:cNvSpPr>
            <a:spLocks noGrp="1"/>
          </p:cNvSpPr>
          <p:nvPr>
            <p:ph idx="1"/>
          </p:nvPr>
        </p:nvSpPr>
        <p:spPr>
          <a:xfrm>
            <a:off x="474689" y="1371599"/>
            <a:ext cx="8229600" cy="5211763"/>
          </a:xfrm>
        </p:spPr>
        <p:txBody>
          <a:bodyPr>
            <a:normAutofit/>
          </a:bodyPr>
          <a:lstStyle/>
          <a:p>
            <a:pPr algn="just">
              <a:lnSpc>
                <a:spcPct val="150000"/>
              </a:lnSpc>
            </a:pPr>
            <a:r>
              <a:rPr lang="en-US" sz="2900" dirty="0">
                <a:effectLst/>
                <a:latin typeface="Verdana" panose="020B0604030504040204" pitchFamily="34" charset="0"/>
                <a:ea typeface="Verdana" panose="020B0604030504040204" pitchFamily="34" charset="0"/>
                <a:cs typeface="Times New Roman" panose="02020603050405020304" pitchFamily="18" charset="0"/>
              </a:rPr>
              <a:t>Confucianism does not have a deity in the same way as many other religions. It is primarily a philosophical and ethical system rather than a religion focused on worshiping gods. However, there are certain concepts that relate to the divine or the sacred:</a:t>
            </a:r>
          </a:p>
          <a:p>
            <a:pPr algn="just">
              <a:lnSpc>
                <a:spcPct val="150000"/>
              </a:lnSpc>
            </a:pPr>
            <a:endParaRPr lang="en-US" sz="29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1758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E93517-5AC8-E910-5E3A-2352A1C2D819}"/>
              </a:ext>
            </a:extLst>
          </p:cNvPr>
          <p:cNvSpPr>
            <a:spLocks noGrp="1"/>
          </p:cNvSpPr>
          <p:nvPr>
            <p:ph type="title"/>
          </p:nvPr>
        </p:nvSpPr>
        <p:spPr>
          <a:xfrm>
            <a:off x="0" y="0"/>
            <a:ext cx="8229600" cy="563562"/>
          </a:xfrm>
        </p:spPr>
        <p:txBody>
          <a:bodyPr>
            <a:normAutofit/>
          </a:bodyPr>
          <a:lstStyle/>
          <a:p>
            <a:pPr algn="l"/>
            <a:r>
              <a:rPr lang="en-US" dirty="0"/>
              <a:t>Confucianism deity . . . </a:t>
            </a:r>
          </a:p>
        </p:txBody>
      </p:sp>
      <p:sp>
        <p:nvSpPr>
          <p:cNvPr id="3" name="Content Placeholder 2">
            <a:extLst>
              <a:ext uri="{FF2B5EF4-FFF2-40B4-BE49-F238E27FC236}">
                <a16:creationId xmlns:a16="http://schemas.microsoft.com/office/drawing/2014/main" id="{8BE708D0-5C23-651A-6845-1708C87BEFEE}"/>
              </a:ext>
            </a:extLst>
          </p:cNvPr>
          <p:cNvSpPr>
            <a:spLocks noGrp="1"/>
          </p:cNvSpPr>
          <p:nvPr>
            <p:ph idx="1"/>
          </p:nvPr>
        </p:nvSpPr>
        <p:spPr>
          <a:xfrm>
            <a:off x="304800" y="579974"/>
            <a:ext cx="8534400" cy="6553200"/>
          </a:xfrm>
        </p:spPr>
        <p:txBody>
          <a:bodyPr>
            <a:normAutofit/>
          </a:bodyPr>
          <a:lstStyle/>
          <a:p>
            <a:pPr marL="0" marR="0" indent="0" algn="just">
              <a:lnSpc>
                <a:spcPct val="150000"/>
              </a:lnSpc>
              <a:spcAft>
                <a:spcPts val="1000"/>
              </a:spcAft>
              <a:buNone/>
            </a:pPr>
            <a:r>
              <a:rPr lang="en-US" sz="2400" b="1" dirty="0">
                <a:effectLst/>
                <a:latin typeface="Verdana" panose="020B0604030504040204" pitchFamily="34" charset="0"/>
                <a:ea typeface="Verdana" panose="020B0604030504040204" pitchFamily="34" charset="0"/>
                <a:cs typeface="Times New Roman" panose="02020603050405020304" pitchFamily="18" charset="0"/>
              </a:rPr>
              <a:t> 1. Tian (Heaven):</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marL="114300" marR="0" indent="0" algn="just">
              <a:lnSpc>
                <a:spcPct val="150000"/>
              </a:lnSpc>
              <a:spcAft>
                <a:spcPts val="1000"/>
              </a:spcAft>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 </a:t>
            </a:r>
            <a:r>
              <a:rPr lang="en-US" sz="2400" b="1" dirty="0">
                <a:effectLst/>
                <a:latin typeface="Verdana" panose="020B0604030504040204" pitchFamily="34" charset="0"/>
                <a:ea typeface="Verdana" panose="020B0604030504040204" pitchFamily="34" charset="0"/>
                <a:cs typeface="Times New Roman" panose="02020603050405020304" pitchFamily="18" charset="0"/>
              </a:rPr>
              <a:t>Tian</a:t>
            </a:r>
            <a:r>
              <a:rPr lang="en-US" sz="2400" dirty="0">
                <a:effectLst/>
                <a:latin typeface="Verdana" panose="020B0604030504040204" pitchFamily="34" charset="0"/>
                <a:ea typeface="Verdana" panose="020B0604030504040204" pitchFamily="34" charset="0"/>
                <a:cs typeface="Times New Roman" panose="02020603050405020304" pitchFamily="18" charset="0"/>
              </a:rPr>
              <a:t> is often considered a divine force or cosmic principle that governs the universe. It is not a personal deity but represents the moral order and natural law of the universe. Tian is sometimes described as an overarching presence that guides human affairs, rewarding virtue and punishing immorality. It is more about an impersonal force that sustains the natural and moral order, rather than a deity one worships.</a:t>
            </a:r>
          </a:p>
          <a:p>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83124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21CFB-04AD-C6C1-061A-330379D1B90E}"/>
              </a:ext>
            </a:extLst>
          </p:cNvPr>
          <p:cNvSpPr>
            <a:spLocks noGrp="1"/>
          </p:cNvSpPr>
          <p:nvPr>
            <p:ph idx="1"/>
          </p:nvPr>
        </p:nvSpPr>
        <p:spPr>
          <a:xfrm>
            <a:off x="304800" y="685800"/>
            <a:ext cx="8686800" cy="6019800"/>
          </a:xfrm>
        </p:spPr>
        <p:txBody>
          <a:bodyPr anchor="t">
            <a:normAutofit/>
          </a:bodyPr>
          <a:lstStyle/>
          <a:p>
            <a:pPr marL="0" indent="0" algn="just">
              <a:lnSpc>
                <a:spcPct val="150000"/>
              </a:lnSpc>
              <a:buNone/>
            </a:pPr>
            <a:r>
              <a:rPr lang="en-US" sz="2400" dirty="0">
                <a:effectLst/>
                <a:cs typeface="Times New Roman" panose="02020603050405020304" pitchFamily="18" charset="0"/>
              </a:rPr>
              <a:t>• </a:t>
            </a:r>
            <a:r>
              <a:rPr lang="en-US" sz="2400" b="1" dirty="0">
                <a:effectLst/>
                <a:cs typeface="Times New Roman" panose="02020603050405020304" pitchFamily="18" charset="0"/>
              </a:rPr>
              <a:t>The Analects of Confucius: </a:t>
            </a:r>
            <a:r>
              <a:rPr lang="en-US" sz="2400" dirty="0">
                <a:effectLst/>
                <a:cs typeface="Times New Roman" panose="02020603050405020304" pitchFamily="18" charset="0"/>
              </a:rPr>
              <a:t>Confucius often refers to Tian as a guiding force of the universe and the ultimate authority behind moral action. For example:</a:t>
            </a:r>
          </a:p>
          <a:p>
            <a:pPr marL="0" indent="0" algn="just">
              <a:lnSpc>
                <a:spcPct val="150000"/>
              </a:lnSpc>
              <a:buNone/>
            </a:pPr>
            <a:r>
              <a:rPr lang="en-US" sz="2400" dirty="0">
                <a:effectLst/>
                <a:cs typeface="Times New Roman" panose="02020603050405020304" pitchFamily="18" charset="0"/>
              </a:rPr>
              <a:t>• </a:t>
            </a:r>
            <a:r>
              <a:rPr lang="en-US" sz="2400" b="1" dirty="0">
                <a:effectLst/>
                <a:cs typeface="Times New Roman" panose="02020603050405020304" pitchFamily="18" charset="0"/>
              </a:rPr>
              <a:t>Analects 2.4</a:t>
            </a:r>
            <a:r>
              <a:rPr lang="en-US" sz="2400" dirty="0">
                <a:effectLst/>
                <a:cs typeface="Times New Roman" panose="02020603050405020304" pitchFamily="18" charset="0"/>
              </a:rPr>
              <a:t>: “The Master said, ‘The </a:t>
            </a:r>
            <a:r>
              <a:rPr lang="en-US" sz="2400" b="1" dirty="0">
                <a:effectLst/>
                <a:cs typeface="Times New Roman" panose="02020603050405020304" pitchFamily="18" charset="0"/>
              </a:rPr>
              <a:t>superior man</a:t>
            </a:r>
            <a:r>
              <a:rPr lang="en-US" sz="2400" dirty="0">
                <a:effectLst/>
                <a:cs typeface="Times New Roman" panose="02020603050405020304" pitchFamily="18" charset="0"/>
              </a:rPr>
              <a:t> acts before he speaks, and afterward speaks according to his actions. When you have not yet reached the point of acting, you should not speak, but when you have acted, speak accordingly.’” This suggests that acting in alignment with Tian (moral order) is key to Confucian practice.</a:t>
            </a:r>
          </a:p>
          <a:p>
            <a:pPr marL="0" indent="0" algn="just">
              <a:lnSpc>
                <a:spcPct val="150000"/>
              </a:lnSpc>
              <a:buNone/>
            </a:pPr>
            <a:endParaRPr lang="en-US" sz="2400" dirty="0">
              <a:effectLst/>
              <a:cs typeface="Times New Roman" panose="02020603050405020304" pitchFamily="18" charset="0"/>
            </a:endParaRPr>
          </a:p>
          <a:p>
            <a:pPr marL="0" indent="0" algn="just">
              <a:lnSpc>
                <a:spcPct val="150000"/>
              </a:lnSpc>
              <a:buNone/>
            </a:pPr>
            <a:endParaRPr lang="en-US" dirty="0"/>
          </a:p>
        </p:txBody>
      </p:sp>
      <p:sp>
        <p:nvSpPr>
          <p:cNvPr id="4" name="Title 1">
            <a:extLst>
              <a:ext uri="{FF2B5EF4-FFF2-40B4-BE49-F238E27FC236}">
                <a16:creationId xmlns:a16="http://schemas.microsoft.com/office/drawing/2014/main" id="{AD6EBD87-8B3C-31A8-85F2-E573DD537C4E}"/>
              </a:ext>
            </a:extLst>
          </p:cNvPr>
          <p:cNvSpPr>
            <a:spLocks noGrp="1"/>
          </p:cNvSpPr>
          <p:nvPr>
            <p:ph type="title"/>
          </p:nvPr>
        </p:nvSpPr>
        <p:spPr>
          <a:xfrm>
            <a:off x="533400" y="152400"/>
            <a:ext cx="7512050" cy="395288"/>
          </a:xfrm>
        </p:spPr>
        <p:txBody>
          <a:bodyPr>
            <a:normAutofit fontScale="90000"/>
          </a:bodyPr>
          <a:lstStyle/>
          <a:p>
            <a:pPr algn="l"/>
            <a:r>
              <a:rPr lang="en-US" dirty="0"/>
              <a:t>Confucianism deity . . . </a:t>
            </a:r>
          </a:p>
        </p:txBody>
      </p:sp>
    </p:spTree>
    <p:extLst>
      <p:ext uri="{BB962C8B-B14F-4D97-AF65-F5344CB8AC3E}">
        <p14:creationId xmlns:p14="http://schemas.microsoft.com/office/powerpoint/2010/main" val="3507337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A483-9706-A1C1-9AE4-4293E81C1FEC}"/>
              </a:ext>
            </a:extLst>
          </p:cNvPr>
          <p:cNvSpPr>
            <a:spLocks noGrp="1"/>
          </p:cNvSpPr>
          <p:nvPr>
            <p:ph type="title"/>
          </p:nvPr>
        </p:nvSpPr>
        <p:spPr>
          <a:xfrm>
            <a:off x="76200" y="10886"/>
            <a:ext cx="8229600" cy="563562"/>
          </a:xfrm>
        </p:spPr>
        <p:txBody>
          <a:bodyPr>
            <a:normAutofit/>
          </a:bodyPr>
          <a:lstStyle/>
          <a:p>
            <a:pPr algn="l"/>
            <a:r>
              <a:rPr lang="en-US" dirty="0"/>
              <a:t>Confucianism deity . . . </a:t>
            </a:r>
          </a:p>
        </p:txBody>
      </p:sp>
      <p:sp>
        <p:nvSpPr>
          <p:cNvPr id="3" name="Content Placeholder 2">
            <a:extLst>
              <a:ext uri="{FF2B5EF4-FFF2-40B4-BE49-F238E27FC236}">
                <a16:creationId xmlns:a16="http://schemas.microsoft.com/office/drawing/2014/main" id="{43A326E6-0019-9ED2-238B-65FBE3FA4D74}"/>
              </a:ext>
            </a:extLst>
          </p:cNvPr>
          <p:cNvSpPr>
            <a:spLocks noGrp="1"/>
          </p:cNvSpPr>
          <p:nvPr>
            <p:ph idx="1"/>
          </p:nvPr>
        </p:nvSpPr>
        <p:spPr>
          <a:xfrm>
            <a:off x="178191" y="914400"/>
            <a:ext cx="8991600" cy="6272666"/>
          </a:xfrm>
        </p:spPr>
        <p:txBody>
          <a:bodyPr anchor="t">
            <a:normAutofit fontScale="85000" lnSpcReduction="10000"/>
          </a:bodyPr>
          <a:lstStyle/>
          <a:p>
            <a:pPr marL="114300" marR="0" indent="0" algn="just">
              <a:lnSpc>
                <a:spcPct val="150000"/>
              </a:lnSpc>
              <a:spcAft>
                <a:spcPts val="1000"/>
              </a:spcAft>
              <a:buNone/>
            </a:pPr>
            <a:r>
              <a:rPr lang="en-US" sz="2300" dirty="0">
                <a:effectLst/>
                <a:cs typeface="Times New Roman" panose="02020603050405020304" pitchFamily="18" charset="0"/>
              </a:rPr>
              <a:t>• </a:t>
            </a:r>
            <a:r>
              <a:rPr lang="en-US" sz="2300" b="1" dirty="0">
                <a:effectLst/>
                <a:cs typeface="Times New Roman" panose="02020603050405020304" pitchFamily="18" charset="0"/>
              </a:rPr>
              <a:t>Confucianism</a:t>
            </a:r>
            <a:r>
              <a:rPr lang="en-US" sz="2300" dirty="0">
                <a:effectLst/>
                <a:cs typeface="Times New Roman" panose="02020603050405020304" pitchFamily="18" charset="0"/>
              </a:rPr>
              <a:t>: A Very Short Introduction by Philip J. Ivanhoe (2000): Ivanhoe discusses Tian as both a moral and cosmological concept, emphasizing that Confucianism does not conceive of Tian as a personal deity but more as a force that governs the universe.</a:t>
            </a:r>
          </a:p>
          <a:p>
            <a:pPr marL="0" marR="0" indent="0" algn="just">
              <a:lnSpc>
                <a:spcPct val="150000"/>
              </a:lnSpc>
              <a:spcAft>
                <a:spcPts val="1000"/>
              </a:spcAft>
              <a:buNone/>
            </a:pPr>
            <a:r>
              <a:rPr lang="en-US" sz="2400" b="1" dirty="0">
                <a:effectLst/>
                <a:cs typeface="Times New Roman" panose="02020603050405020304" pitchFamily="18" charset="0"/>
              </a:rPr>
              <a:t>2. Ancestor Worship:</a:t>
            </a:r>
          </a:p>
          <a:p>
            <a:pPr marL="114300" marR="0" indent="0" algn="just">
              <a:lnSpc>
                <a:spcPct val="160000"/>
              </a:lnSpc>
              <a:spcAft>
                <a:spcPts val="1000"/>
              </a:spcAft>
              <a:buNone/>
            </a:pPr>
            <a:r>
              <a:rPr lang="en-US" sz="2400" dirty="0">
                <a:effectLst/>
                <a:cs typeface="Times New Roman" panose="02020603050405020304" pitchFamily="18" charset="0"/>
              </a:rPr>
              <a:t> Confucianism places significant emphasis on </a:t>
            </a:r>
            <a:r>
              <a:rPr lang="en-US" sz="2400" b="1" dirty="0">
                <a:effectLst/>
                <a:cs typeface="Times New Roman" panose="02020603050405020304" pitchFamily="18" charset="0"/>
              </a:rPr>
              <a:t>ancestor worship</a:t>
            </a:r>
            <a:r>
              <a:rPr lang="en-US" sz="2400" dirty="0">
                <a:effectLst/>
                <a:cs typeface="Times New Roman" panose="02020603050405020304" pitchFamily="18" charset="0"/>
              </a:rPr>
              <a:t> and honoring one’s ancestors. While this is not directed toward gods, it involves ritual reverence for the deceased, believing that ancestors can influence the living and should be honored through rituals. These practices emphasize </a:t>
            </a:r>
            <a:r>
              <a:rPr lang="en-US" sz="2400" b="1" dirty="0">
                <a:effectLst/>
                <a:cs typeface="Times New Roman" panose="02020603050405020304" pitchFamily="18" charset="0"/>
              </a:rPr>
              <a:t>filial piety</a:t>
            </a:r>
            <a:r>
              <a:rPr lang="en-US" sz="2400" dirty="0">
                <a:effectLst/>
                <a:cs typeface="Times New Roman" panose="02020603050405020304" pitchFamily="18" charset="0"/>
              </a:rPr>
              <a:t> (</a:t>
            </a:r>
            <a:r>
              <a:rPr lang="en-US" sz="2400" b="1" dirty="0">
                <a:effectLst/>
                <a:cs typeface="Times New Roman" panose="02020603050405020304" pitchFamily="18" charset="0"/>
              </a:rPr>
              <a:t>xiao</a:t>
            </a:r>
            <a:r>
              <a:rPr lang="en-US" sz="2400" dirty="0">
                <a:effectLst/>
                <a:cs typeface="Times New Roman" panose="02020603050405020304" pitchFamily="18" charset="0"/>
              </a:rPr>
              <a:t>) and respect for the moral legacy of one’s forebears.</a:t>
            </a:r>
          </a:p>
          <a:p>
            <a:pPr marL="114300" marR="0" indent="0" algn="just">
              <a:lnSpc>
                <a:spcPct val="150000"/>
              </a:lnSpc>
              <a:spcAft>
                <a:spcPts val="1000"/>
              </a:spcAft>
              <a:buNone/>
            </a:pPr>
            <a:endParaRPr lang="en-US" sz="2300" dirty="0">
              <a:effectLst/>
              <a:cs typeface="Times New Roman" panose="02020603050405020304" pitchFamily="18" charset="0"/>
            </a:endParaRPr>
          </a:p>
          <a:p>
            <a:endParaRPr lang="en-US" sz="2300" dirty="0"/>
          </a:p>
        </p:txBody>
      </p:sp>
    </p:spTree>
    <p:extLst>
      <p:ext uri="{BB962C8B-B14F-4D97-AF65-F5344CB8AC3E}">
        <p14:creationId xmlns:p14="http://schemas.microsoft.com/office/powerpoint/2010/main" val="3896388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FEB1F25-B438-F218-DB36-C571FE73311C}"/>
              </a:ext>
            </a:extLst>
          </p:cNvPr>
          <p:cNvSpPr>
            <a:spLocks noGrp="1"/>
          </p:cNvSpPr>
          <p:nvPr>
            <p:ph type="title"/>
          </p:nvPr>
        </p:nvSpPr>
        <p:spPr>
          <a:xfrm>
            <a:off x="-25400" y="0"/>
            <a:ext cx="8229600" cy="457199"/>
          </a:xfrm>
        </p:spPr>
        <p:txBody>
          <a:bodyPr>
            <a:normAutofit fontScale="90000"/>
          </a:bodyPr>
          <a:lstStyle/>
          <a:p>
            <a:pPr algn="l"/>
            <a:r>
              <a:rPr lang="en-US" dirty="0"/>
              <a:t>Confucianism deity . . . </a:t>
            </a:r>
          </a:p>
        </p:txBody>
      </p:sp>
      <p:sp>
        <p:nvSpPr>
          <p:cNvPr id="3" name="Content Placeholder 2">
            <a:extLst>
              <a:ext uri="{FF2B5EF4-FFF2-40B4-BE49-F238E27FC236}">
                <a16:creationId xmlns:a16="http://schemas.microsoft.com/office/drawing/2014/main" id="{AF86154D-E137-34C4-BC62-8C5FDB3D1FE8}"/>
              </a:ext>
            </a:extLst>
          </p:cNvPr>
          <p:cNvSpPr>
            <a:spLocks noGrp="1"/>
          </p:cNvSpPr>
          <p:nvPr>
            <p:ph idx="1"/>
          </p:nvPr>
        </p:nvSpPr>
        <p:spPr>
          <a:xfrm>
            <a:off x="228600" y="457199"/>
            <a:ext cx="8610600" cy="6400801"/>
          </a:xfrm>
        </p:spPr>
        <p:txBody>
          <a:bodyPr anchor="t">
            <a:noAutofit/>
          </a:bodyPr>
          <a:lstStyle/>
          <a:p>
            <a:pPr marL="457200" marR="0" algn="just">
              <a:lnSpc>
                <a:spcPct val="150000"/>
              </a:lnSpc>
              <a:spcAft>
                <a:spcPts val="1000"/>
              </a:spcAft>
            </a:pPr>
            <a:r>
              <a:rPr lang="en-US" b="1" dirty="0">
                <a:effectLst/>
                <a:cs typeface="Times New Roman" panose="02020603050405020304" pitchFamily="18" charset="0"/>
              </a:rPr>
              <a:t>The Analects of Confucius: </a:t>
            </a:r>
            <a:r>
              <a:rPr lang="en-US" dirty="0">
                <a:effectLst/>
                <a:cs typeface="Times New Roman" panose="02020603050405020304" pitchFamily="18" charset="0"/>
              </a:rPr>
              <a:t>Confucius emphasizes </a:t>
            </a:r>
            <a:r>
              <a:rPr lang="en-US" b="1" dirty="0">
                <a:effectLst/>
                <a:cs typeface="Times New Roman" panose="02020603050405020304" pitchFamily="18" charset="0"/>
              </a:rPr>
              <a:t>filial piety</a:t>
            </a:r>
            <a:r>
              <a:rPr lang="en-US" dirty="0">
                <a:effectLst/>
                <a:cs typeface="Times New Roman" panose="02020603050405020304" pitchFamily="18" charset="0"/>
              </a:rPr>
              <a:t>, a key aspect of which involves ancestor worship. In Analects 2.5, Confucius states, “The filial piety of today is to serve one’s parents when they are alive and to bury them when they die. It is also to offer sacrifices to them.”</a:t>
            </a:r>
          </a:p>
          <a:p>
            <a:pPr marL="457200" marR="0" algn="just">
              <a:lnSpc>
                <a:spcPct val="150000"/>
              </a:lnSpc>
              <a:spcAft>
                <a:spcPts val="1000"/>
              </a:spcAft>
            </a:pPr>
            <a:r>
              <a:rPr lang="en-US" dirty="0">
                <a:effectLst/>
                <a:cs typeface="Times New Roman" panose="02020603050405020304" pitchFamily="18" charset="0"/>
              </a:rPr>
              <a:t>  </a:t>
            </a:r>
            <a:r>
              <a:rPr lang="en-US" b="1" dirty="0">
                <a:effectLst/>
                <a:cs typeface="Times New Roman" panose="02020603050405020304" pitchFamily="18" charset="0"/>
              </a:rPr>
              <a:t>Confucianism</a:t>
            </a:r>
            <a:r>
              <a:rPr lang="en-US" dirty="0">
                <a:effectLst/>
                <a:cs typeface="Times New Roman" panose="02020603050405020304" pitchFamily="18" charset="0"/>
              </a:rPr>
              <a:t>: A Very Short Introduction by Philip J. Ivanhoe (2000): This book also provides insight into how Confucians honor their ancestors and see them as moral exemplars, indicating that ancestor worship is closely tied to the cultivation of virtue and social harmony.</a:t>
            </a:r>
          </a:p>
          <a:p>
            <a:pPr>
              <a:lnSpc>
                <a:spcPct val="150000"/>
              </a:lnSpc>
            </a:pPr>
            <a:endParaRPr lang="en-US" dirty="0"/>
          </a:p>
        </p:txBody>
      </p:sp>
    </p:spTree>
    <p:extLst>
      <p:ext uri="{BB962C8B-B14F-4D97-AF65-F5344CB8AC3E}">
        <p14:creationId xmlns:p14="http://schemas.microsoft.com/office/powerpoint/2010/main" val="2491680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5B9B263-AC6F-D39D-F5FD-55D93FFA2072}"/>
              </a:ext>
            </a:extLst>
          </p:cNvPr>
          <p:cNvSpPr>
            <a:spLocks noGrp="1"/>
          </p:cNvSpPr>
          <p:nvPr>
            <p:ph type="title"/>
          </p:nvPr>
        </p:nvSpPr>
        <p:spPr>
          <a:xfrm>
            <a:off x="-14514" y="0"/>
            <a:ext cx="8229600" cy="457199"/>
          </a:xfrm>
        </p:spPr>
        <p:txBody>
          <a:bodyPr>
            <a:normAutofit fontScale="90000"/>
          </a:bodyPr>
          <a:lstStyle/>
          <a:p>
            <a:pPr algn="l"/>
            <a:r>
              <a:rPr lang="en-US" dirty="0"/>
              <a:t>Confucianism deity . . . </a:t>
            </a:r>
          </a:p>
        </p:txBody>
      </p:sp>
      <p:sp>
        <p:nvSpPr>
          <p:cNvPr id="3" name="Content Placeholder 2">
            <a:extLst>
              <a:ext uri="{FF2B5EF4-FFF2-40B4-BE49-F238E27FC236}">
                <a16:creationId xmlns:a16="http://schemas.microsoft.com/office/drawing/2014/main" id="{66E3CDA0-ADF1-A558-485A-6CDA518F78D1}"/>
              </a:ext>
            </a:extLst>
          </p:cNvPr>
          <p:cNvSpPr>
            <a:spLocks noGrp="1"/>
          </p:cNvSpPr>
          <p:nvPr>
            <p:ph idx="1"/>
          </p:nvPr>
        </p:nvSpPr>
        <p:spPr>
          <a:xfrm>
            <a:off x="190500" y="266700"/>
            <a:ext cx="8763000" cy="6819900"/>
          </a:xfrm>
        </p:spPr>
        <p:txBody>
          <a:bodyPr anchor="t">
            <a:noAutofit/>
          </a:bodyPr>
          <a:lstStyle/>
          <a:p>
            <a:pPr marL="0" marR="0" indent="0" algn="just">
              <a:lnSpc>
                <a:spcPct val="150000"/>
              </a:lnSpc>
              <a:spcAft>
                <a:spcPts val="1000"/>
              </a:spcAft>
              <a:buNone/>
            </a:pPr>
            <a:r>
              <a:rPr lang="en-US" b="1" dirty="0">
                <a:effectLst/>
                <a:cs typeface="Times New Roman" panose="02020603050405020304" pitchFamily="18" charset="0"/>
              </a:rPr>
              <a:t> 3. The Sage or Ideal Person:</a:t>
            </a:r>
            <a:endParaRPr lang="en-US" dirty="0">
              <a:effectLst/>
              <a:cs typeface="Times New Roman" panose="02020603050405020304" pitchFamily="18" charset="0"/>
            </a:endParaRPr>
          </a:p>
          <a:p>
            <a:pPr marL="114300" marR="0" indent="0" algn="just">
              <a:lnSpc>
                <a:spcPct val="150000"/>
              </a:lnSpc>
              <a:spcAft>
                <a:spcPts val="1000"/>
              </a:spcAft>
              <a:buNone/>
            </a:pPr>
            <a:r>
              <a:rPr lang="en-US" dirty="0">
                <a:effectLst/>
                <a:cs typeface="Times New Roman" panose="02020603050405020304" pitchFamily="18" charset="0"/>
              </a:rPr>
              <a:t> • Confucianism also emphasizes the </a:t>
            </a:r>
            <a:r>
              <a:rPr lang="en-US" b="1" dirty="0">
                <a:effectLst/>
                <a:cs typeface="Times New Roman" panose="02020603050405020304" pitchFamily="18" charset="0"/>
              </a:rPr>
              <a:t>sage</a:t>
            </a:r>
            <a:r>
              <a:rPr lang="en-US" dirty="0">
                <a:effectLst/>
                <a:cs typeface="Times New Roman" panose="02020603050405020304" pitchFamily="18" charset="0"/>
              </a:rPr>
              <a:t> (a morally exemplary person), who embodies the virtues of wisdom, </a:t>
            </a:r>
            <a:r>
              <a:rPr lang="en-US" b="1" dirty="0">
                <a:effectLst/>
                <a:cs typeface="Times New Roman" panose="02020603050405020304" pitchFamily="18" charset="0"/>
              </a:rPr>
              <a:t>benevolence</a:t>
            </a:r>
            <a:r>
              <a:rPr lang="en-US" dirty="0">
                <a:effectLst/>
                <a:cs typeface="Times New Roman" panose="02020603050405020304" pitchFamily="18" charset="0"/>
              </a:rPr>
              <a:t>, and </a:t>
            </a:r>
            <a:r>
              <a:rPr lang="en-US" b="1" dirty="0">
                <a:effectLst/>
                <a:cs typeface="Times New Roman" panose="02020603050405020304" pitchFamily="18" charset="0"/>
              </a:rPr>
              <a:t>righteousness</a:t>
            </a:r>
            <a:r>
              <a:rPr lang="en-US" dirty="0">
                <a:effectLst/>
                <a:cs typeface="Times New Roman" panose="02020603050405020304" pitchFamily="18" charset="0"/>
              </a:rPr>
              <a:t>. The sage is </a:t>
            </a:r>
            <a:r>
              <a:rPr lang="en-US" b="1" dirty="0">
                <a:effectLst/>
                <a:cs typeface="Times New Roman" panose="02020603050405020304" pitchFamily="18" charset="0"/>
              </a:rPr>
              <a:t>not a deity</a:t>
            </a:r>
            <a:r>
              <a:rPr lang="en-US" dirty="0">
                <a:effectLst/>
                <a:cs typeface="Times New Roman" panose="02020603050405020304" pitchFamily="18" charset="0"/>
              </a:rPr>
              <a:t> but is viewed as someone who has achieved a </a:t>
            </a:r>
            <a:r>
              <a:rPr lang="en-US" b="1" dirty="0">
                <a:effectLst/>
                <a:cs typeface="Times New Roman" panose="02020603050405020304" pitchFamily="18" charset="0"/>
              </a:rPr>
              <a:t>high moral and spiritual standard</a:t>
            </a:r>
            <a:r>
              <a:rPr lang="en-US" dirty="0">
                <a:effectLst/>
                <a:cs typeface="Times New Roman" panose="02020603050405020304" pitchFamily="18" charset="0"/>
              </a:rPr>
              <a:t>, in harmony with both Tian and society.</a:t>
            </a:r>
          </a:p>
          <a:p>
            <a:pPr marL="114300" marR="0" indent="0" algn="just">
              <a:lnSpc>
                <a:spcPct val="150000"/>
              </a:lnSpc>
              <a:spcAft>
                <a:spcPts val="1000"/>
              </a:spcAft>
              <a:buNone/>
            </a:pPr>
            <a:r>
              <a:rPr lang="en-US" dirty="0">
                <a:effectLst/>
                <a:cs typeface="Times New Roman" panose="02020603050405020304" pitchFamily="18" charset="0"/>
              </a:rPr>
              <a:t>• </a:t>
            </a:r>
            <a:r>
              <a:rPr lang="en-US" sz="2100" dirty="0">
                <a:effectLst/>
                <a:cs typeface="Times New Roman" panose="02020603050405020304" pitchFamily="18" charset="0"/>
              </a:rPr>
              <a:t>The Analects of Confucius: Confucius often speaks about the “sage” as the ideal human being, someone who lives in harmony with the Way (Dao) and Tian. For example, Analects 7.29 discusses the sage: “The Master said, ‘The superior man </a:t>
            </a:r>
            <a:r>
              <a:rPr lang="en-US" sz="1900" dirty="0">
                <a:effectLst/>
                <a:cs typeface="Times New Roman" panose="02020603050405020304" pitchFamily="18" charset="0"/>
              </a:rPr>
              <a:t>is not a vessel.’”</a:t>
            </a:r>
            <a:endParaRPr lang="en-US" sz="1900" dirty="0">
              <a:cs typeface="Times New Roman" panose="02020603050405020304" pitchFamily="18" charset="0"/>
            </a:endParaRPr>
          </a:p>
        </p:txBody>
      </p:sp>
    </p:spTree>
    <p:extLst>
      <p:ext uri="{BB962C8B-B14F-4D97-AF65-F5344CB8AC3E}">
        <p14:creationId xmlns:p14="http://schemas.microsoft.com/office/powerpoint/2010/main" val="24269927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E490A53-3A4C-BBFB-C498-0647B83A2A47}"/>
              </a:ext>
            </a:extLst>
          </p:cNvPr>
          <p:cNvSpPr>
            <a:spLocks noGrp="1"/>
          </p:cNvSpPr>
          <p:nvPr>
            <p:ph type="title"/>
          </p:nvPr>
        </p:nvSpPr>
        <p:spPr>
          <a:xfrm>
            <a:off x="-14068" y="228600"/>
            <a:ext cx="8229600" cy="258762"/>
          </a:xfrm>
        </p:spPr>
        <p:txBody>
          <a:bodyPr>
            <a:normAutofit fontScale="90000"/>
          </a:bodyPr>
          <a:lstStyle/>
          <a:p>
            <a:pPr algn="l"/>
            <a:r>
              <a:rPr lang="en-US" dirty="0"/>
              <a:t>Confucianism deity . . . </a:t>
            </a:r>
          </a:p>
        </p:txBody>
      </p:sp>
      <p:sp>
        <p:nvSpPr>
          <p:cNvPr id="3" name="Content Placeholder 2">
            <a:extLst>
              <a:ext uri="{FF2B5EF4-FFF2-40B4-BE49-F238E27FC236}">
                <a16:creationId xmlns:a16="http://schemas.microsoft.com/office/drawing/2014/main" id="{944EC4EA-101A-56BC-C346-161153C1412B}"/>
              </a:ext>
            </a:extLst>
          </p:cNvPr>
          <p:cNvSpPr>
            <a:spLocks noGrp="1"/>
          </p:cNvSpPr>
          <p:nvPr>
            <p:ph idx="1"/>
          </p:nvPr>
        </p:nvSpPr>
        <p:spPr>
          <a:xfrm>
            <a:off x="526143" y="685800"/>
            <a:ext cx="8617857" cy="6324600"/>
          </a:xfrm>
        </p:spPr>
        <p:txBody>
          <a:bodyPr>
            <a:noAutofit/>
          </a:bodyPr>
          <a:lstStyle/>
          <a:p>
            <a:pPr marL="0" indent="0" algn="just">
              <a:lnSpc>
                <a:spcPct val="150000"/>
              </a:lnSpc>
              <a:spcAft>
                <a:spcPts val="1000"/>
              </a:spcAft>
              <a:buNone/>
            </a:pPr>
            <a:r>
              <a:rPr lang="en-US" sz="2400" dirty="0">
                <a:effectLst/>
                <a:cs typeface="Times New Roman" panose="02020603050405020304" pitchFamily="18" charset="0"/>
              </a:rPr>
              <a:t>• Confucianism: A Very Short Introduction by Philip J. Ivanhoe (2000): This book also covers the Confucian concept of the sage, who is a model of virtue, harmony, and moral wisdom.</a:t>
            </a:r>
          </a:p>
          <a:p>
            <a:pPr marL="0" marR="0" indent="0" algn="just">
              <a:lnSpc>
                <a:spcPct val="150000"/>
              </a:lnSpc>
              <a:spcAft>
                <a:spcPts val="1000"/>
              </a:spcAft>
              <a:buNone/>
            </a:pPr>
            <a:r>
              <a:rPr lang="en-US" sz="2400" b="1" dirty="0">
                <a:effectLst/>
                <a:cs typeface="Times New Roman" panose="02020603050405020304" pitchFamily="18" charset="0"/>
              </a:rPr>
              <a:t>4. Confucianism and the Divine</a:t>
            </a:r>
            <a:endParaRPr lang="en-US" sz="2400" dirty="0">
              <a:effectLst/>
              <a:cs typeface="Times New Roman" panose="02020603050405020304" pitchFamily="18" charset="0"/>
            </a:endParaRPr>
          </a:p>
          <a:p>
            <a:pPr marL="114300" marR="0" indent="0" algn="just">
              <a:lnSpc>
                <a:spcPct val="150000"/>
              </a:lnSpc>
              <a:spcAft>
                <a:spcPts val="1000"/>
              </a:spcAft>
              <a:buNone/>
            </a:pPr>
            <a:r>
              <a:rPr lang="en-US" sz="2400" dirty="0">
                <a:effectLst/>
                <a:cs typeface="Times New Roman" panose="02020603050405020304" pitchFamily="18" charset="0"/>
              </a:rPr>
              <a:t>The Cambridge Companion to Confucianism edited by Donald J. Munro (2002): This comprehensive guide provides insights into Confucianism’s views on divinity, especially the concept of Tian, and its relation to human behavior and moral order.</a:t>
            </a:r>
          </a:p>
          <a:p>
            <a:pPr marL="114300" marR="0" indent="0" algn="just">
              <a:lnSpc>
                <a:spcPct val="150000"/>
              </a:lnSpc>
              <a:spcAft>
                <a:spcPts val="1000"/>
              </a:spcAft>
              <a:buNone/>
            </a:pPr>
            <a:r>
              <a:rPr lang="en-US" sz="2400" dirty="0">
                <a:effectLst/>
                <a:cs typeface="Times New Roman" panose="02020603050405020304" pitchFamily="18" charset="0"/>
              </a:rPr>
              <a:t> </a:t>
            </a:r>
            <a:endParaRPr lang="en-US" sz="2400" dirty="0"/>
          </a:p>
        </p:txBody>
      </p:sp>
    </p:spTree>
    <p:extLst>
      <p:ext uri="{BB962C8B-B14F-4D97-AF65-F5344CB8AC3E}">
        <p14:creationId xmlns:p14="http://schemas.microsoft.com/office/powerpoint/2010/main" val="840129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40D31-B683-842F-7DF1-9F7DC0C1C3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C821E0-DEF9-72D6-428A-58AE1D60572A}"/>
              </a:ext>
            </a:extLst>
          </p:cNvPr>
          <p:cNvSpPr>
            <a:spLocks noGrp="1"/>
          </p:cNvSpPr>
          <p:nvPr>
            <p:ph type="title"/>
          </p:nvPr>
        </p:nvSpPr>
        <p:spPr>
          <a:xfrm>
            <a:off x="29308" y="228600"/>
            <a:ext cx="8229600" cy="258762"/>
          </a:xfrm>
        </p:spPr>
        <p:txBody>
          <a:bodyPr>
            <a:normAutofit fontScale="90000"/>
          </a:bodyPr>
          <a:lstStyle/>
          <a:p>
            <a:pPr algn="l"/>
            <a:r>
              <a:rPr lang="en-US" dirty="0"/>
              <a:t>Confucianism deity . . . </a:t>
            </a:r>
          </a:p>
        </p:txBody>
      </p:sp>
      <p:sp>
        <p:nvSpPr>
          <p:cNvPr id="3" name="Content Placeholder 2">
            <a:extLst>
              <a:ext uri="{FF2B5EF4-FFF2-40B4-BE49-F238E27FC236}">
                <a16:creationId xmlns:a16="http://schemas.microsoft.com/office/drawing/2014/main" id="{3C51691E-30C8-9C57-53FD-CDDB960CA74E}"/>
              </a:ext>
            </a:extLst>
          </p:cNvPr>
          <p:cNvSpPr>
            <a:spLocks noGrp="1"/>
          </p:cNvSpPr>
          <p:nvPr>
            <p:ph idx="1"/>
          </p:nvPr>
        </p:nvSpPr>
        <p:spPr>
          <a:xfrm>
            <a:off x="499180" y="914400"/>
            <a:ext cx="8617857" cy="6324600"/>
          </a:xfrm>
        </p:spPr>
        <p:txBody>
          <a:bodyPr anchor="t">
            <a:noAutofit/>
          </a:bodyPr>
          <a:lstStyle/>
          <a:p>
            <a:pPr marL="114300" marR="0" indent="0" algn="just">
              <a:lnSpc>
                <a:spcPct val="150000"/>
              </a:lnSpc>
              <a:spcAft>
                <a:spcPts val="1000"/>
              </a:spcAft>
              <a:buNone/>
            </a:pPr>
            <a:r>
              <a:rPr lang="en-US" sz="2400" dirty="0">
                <a:effectLst/>
                <a:cs typeface="Times New Roman" panose="02020603050405020304" pitchFamily="18" charset="0"/>
              </a:rPr>
              <a:t>• Confucianism: A Brief Introduction by Richard John Lynn (2009): Lynn provides an overview of Confucian views on divinity and the role of Tian, emphasizing its role in guiding the moral conduct of individuals and society. </a:t>
            </a:r>
          </a:p>
          <a:p>
            <a:pPr marL="0" marR="0" algn="just">
              <a:lnSpc>
                <a:spcPct val="150000"/>
              </a:lnSpc>
              <a:spcAft>
                <a:spcPts val="1000"/>
              </a:spcAft>
            </a:pPr>
            <a:r>
              <a:rPr lang="en-US" sz="2400" dirty="0">
                <a:effectLst/>
                <a:cs typeface="Times New Roman" panose="02020603050405020304" pitchFamily="18" charset="0"/>
              </a:rPr>
              <a:t>In summary, Confucianism does not focus on a personal deity but rather on Tian as a moral cosmic order, ancestor veneration, and the cultivation of virtues in the pursuit of moral excellence.</a:t>
            </a:r>
          </a:p>
          <a:p>
            <a:pPr algn="just">
              <a:lnSpc>
                <a:spcPct val="150000"/>
              </a:lnSpc>
            </a:pPr>
            <a:endParaRPr lang="en-US" sz="2400" dirty="0"/>
          </a:p>
        </p:txBody>
      </p:sp>
    </p:spTree>
    <p:extLst>
      <p:ext uri="{BB962C8B-B14F-4D97-AF65-F5344CB8AC3E}">
        <p14:creationId xmlns:p14="http://schemas.microsoft.com/office/powerpoint/2010/main" val="1568973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31D6B-ECE9-A4AD-BE06-DE5FFD5E3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C45E2-90E2-E94F-7F89-CC1AEEE0200F}"/>
              </a:ext>
            </a:extLst>
          </p:cNvPr>
          <p:cNvSpPr>
            <a:spLocks noGrp="1"/>
          </p:cNvSpPr>
          <p:nvPr>
            <p:ph type="ctrTitle"/>
          </p:nvPr>
        </p:nvSpPr>
        <p:spPr/>
        <p:txBody>
          <a:bodyPr>
            <a:normAutofit/>
          </a:bodyPr>
          <a:lstStyle/>
          <a:p>
            <a:r>
              <a:rPr lang="en-US" sz="6600" b="1" dirty="0">
                <a:effectLst/>
                <a:latin typeface="Calibri" panose="020F0502020204030204" pitchFamily="34" charset="0"/>
                <a:ea typeface="Calibri" panose="020F0502020204030204" pitchFamily="34" charset="0"/>
                <a:cs typeface="Times New Roman" panose="02020603050405020304" pitchFamily="18" charset="0"/>
              </a:rPr>
              <a:t>human</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9332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C4215-9766-D4AB-D68F-24EA2D202F68}"/>
              </a:ext>
            </a:extLst>
          </p:cNvPr>
          <p:cNvSpPr>
            <a:spLocks noGrp="1"/>
          </p:cNvSpPr>
          <p:nvPr>
            <p:ph type="title"/>
          </p:nvPr>
        </p:nvSpPr>
        <p:spPr>
          <a:xfrm>
            <a:off x="228600" y="274638"/>
            <a:ext cx="8915400" cy="1143000"/>
          </a:xfrm>
        </p:spPr>
        <p:txBody>
          <a:bodyPr>
            <a:noAutofit/>
          </a:bodyPr>
          <a:lstStyle/>
          <a:p>
            <a:pPr algn="ctr"/>
            <a:r>
              <a:rPr lang="en-US" sz="3700"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sz="3700" b="1" dirty="0"/>
          </a:p>
        </p:txBody>
      </p:sp>
      <p:sp>
        <p:nvSpPr>
          <p:cNvPr id="3" name="Content Placeholder 2">
            <a:extLst>
              <a:ext uri="{FF2B5EF4-FFF2-40B4-BE49-F238E27FC236}">
                <a16:creationId xmlns:a16="http://schemas.microsoft.com/office/drawing/2014/main" id="{D7443214-B09E-52AB-3F98-7758FC90A68C}"/>
              </a:ext>
            </a:extLst>
          </p:cNvPr>
          <p:cNvSpPr>
            <a:spLocks noGrp="1"/>
          </p:cNvSpPr>
          <p:nvPr>
            <p:ph idx="1"/>
          </p:nvPr>
        </p:nvSpPr>
        <p:spPr>
          <a:xfrm>
            <a:off x="818348" y="1417638"/>
            <a:ext cx="8097052" cy="4684422"/>
          </a:xfrm>
        </p:spPr>
        <p:txBody>
          <a:bodyPr>
            <a:normAutofit/>
          </a:bodyPr>
          <a:lstStyle/>
          <a:p>
            <a:pPr marL="0" indent="0" algn="just">
              <a:lnSpc>
                <a:spcPct val="150000"/>
              </a:lnSpc>
              <a:buNone/>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Confucianism, the belief regarding human nature and the role of individuals in society is centered around cultivating moral virtues, relationships, and a sense of responsibility. Confucius, the founder of Confucianism, proposed that human beings are inherently good, and through education, self-cultivation, and adherence to traditional rituals, they can realize their full potential.</a:t>
            </a: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38092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92FA-493D-FF83-C0C0-B6351D8DFD18}"/>
              </a:ext>
            </a:extLst>
          </p:cNvPr>
          <p:cNvSpPr>
            <a:spLocks noGrp="1"/>
          </p:cNvSpPr>
          <p:nvPr>
            <p:ph type="title"/>
          </p:nvPr>
        </p:nvSpPr>
        <p:spPr>
          <a:xfrm>
            <a:off x="114300" y="0"/>
            <a:ext cx="9144000" cy="457200"/>
          </a:xfrm>
        </p:spPr>
        <p:txBody>
          <a:bodyPr>
            <a:normAutofit fontScale="90000"/>
          </a:bodyPr>
          <a:lstStyle/>
          <a:p>
            <a:r>
              <a:rPr lang="en-US"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dirty="0"/>
          </a:p>
        </p:txBody>
      </p:sp>
      <p:sp>
        <p:nvSpPr>
          <p:cNvPr id="3" name="Content Placeholder 2">
            <a:extLst>
              <a:ext uri="{FF2B5EF4-FFF2-40B4-BE49-F238E27FC236}">
                <a16:creationId xmlns:a16="http://schemas.microsoft.com/office/drawing/2014/main" id="{A3387EF6-9B30-E70B-80E9-892D978EDF4B}"/>
              </a:ext>
            </a:extLst>
          </p:cNvPr>
          <p:cNvSpPr>
            <a:spLocks noGrp="1"/>
          </p:cNvSpPr>
          <p:nvPr>
            <p:ph idx="1"/>
          </p:nvPr>
        </p:nvSpPr>
        <p:spPr>
          <a:xfrm>
            <a:off x="457200" y="990600"/>
            <a:ext cx="8458200" cy="5562600"/>
          </a:xfrm>
        </p:spPr>
        <p:txBody>
          <a:bodyPr>
            <a:noAutofit/>
          </a:bodyPr>
          <a:lstStyle/>
          <a:p>
            <a:pPr marL="0" marR="0" indent="0" algn="just">
              <a:lnSpc>
                <a:spcPct val="160000"/>
              </a:lnSpc>
              <a:spcAft>
                <a:spcPts val="800"/>
              </a:spcAft>
              <a:buNone/>
            </a:pPr>
            <a:r>
              <a:rPr lang="en-US" sz="1800" b="1" kern="100" dirty="0">
                <a:effectLst/>
                <a:latin typeface="Verdana" panose="020B0604030504040204" pitchFamily="34" charset="0"/>
                <a:ea typeface="Verdana" panose="020B0604030504040204" pitchFamily="34" charset="0"/>
                <a:cs typeface="Times New Roman" panose="02020603050405020304" pitchFamily="18" charset="0"/>
              </a:rPr>
              <a:t>Key beliefs regarding "Man" (human beings) in Confucianism include:</a:t>
            </a:r>
          </a:p>
          <a:p>
            <a:pPr marL="342900" marR="0" lvl="0" indent="-342900" algn="just">
              <a:lnSpc>
                <a:spcPct val="160000"/>
              </a:lnSpc>
              <a:spcAft>
                <a:spcPts val="800"/>
              </a:spcAft>
              <a:buFont typeface="+mj-lt"/>
              <a:buAutoNum type="arabicPeriod"/>
              <a:tabLst>
                <a:tab pos="457200" algn="l"/>
              </a:tabLst>
            </a:pPr>
            <a:r>
              <a:rPr lang="en-US" sz="1800" b="1" kern="100" dirty="0">
                <a:effectLst/>
                <a:latin typeface="Verdana" panose="020B0604030504040204" pitchFamily="34" charset="0"/>
                <a:ea typeface="Verdana" panose="020B0604030504040204" pitchFamily="34" charset="0"/>
                <a:cs typeface="Times New Roman" panose="02020603050405020304" pitchFamily="18" charset="0"/>
              </a:rPr>
              <a:t>Intrinsic Goodness</a:t>
            </a:r>
            <a:r>
              <a:rPr lang="en-US" sz="1800" kern="100" dirty="0">
                <a:effectLst/>
                <a:latin typeface="Verdana" panose="020B0604030504040204" pitchFamily="34" charset="0"/>
                <a:ea typeface="Verdana" panose="020B0604030504040204" pitchFamily="34" charset="0"/>
                <a:cs typeface="Times New Roman" panose="02020603050405020304" pitchFamily="18" charset="0"/>
              </a:rPr>
              <a:t>: Confucianism, especially as taught by Mencius (a significant Confucian philosopher), holds that humans are born with an inherent capacity for goodness. The moral qualities of compassion and empathy are natural to humans, and it is the role of education and self-reflection to nurture these qualities.</a:t>
            </a:r>
          </a:p>
          <a:p>
            <a:pPr marL="342900" marR="0" lvl="0" indent="-342900" algn="just">
              <a:lnSpc>
                <a:spcPct val="160000"/>
              </a:lnSpc>
              <a:spcAft>
                <a:spcPts val="800"/>
              </a:spcAft>
              <a:buFont typeface="+mj-lt"/>
              <a:buAutoNum type="arabicPeriod"/>
              <a:tabLst>
                <a:tab pos="457200" algn="l"/>
              </a:tabLst>
            </a:pPr>
            <a:r>
              <a:rPr lang="en-US" sz="1800" b="1" kern="100" dirty="0">
                <a:effectLst/>
                <a:latin typeface="Verdana" panose="020B0604030504040204" pitchFamily="34" charset="0"/>
                <a:ea typeface="Verdana" panose="020B0604030504040204" pitchFamily="34" charset="0"/>
                <a:cs typeface="Times New Roman" panose="02020603050405020304" pitchFamily="18" charset="0"/>
              </a:rPr>
              <a:t>Ren (Human-heartedness)</a:t>
            </a:r>
            <a:r>
              <a:rPr lang="en-US" sz="1800" kern="100" dirty="0">
                <a:effectLst/>
                <a:latin typeface="Verdana" panose="020B0604030504040204" pitchFamily="34" charset="0"/>
                <a:ea typeface="Verdana" panose="020B0604030504040204" pitchFamily="34" charset="0"/>
                <a:cs typeface="Times New Roman" panose="02020603050405020304" pitchFamily="18" charset="0"/>
              </a:rPr>
              <a:t>: Central to Confucian ethics is the concept of </a:t>
            </a:r>
            <a:r>
              <a:rPr lang="en-US" sz="1800" i="1" kern="100" dirty="0">
                <a:effectLst/>
                <a:latin typeface="Verdana" panose="020B0604030504040204" pitchFamily="34" charset="0"/>
                <a:ea typeface="Verdana" panose="020B0604030504040204" pitchFamily="34" charset="0"/>
                <a:cs typeface="Times New Roman" panose="02020603050405020304" pitchFamily="18" charset="0"/>
              </a:rPr>
              <a:t>ren</a:t>
            </a:r>
            <a:r>
              <a:rPr lang="en-US" sz="1800" kern="100" dirty="0">
                <a:effectLst/>
                <a:latin typeface="Verdana" panose="020B0604030504040204" pitchFamily="34" charset="0"/>
                <a:ea typeface="Verdana" panose="020B0604030504040204" pitchFamily="34" charset="0"/>
                <a:cs typeface="Times New Roman" panose="02020603050405020304" pitchFamily="18" charset="0"/>
              </a:rPr>
              <a:t>, often translated as human-heartedness, benevolence, or compassion. This quality is seen as the highest virtue that individuals should cultivate. It refers to the deep, empathetic care one feels for others, emphasizing kindness, understanding, and love for humanity.</a:t>
            </a:r>
          </a:p>
          <a:p>
            <a:pPr algn="just">
              <a:lnSpc>
                <a:spcPct val="160000"/>
              </a:lnSpc>
            </a:pPr>
            <a:endParaRPr lang="en-US" sz="18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511139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AE796EF-14AA-7F8D-5408-22184F806BAF}"/>
              </a:ext>
            </a:extLst>
          </p:cNvPr>
          <p:cNvSpPr>
            <a:spLocks noGrp="1"/>
          </p:cNvSpPr>
          <p:nvPr>
            <p:ph type="title"/>
          </p:nvPr>
        </p:nvSpPr>
        <p:spPr>
          <a:xfrm>
            <a:off x="0" y="61913"/>
            <a:ext cx="9144000" cy="457200"/>
          </a:xfrm>
        </p:spPr>
        <p:txBody>
          <a:bodyPr>
            <a:normAutofit/>
          </a:bodyPr>
          <a:lstStyle/>
          <a:p>
            <a:r>
              <a:rPr lang="en-US" sz="1600"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sz="1600" dirty="0"/>
          </a:p>
        </p:txBody>
      </p:sp>
      <p:sp>
        <p:nvSpPr>
          <p:cNvPr id="3" name="Content Placeholder 2">
            <a:extLst>
              <a:ext uri="{FF2B5EF4-FFF2-40B4-BE49-F238E27FC236}">
                <a16:creationId xmlns:a16="http://schemas.microsoft.com/office/drawing/2014/main" id="{518BB163-D6C4-739E-B182-44B5E5218B9C}"/>
              </a:ext>
            </a:extLst>
          </p:cNvPr>
          <p:cNvSpPr>
            <a:spLocks noGrp="1"/>
          </p:cNvSpPr>
          <p:nvPr>
            <p:ph idx="1"/>
          </p:nvPr>
        </p:nvSpPr>
        <p:spPr>
          <a:xfrm>
            <a:off x="228600" y="785018"/>
            <a:ext cx="8686800" cy="5287963"/>
          </a:xfrm>
        </p:spPr>
        <p:txBody>
          <a:bodyPr>
            <a:noAutofit/>
          </a:bodyPr>
          <a:lstStyle/>
          <a:p>
            <a:pPr marL="0" marR="0" lvl="0" indent="0" algn="just">
              <a:lnSpc>
                <a:spcPct val="150000"/>
              </a:lnSpc>
              <a:spcAft>
                <a:spcPts val="800"/>
              </a:spcAft>
              <a:buNone/>
              <a:tabLst>
                <a:tab pos="457200" algn="l"/>
              </a:tabLst>
            </a:pPr>
            <a:r>
              <a:rPr lang="en-GB" kern="100" dirty="0">
                <a:effectLst/>
                <a:latin typeface="Verdana" panose="020B0604030504040204" pitchFamily="34" charset="0"/>
                <a:ea typeface="Verdana" panose="020B0604030504040204" pitchFamily="34" charset="0"/>
                <a:cs typeface="Times New Roman" panose="02020603050405020304" pitchFamily="18" charset="0"/>
              </a:rPr>
              <a:t>3.	</a:t>
            </a:r>
            <a:r>
              <a:rPr lang="en-GB" b="1" kern="100" dirty="0">
                <a:effectLst/>
                <a:latin typeface="Verdana" panose="020B0604030504040204" pitchFamily="34" charset="0"/>
                <a:ea typeface="Verdana" panose="020B0604030504040204" pitchFamily="34" charset="0"/>
                <a:cs typeface="Times New Roman" panose="02020603050405020304" pitchFamily="18" charset="0"/>
              </a:rPr>
              <a:t>The Role of Ritual (Li): </a:t>
            </a:r>
            <a:r>
              <a:rPr lang="en-GB" kern="100" dirty="0">
                <a:effectLst/>
                <a:latin typeface="Verdana" panose="020B0604030504040204" pitchFamily="34" charset="0"/>
                <a:ea typeface="Verdana" panose="020B0604030504040204" pitchFamily="34" charset="0"/>
                <a:cs typeface="Times New Roman" panose="02020603050405020304" pitchFamily="18" charset="0"/>
              </a:rPr>
              <a:t>Confucius placed great importance on li, which refers to the proper conduct, rituals, and social behaviours. These rituals, which range from personal manners to state ceremonies, provide a framework for maintaining social harmony and demonstrating respect in relationships. This respect and adherence to rituals helps refine the character and actions of individuals.</a:t>
            </a:r>
          </a:p>
        </p:txBody>
      </p:sp>
    </p:spTree>
    <p:extLst>
      <p:ext uri="{BB962C8B-B14F-4D97-AF65-F5344CB8AC3E}">
        <p14:creationId xmlns:p14="http://schemas.microsoft.com/office/powerpoint/2010/main" val="1009277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E0EF9-8403-2E72-6050-1358463A6E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77B45DE-2FFA-3D8C-5D83-2A2924B25E27}"/>
              </a:ext>
            </a:extLst>
          </p:cNvPr>
          <p:cNvSpPr>
            <a:spLocks noGrp="1"/>
          </p:cNvSpPr>
          <p:nvPr>
            <p:ph type="title"/>
          </p:nvPr>
        </p:nvSpPr>
        <p:spPr>
          <a:xfrm>
            <a:off x="0" y="61912"/>
            <a:ext cx="9144000" cy="623887"/>
          </a:xfrm>
        </p:spPr>
        <p:txBody>
          <a:bodyPr>
            <a:normAutofit/>
          </a:bodyPr>
          <a:lstStyle/>
          <a:p>
            <a:r>
              <a:rPr lang="en-US" sz="2400"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sz="2400" dirty="0"/>
          </a:p>
        </p:txBody>
      </p:sp>
      <p:sp>
        <p:nvSpPr>
          <p:cNvPr id="3" name="Content Placeholder 2">
            <a:extLst>
              <a:ext uri="{FF2B5EF4-FFF2-40B4-BE49-F238E27FC236}">
                <a16:creationId xmlns:a16="http://schemas.microsoft.com/office/drawing/2014/main" id="{6A6B5F96-204F-6CF4-74D9-1C95D34AEF39}"/>
              </a:ext>
            </a:extLst>
          </p:cNvPr>
          <p:cNvSpPr>
            <a:spLocks noGrp="1"/>
          </p:cNvSpPr>
          <p:nvPr>
            <p:ph idx="1"/>
          </p:nvPr>
        </p:nvSpPr>
        <p:spPr>
          <a:xfrm>
            <a:off x="228600" y="990600"/>
            <a:ext cx="8686800" cy="5287963"/>
          </a:xfrm>
        </p:spPr>
        <p:txBody>
          <a:bodyPr>
            <a:noAutofit/>
          </a:bodyPr>
          <a:lstStyle/>
          <a:p>
            <a:pPr marL="0" marR="0" lvl="0" indent="0" algn="just">
              <a:lnSpc>
                <a:spcPct val="150000"/>
              </a:lnSpc>
              <a:spcAft>
                <a:spcPts val="800"/>
              </a:spcAft>
              <a:buNone/>
              <a:tabLst>
                <a:tab pos="457200" algn="l"/>
              </a:tabLst>
            </a:pPr>
            <a:r>
              <a:rPr lang="en-GB" kern="100" dirty="0">
                <a:effectLst/>
                <a:latin typeface="Verdana" panose="020B0604030504040204" pitchFamily="34" charset="0"/>
                <a:ea typeface="Verdana" panose="020B0604030504040204" pitchFamily="34" charset="0"/>
                <a:cs typeface="Times New Roman" panose="02020603050405020304" pitchFamily="18" charset="0"/>
              </a:rPr>
              <a:t>4.	</a:t>
            </a:r>
            <a:r>
              <a:rPr lang="en-GB" b="1" kern="100" dirty="0">
                <a:effectLst/>
                <a:latin typeface="Verdana" panose="020B0604030504040204" pitchFamily="34" charset="0"/>
                <a:ea typeface="Verdana" panose="020B0604030504040204" pitchFamily="34" charset="0"/>
                <a:cs typeface="Times New Roman" panose="02020603050405020304" pitchFamily="18" charset="0"/>
              </a:rPr>
              <a:t>Filial Piety and Hierarchical Relationships: </a:t>
            </a:r>
            <a:r>
              <a:rPr lang="en-GB" kern="100" dirty="0">
                <a:effectLst/>
                <a:latin typeface="Verdana" panose="020B0604030504040204" pitchFamily="34" charset="0"/>
                <a:ea typeface="Verdana" panose="020B0604030504040204" pitchFamily="34" charset="0"/>
                <a:cs typeface="Times New Roman" panose="02020603050405020304" pitchFamily="18" charset="0"/>
              </a:rPr>
              <a:t>One of the core principles in Confucianism is xiao (filial piety), which calls for children to respect and honour their parents. Confucianism emphasizes that each person must fulfil their responsibilities within the Five Relationships (ruler and subject, father and son, husband and wife, elder and younger siblings, and friend and friend). These relationships are hierarchical, and while those in higher positions have a duty of care and benevolence, those in lower positions should respect their superiors.</a:t>
            </a:r>
          </a:p>
        </p:txBody>
      </p:sp>
    </p:spTree>
    <p:extLst>
      <p:ext uri="{BB962C8B-B14F-4D97-AF65-F5344CB8AC3E}">
        <p14:creationId xmlns:p14="http://schemas.microsoft.com/office/powerpoint/2010/main" val="2860475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4134F7E-6F9C-5F7B-11A6-313D1DC2021F}"/>
              </a:ext>
            </a:extLst>
          </p:cNvPr>
          <p:cNvSpPr>
            <a:spLocks noGrp="1"/>
          </p:cNvSpPr>
          <p:nvPr>
            <p:ph type="title"/>
          </p:nvPr>
        </p:nvSpPr>
        <p:spPr>
          <a:xfrm>
            <a:off x="34119" y="122238"/>
            <a:ext cx="9144000" cy="487362"/>
          </a:xfrm>
        </p:spPr>
        <p:txBody>
          <a:bodyPr>
            <a:normAutofit/>
          </a:bodyPr>
          <a:lstStyle/>
          <a:p>
            <a:r>
              <a:rPr lang="en-US" sz="2400"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sz="2400" dirty="0"/>
          </a:p>
        </p:txBody>
      </p:sp>
      <p:sp>
        <p:nvSpPr>
          <p:cNvPr id="3" name="Content Placeholder 2">
            <a:extLst>
              <a:ext uri="{FF2B5EF4-FFF2-40B4-BE49-F238E27FC236}">
                <a16:creationId xmlns:a16="http://schemas.microsoft.com/office/drawing/2014/main" id="{3294D456-C32C-23EE-1ACA-CCC29453A679}"/>
              </a:ext>
            </a:extLst>
          </p:cNvPr>
          <p:cNvSpPr>
            <a:spLocks noGrp="1"/>
          </p:cNvSpPr>
          <p:nvPr>
            <p:ph idx="1"/>
          </p:nvPr>
        </p:nvSpPr>
        <p:spPr>
          <a:xfrm>
            <a:off x="491319" y="914400"/>
            <a:ext cx="8229600" cy="6126162"/>
          </a:xfrm>
        </p:spPr>
        <p:txBody>
          <a:bodyPr>
            <a:noAutofit/>
          </a:bodyPr>
          <a:lstStyle/>
          <a:p>
            <a:pPr marL="0" marR="0" lvl="0" indent="0" algn="just">
              <a:lnSpc>
                <a:spcPct val="150000"/>
              </a:lnSpc>
              <a:spcAft>
                <a:spcPts val="800"/>
              </a:spcAft>
              <a:buNone/>
              <a:tabLst>
                <a:tab pos="457200" algn="l"/>
              </a:tabLst>
            </a:pPr>
            <a:r>
              <a:rPr lang="en-US" sz="2000" b="1" kern="100" dirty="0">
                <a:effectLst/>
                <a:latin typeface="Verdana" panose="020B0604030504040204" pitchFamily="34" charset="0"/>
                <a:ea typeface="Verdana" panose="020B0604030504040204" pitchFamily="34" charset="0"/>
                <a:cs typeface="Times New Roman" panose="02020603050405020304" pitchFamily="18" charset="0"/>
              </a:rPr>
              <a:t>5. The Cultivation of the Junzi (The "Superior Person")</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The ideal Confucian person is the </a:t>
            </a:r>
            <a:r>
              <a:rPr lang="en-US" sz="2000" i="1" kern="100" dirty="0">
                <a:effectLst/>
                <a:latin typeface="Verdana" panose="020B0604030504040204" pitchFamily="34" charset="0"/>
                <a:ea typeface="Verdana" panose="020B0604030504040204" pitchFamily="34" charset="0"/>
                <a:cs typeface="Times New Roman" panose="02020603050405020304" pitchFamily="18" charset="0"/>
              </a:rPr>
              <a:t>junzi</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(often translated as "gentleman" or "superior person"). This is someone who has cultivated their moral character and virtues through education and self-cultivation, not based on noble birth. The </a:t>
            </a:r>
            <a:r>
              <a:rPr lang="en-US" sz="2000" i="1" kern="100" dirty="0">
                <a:effectLst/>
                <a:latin typeface="Verdana" panose="020B0604030504040204" pitchFamily="34" charset="0"/>
                <a:ea typeface="Verdana" panose="020B0604030504040204" pitchFamily="34" charset="0"/>
                <a:cs typeface="Times New Roman" panose="02020603050405020304" pitchFamily="18" charset="0"/>
              </a:rPr>
              <a:t>junzi</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acts as a role model for others and serves as an ethical guide in society.</a:t>
            </a:r>
          </a:p>
          <a:p>
            <a:pPr marL="0" marR="0" lvl="0" indent="0" algn="just">
              <a:lnSpc>
                <a:spcPct val="150000"/>
              </a:lnSpc>
              <a:spcAft>
                <a:spcPts val="800"/>
              </a:spcAft>
              <a:buNone/>
              <a:tabLst>
                <a:tab pos="457200" algn="l"/>
              </a:tabLst>
            </a:pPr>
            <a:r>
              <a:rPr lang="en-US" sz="2000" b="1" kern="100" dirty="0">
                <a:effectLst/>
                <a:latin typeface="Verdana" panose="020B0604030504040204" pitchFamily="34" charset="0"/>
                <a:ea typeface="Verdana" panose="020B0604030504040204" pitchFamily="34" charset="0"/>
                <a:cs typeface="Times New Roman" panose="02020603050405020304" pitchFamily="18" charset="0"/>
              </a:rPr>
              <a:t>6. Education and Self-Cultivation</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Confucianism places strong emphasis on the pursuit of knowledge and continuous self-improvement. Education is the means through which individuals can develop virtues and moral character, and it is considered the key to resolving social disorder and achieving harmony.</a:t>
            </a:r>
          </a:p>
          <a:p>
            <a:pPr algn="just">
              <a:lnSpc>
                <a:spcPct val="150000"/>
              </a:lnSpc>
            </a:pPr>
            <a:endParaRPr lang="en-US"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346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12EA94B-6CCF-3BAD-BBC3-B2AEC1FA4B74}"/>
              </a:ext>
            </a:extLst>
          </p:cNvPr>
          <p:cNvSpPr>
            <a:spLocks noGrp="1"/>
          </p:cNvSpPr>
          <p:nvPr>
            <p:ph type="title"/>
          </p:nvPr>
        </p:nvSpPr>
        <p:spPr>
          <a:xfrm>
            <a:off x="25021" y="233695"/>
            <a:ext cx="9144000" cy="617537"/>
          </a:xfrm>
        </p:spPr>
        <p:txBody>
          <a:bodyPr>
            <a:normAutofit/>
          </a:bodyPr>
          <a:lstStyle/>
          <a:p>
            <a:r>
              <a:rPr lang="en-US" sz="2400"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sz="2400" dirty="0"/>
          </a:p>
        </p:txBody>
      </p:sp>
      <p:sp>
        <p:nvSpPr>
          <p:cNvPr id="3" name="Content Placeholder 2">
            <a:extLst>
              <a:ext uri="{FF2B5EF4-FFF2-40B4-BE49-F238E27FC236}">
                <a16:creationId xmlns:a16="http://schemas.microsoft.com/office/drawing/2014/main" id="{BE3D22DD-86B3-D700-DD1F-E10D1F430805}"/>
              </a:ext>
            </a:extLst>
          </p:cNvPr>
          <p:cNvSpPr>
            <a:spLocks noGrp="1"/>
          </p:cNvSpPr>
          <p:nvPr>
            <p:ph idx="1"/>
          </p:nvPr>
        </p:nvSpPr>
        <p:spPr>
          <a:xfrm>
            <a:off x="304800" y="1074737"/>
            <a:ext cx="8686800" cy="5549568"/>
          </a:xfrm>
        </p:spPr>
        <p:txBody>
          <a:bodyPr>
            <a:noAutofit/>
          </a:bodyPr>
          <a:lstStyle/>
          <a:p>
            <a:pPr marL="0" marR="0" lvl="0" indent="0" algn="just">
              <a:lnSpc>
                <a:spcPct val="150000"/>
              </a:lnSpc>
              <a:spcAft>
                <a:spcPts val="800"/>
              </a:spcAft>
              <a:buNone/>
              <a:tabLst>
                <a:tab pos="457200" algn="l"/>
              </a:tabLst>
            </a:pPr>
            <a:r>
              <a:rPr lang="en-US" sz="2000" b="1" kern="100" dirty="0">
                <a:effectLst/>
                <a:latin typeface="Verdana" panose="020B0604030504040204" pitchFamily="34" charset="0"/>
                <a:ea typeface="Verdana" panose="020B0604030504040204" pitchFamily="34" charset="0"/>
                <a:cs typeface="Times New Roman" panose="02020603050405020304" pitchFamily="18" charset="0"/>
              </a:rPr>
              <a:t>7. Heaven (Tian)</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In Confucian thought, Heaven, or </a:t>
            </a:r>
            <a:r>
              <a:rPr lang="en-US" sz="2000" i="1" kern="100" dirty="0">
                <a:effectLst/>
                <a:latin typeface="Verdana" panose="020B0604030504040204" pitchFamily="34" charset="0"/>
                <a:ea typeface="Verdana" panose="020B0604030504040204" pitchFamily="34" charset="0"/>
                <a:cs typeface="Times New Roman" panose="02020603050405020304" pitchFamily="18" charset="0"/>
              </a:rPr>
              <a:t>Tian</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is a moral force that guides human behavior. Mencius argued that humans should align their actions with Heaven's will, which is evident through the inner moral compass of each person. Heaven provides the moral standards by which rulers and individuals should govern and behave.</a:t>
            </a:r>
          </a:p>
          <a:p>
            <a:pPr marL="0" marR="0" lvl="0" indent="0" algn="just">
              <a:lnSpc>
                <a:spcPct val="150000"/>
              </a:lnSpc>
              <a:spcAft>
                <a:spcPts val="800"/>
              </a:spcAft>
              <a:buNone/>
              <a:tabLst>
                <a:tab pos="457200" algn="l"/>
              </a:tabLst>
            </a:pPr>
            <a:r>
              <a:rPr lang="en-US" sz="2000" b="1" kern="100" dirty="0">
                <a:effectLst/>
                <a:latin typeface="Verdana" panose="020B0604030504040204" pitchFamily="34" charset="0"/>
                <a:ea typeface="Verdana" panose="020B0604030504040204" pitchFamily="34" charset="0"/>
                <a:cs typeface="Times New Roman" panose="02020603050405020304" pitchFamily="18" charset="0"/>
              </a:rPr>
              <a:t>8. Rulers and Leadership</a:t>
            </a:r>
            <a:r>
              <a:rPr lang="en-US" sz="2000" kern="100" dirty="0">
                <a:effectLst/>
                <a:latin typeface="Verdana" panose="020B0604030504040204" pitchFamily="34" charset="0"/>
                <a:ea typeface="Verdana" panose="020B0604030504040204" pitchFamily="34" charset="0"/>
                <a:cs typeface="Times New Roman" panose="02020603050405020304" pitchFamily="18" charset="0"/>
              </a:rPr>
              <a:t>: Confucianism also emphasizes that rulers should govern by example, showing virtues such as benevolence and righteousness. Mencius advocated for benevolent leadership, where rulers act as moral role models rather than relying on force. The moral integrity of the ruler ensures the well-being and harmony of the state.</a:t>
            </a:r>
          </a:p>
          <a:p>
            <a:pPr algn="just">
              <a:lnSpc>
                <a:spcPct val="150000"/>
              </a:lnSpc>
            </a:pPr>
            <a:endParaRPr lang="en-US"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01313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092CE64-56B4-C5C7-C815-E10F8EAD9607}"/>
              </a:ext>
            </a:extLst>
          </p:cNvPr>
          <p:cNvSpPr>
            <a:spLocks noGrp="1"/>
          </p:cNvSpPr>
          <p:nvPr>
            <p:ph type="title"/>
          </p:nvPr>
        </p:nvSpPr>
        <p:spPr>
          <a:xfrm>
            <a:off x="0" y="150812"/>
            <a:ext cx="9144000" cy="687387"/>
          </a:xfrm>
        </p:spPr>
        <p:txBody>
          <a:bodyPr>
            <a:normAutofit/>
          </a:bodyPr>
          <a:lstStyle/>
          <a:p>
            <a:r>
              <a:rPr lang="en-US" b="1" dirty="0">
                <a:effectLst/>
                <a:latin typeface="Calibri" panose="020F0502020204030204" pitchFamily="34" charset="0"/>
                <a:ea typeface="Calibri" panose="020F0502020204030204" pitchFamily="34" charset="0"/>
                <a:cs typeface="Times New Roman" panose="02020603050405020304" pitchFamily="18" charset="0"/>
              </a:rPr>
              <a:t>Confucianism, the belief regarding human</a:t>
            </a:r>
            <a:endParaRPr lang="en-US" dirty="0"/>
          </a:p>
        </p:txBody>
      </p:sp>
      <p:sp>
        <p:nvSpPr>
          <p:cNvPr id="3" name="Content Placeholder 2">
            <a:extLst>
              <a:ext uri="{FF2B5EF4-FFF2-40B4-BE49-F238E27FC236}">
                <a16:creationId xmlns:a16="http://schemas.microsoft.com/office/drawing/2014/main" id="{75BF4BD2-7095-1DEF-9F10-BBC8041E0927}"/>
              </a:ext>
            </a:extLst>
          </p:cNvPr>
          <p:cNvSpPr>
            <a:spLocks noGrp="1"/>
          </p:cNvSpPr>
          <p:nvPr>
            <p:ph idx="1"/>
          </p:nvPr>
        </p:nvSpPr>
        <p:spPr>
          <a:xfrm>
            <a:off x="457200" y="990600"/>
            <a:ext cx="8229600" cy="5135563"/>
          </a:xfrm>
        </p:spPr>
        <p:txBody>
          <a:bodyPr>
            <a:normAutofit/>
          </a:bodyPr>
          <a:lstStyle/>
          <a:p>
            <a:pPr algn="just">
              <a:lnSpc>
                <a:spcPct val="150000"/>
              </a:lnSpc>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In summary, Confucianism holds that human beings are naturally good and capable of moral improvement through education, self-cultivation, and adherence to virtuous relationships. The cultivation of virtues like </a:t>
            </a:r>
            <a:r>
              <a:rPr lang="en-US" sz="2400" i="1" kern="100" dirty="0">
                <a:effectLst/>
                <a:latin typeface="Verdana" panose="020B0604030504040204" pitchFamily="34" charset="0"/>
                <a:ea typeface="Verdana" panose="020B0604030504040204" pitchFamily="34" charset="0"/>
                <a:cs typeface="Times New Roman" panose="02020603050405020304" pitchFamily="18" charset="0"/>
              </a:rPr>
              <a:t>ren</a:t>
            </a: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 (human-heartedness), respect for hierarchy and tradition through </a:t>
            </a:r>
            <a:r>
              <a:rPr lang="en-US" sz="2400" i="1" kern="100" dirty="0">
                <a:effectLst/>
                <a:latin typeface="Verdana" panose="020B0604030504040204" pitchFamily="34" charset="0"/>
                <a:ea typeface="Verdana" panose="020B0604030504040204" pitchFamily="34" charset="0"/>
                <a:cs typeface="Times New Roman" panose="02020603050405020304" pitchFamily="18" charset="0"/>
              </a:rPr>
              <a:t>li</a:t>
            </a: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 (ritual), and the realization of one's role in society contribute to a harmonious and just society.</a:t>
            </a: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356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7BF1F-7A7E-338E-90C0-4DB15996F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5E893-2D3C-9A18-F628-158385E58D15}"/>
              </a:ext>
            </a:extLst>
          </p:cNvPr>
          <p:cNvSpPr>
            <a:spLocks noGrp="1"/>
          </p:cNvSpPr>
          <p:nvPr>
            <p:ph type="ctrTitle"/>
          </p:nvPr>
        </p:nvSpPr>
        <p:spPr>
          <a:xfrm>
            <a:off x="816747" y="1371600"/>
            <a:ext cx="7510506" cy="3213982"/>
          </a:xfrm>
        </p:spPr>
        <p:txBody>
          <a:bodyPr>
            <a:normAutofit/>
          </a:bodyPr>
          <a:lstStyle/>
          <a:p>
            <a:r>
              <a:rPr lang="en-GB" sz="6600" b="1" dirty="0">
                <a:effectLst/>
                <a:latin typeface="Verdana" panose="020B0604030504040204" pitchFamily="34" charset="0"/>
                <a:ea typeface="Verdana" panose="020B0604030504040204" pitchFamily="34" charset="0"/>
                <a:cs typeface="Arial" panose="020B0604020202020204" pitchFamily="34" charset="0"/>
              </a:rPr>
              <a:t>Plight </a:t>
            </a:r>
            <a:br>
              <a:rPr lang="en-GB" sz="6600" b="1" dirty="0">
                <a:effectLst/>
                <a:latin typeface="Verdana" panose="020B0604030504040204" pitchFamily="34" charset="0"/>
                <a:ea typeface="Verdana" panose="020B0604030504040204" pitchFamily="34" charset="0"/>
                <a:cs typeface="Arial" panose="020B0604020202020204" pitchFamily="34" charset="0"/>
              </a:rPr>
            </a:br>
            <a:r>
              <a:rPr lang="en-GB" sz="6600" b="1" dirty="0">
                <a:effectLst/>
                <a:latin typeface="Verdana" panose="020B0604030504040204" pitchFamily="34" charset="0"/>
                <a:ea typeface="Verdana" panose="020B0604030504040204" pitchFamily="34" charset="0"/>
                <a:cs typeface="Arial" panose="020B0604020202020204" pitchFamily="34" charset="0"/>
              </a:rPr>
              <a:t>of </a:t>
            </a:r>
            <a:br>
              <a:rPr lang="en-GB" sz="6600" b="1" dirty="0">
                <a:effectLst/>
                <a:latin typeface="Verdana" panose="020B0604030504040204" pitchFamily="34" charset="0"/>
                <a:ea typeface="Verdana" panose="020B0604030504040204" pitchFamily="34" charset="0"/>
                <a:cs typeface="Arial" panose="020B0604020202020204" pitchFamily="34" charset="0"/>
              </a:rPr>
            </a:br>
            <a:r>
              <a:rPr lang="en-GB" sz="6600" b="1" dirty="0">
                <a:effectLst/>
                <a:latin typeface="Verdana" panose="020B0604030504040204" pitchFamily="34" charset="0"/>
                <a:ea typeface="Verdana" panose="020B0604030504040204" pitchFamily="34" charset="0"/>
                <a:cs typeface="Arial" panose="020B0604020202020204" pitchFamily="34" charset="0"/>
              </a:rPr>
              <a:t>Man</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370141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885DE-F2B5-884B-0164-807BE1AF4E13}"/>
              </a:ext>
            </a:extLst>
          </p:cNvPr>
          <p:cNvSpPr>
            <a:spLocks noGrp="1"/>
          </p:cNvSpPr>
          <p:nvPr>
            <p:ph type="title"/>
          </p:nvPr>
        </p:nvSpPr>
        <p:spPr>
          <a:xfrm>
            <a:off x="152400" y="274638"/>
            <a:ext cx="8534400" cy="1143000"/>
          </a:xfrm>
        </p:spPr>
        <p:txBody>
          <a:bodyPr>
            <a:normAutofit/>
          </a:bodyPr>
          <a:lstStyle/>
          <a:p>
            <a:pPr algn="ctr"/>
            <a:r>
              <a:rPr lang="en-GB" sz="2900" b="1" dirty="0">
                <a:effectLst/>
                <a:latin typeface="Verdana" panose="020B0604030504040204" pitchFamily="34" charset="0"/>
                <a:ea typeface="Verdana" panose="020B0604030504040204" pitchFamily="34" charset="0"/>
                <a:cs typeface="Arial" panose="020B0604020202020204" pitchFamily="34" charset="0"/>
              </a:rPr>
              <a:t> The Plight of Man and the Power of God</a:t>
            </a:r>
            <a:endParaRPr lang="en-US" sz="29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DB070C4A-2F7C-D8C8-0C39-B77BA37096BA}"/>
              </a:ext>
            </a:extLst>
          </p:cNvPr>
          <p:cNvSpPr>
            <a:spLocks noGrp="1"/>
          </p:cNvSpPr>
          <p:nvPr>
            <p:ph idx="1"/>
          </p:nvPr>
        </p:nvSpPr>
        <p:spPr>
          <a:xfrm>
            <a:off x="457200" y="1600200"/>
            <a:ext cx="8229600" cy="4800600"/>
          </a:xfrm>
        </p:spPr>
        <p:txBody>
          <a:bodyPr>
            <a:normAutofit lnSpcReduction="10000"/>
          </a:bodyPr>
          <a:lstStyle/>
          <a:p>
            <a:pPr marL="0" indent="0" algn="just">
              <a:lnSpc>
                <a:spcPct val="150000"/>
              </a:lnSpc>
              <a:buNone/>
            </a:pPr>
            <a:r>
              <a:rPr lang="en-GB" sz="2400" dirty="0">
                <a:effectLst/>
                <a:latin typeface="Verdana" panose="020B0604030504040204" pitchFamily="34" charset="0"/>
                <a:ea typeface="Verdana" panose="020B0604030504040204" pitchFamily="34" charset="0"/>
                <a:cs typeface="Calibri" panose="020F0502020204030204" pitchFamily="34" charset="0"/>
              </a:rPr>
              <a:t>“Jesus said to him, ‘Rise, take up your bed and walk.’ And immediately the man was made well, took up his bed, and walked.” John 5:8-9</a:t>
            </a:r>
            <a:r>
              <a:rPr lang="en-GB" sz="2400" dirty="0">
                <a:effectLst/>
                <a:latin typeface="Verdana" panose="020B0604030504040204" pitchFamily="34" charset="0"/>
                <a:ea typeface="Verdana" panose="020B0604030504040204" pitchFamily="34" charset="0"/>
                <a:cs typeface="Arial" panose="020B0604020202020204" pitchFamily="34" charset="0"/>
              </a:rPr>
              <a:t>Many of us were taught right from wrong at an early age. And we generally believed what we heard. But sometimes we look at the world and think, That looks so fun! I wish I could do that. But I’m a Christian, so I’m missing out. Don’t be deceived. Sin always produces unhappy results.</a:t>
            </a:r>
            <a:endParaRPr lang="en-US" sz="2400" dirty="0">
              <a:effectLst/>
              <a:latin typeface="Verdana" panose="020B0604030504040204" pitchFamily="34" charset="0"/>
              <a:ea typeface="Verdana" panose="020B0604030504040204" pitchFamily="34" charset="0"/>
              <a:cs typeface="Arial" panose="020B060402020202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717502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A8E56-82CB-1955-ECAE-70D0E63ED62C}"/>
              </a:ext>
            </a:extLst>
          </p:cNvPr>
          <p:cNvSpPr>
            <a:spLocks noGrp="1"/>
          </p:cNvSpPr>
          <p:nvPr>
            <p:ph type="title"/>
          </p:nvPr>
        </p:nvSpPr>
        <p:spPr>
          <a:xfrm>
            <a:off x="21771" y="164646"/>
            <a:ext cx="8229600" cy="563562"/>
          </a:xfrm>
        </p:spPr>
        <p:txBody>
          <a:bodyPr>
            <a:normAutofit fontScale="90000"/>
          </a:bodyPr>
          <a:lstStyle/>
          <a:p>
            <a:pPr algn="l"/>
            <a:r>
              <a:rPr lang="en-GB" sz="4400" b="1" dirty="0">
                <a:effectLst/>
                <a:latin typeface="Verdana" panose="020B0604030504040204" pitchFamily="34" charset="0"/>
                <a:ea typeface="Verdana" panose="020B0604030504040204" pitchFamily="34" charset="0"/>
                <a:cs typeface="Arial" panose="020B0604020202020204" pitchFamily="34" charset="0"/>
              </a:rPr>
              <a:t> </a:t>
            </a:r>
            <a:r>
              <a:rPr lang="en-GB" sz="3200" b="1" dirty="0">
                <a:effectLst/>
                <a:latin typeface="Verdana" panose="020B0604030504040204" pitchFamily="34" charset="0"/>
                <a:ea typeface="Verdana" panose="020B0604030504040204" pitchFamily="34" charset="0"/>
                <a:cs typeface="Arial" panose="020B0604020202020204" pitchFamily="34" charset="0"/>
              </a:rPr>
              <a:t>The Plight </a:t>
            </a:r>
            <a:r>
              <a:rPr lang="en-GB" sz="4400" b="1" dirty="0">
                <a:effectLst/>
                <a:latin typeface="Verdana" panose="020B0604030504040204" pitchFamily="34" charset="0"/>
                <a:ea typeface="Verdana" panose="020B0604030504040204" pitchFamily="34" charset="0"/>
                <a:cs typeface="Arial" panose="020B0604020202020204" pitchFamily="34" charset="0"/>
              </a:rPr>
              <a:t>. . . </a:t>
            </a:r>
            <a:endParaRPr lang="en-US" dirty="0"/>
          </a:p>
        </p:txBody>
      </p:sp>
      <p:sp>
        <p:nvSpPr>
          <p:cNvPr id="3" name="Content Placeholder 2">
            <a:extLst>
              <a:ext uri="{FF2B5EF4-FFF2-40B4-BE49-F238E27FC236}">
                <a16:creationId xmlns:a16="http://schemas.microsoft.com/office/drawing/2014/main" id="{0FCCC528-E57D-444E-C78C-C0D3618A4AA0}"/>
              </a:ext>
            </a:extLst>
          </p:cNvPr>
          <p:cNvSpPr>
            <a:spLocks noGrp="1"/>
          </p:cNvSpPr>
          <p:nvPr>
            <p:ph idx="1"/>
          </p:nvPr>
        </p:nvSpPr>
        <p:spPr>
          <a:xfrm>
            <a:off x="457200" y="1066800"/>
            <a:ext cx="8229600" cy="5257800"/>
          </a:xfrm>
        </p:spPr>
        <p:txBody>
          <a:bodyPr>
            <a:normAutofit/>
          </a:bodyPr>
          <a:lstStyle/>
          <a:p>
            <a:pPr algn="just">
              <a:lnSpc>
                <a:spcPct val="150000"/>
              </a:lnSpc>
            </a:pPr>
            <a:r>
              <a:rPr lang="en-GB" sz="2400" dirty="0">
                <a:effectLst/>
                <a:latin typeface="Verdana" panose="020B0604030504040204" pitchFamily="34" charset="0"/>
                <a:ea typeface="Verdana" panose="020B0604030504040204" pitchFamily="34" charset="0"/>
                <a:cs typeface="Arial" panose="020B0604020202020204" pitchFamily="34" charset="0"/>
              </a:rPr>
              <a:t>Jesus had ministered for a while in Galilee, but now He travelled once again to Jerusalem to attend a feast. As He walked near the temple one day, He passed a pool called Bethesda, around which was several other pools and five covered porches. In this beautiful place, multitudes of infirm people lay, hoping to be delivered of their maladies.</a:t>
            </a:r>
            <a:endParaRPr lang="en-US" sz="2400" dirty="0">
              <a:effectLst/>
              <a:latin typeface="Verdana" panose="020B0604030504040204" pitchFamily="34" charset="0"/>
              <a:ea typeface="Verdana" panose="020B0604030504040204" pitchFamily="34" charset="0"/>
              <a:cs typeface="Arial" panose="020B060402020202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36126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0D372-B6AF-E59A-CAAE-1975863B0B69}"/>
              </a:ext>
            </a:extLst>
          </p:cNvPr>
          <p:cNvSpPr>
            <a:spLocks noGrp="1"/>
          </p:cNvSpPr>
          <p:nvPr>
            <p:ph type="title"/>
          </p:nvPr>
        </p:nvSpPr>
        <p:spPr>
          <a:xfrm>
            <a:off x="0" y="152400"/>
            <a:ext cx="8229600" cy="258762"/>
          </a:xfrm>
        </p:spPr>
        <p:txBody>
          <a:bodyPr>
            <a:noAutofit/>
          </a:bodyPr>
          <a:lstStyle/>
          <a:p>
            <a:pPr algn="l"/>
            <a:r>
              <a:rPr lang="en-GB" sz="2900" b="1" dirty="0">
                <a:effectLst/>
                <a:latin typeface="Verdana" panose="020B0604030504040204" pitchFamily="34" charset="0"/>
                <a:ea typeface="Verdana" panose="020B0604030504040204" pitchFamily="34" charset="0"/>
                <a:cs typeface="Arial" panose="020B0604020202020204" pitchFamily="34" charset="0"/>
              </a:rPr>
              <a:t>The Plight . . .</a:t>
            </a:r>
            <a:endParaRPr lang="en-US" sz="2900" dirty="0"/>
          </a:p>
        </p:txBody>
      </p:sp>
      <p:sp>
        <p:nvSpPr>
          <p:cNvPr id="3" name="Content Placeholder 2">
            <a:extLst>
              <a:ext uri="{FF2B5EF4-FFF2-40B4-BE49-F238E27FC236}">
                <a16:creationId xmlns:a16="http://schemas.microsoft.com/office/drawing/2014/main" id="{F396B4E0-6A3C-9C43-E058-04F6C52BB7B7}"/>
              </a:ext>
            </a:extLst>
          </p:cNvPr>
          <p:cNvSpPr>
            <a:spLocks noGrp="1"/>
          </p:cNvSpPr>
          <p:nvPr>
            <p:ph idx="1"/>
          </p:nvPr>
        </p:nvSpPr>
        <p:spPr>
          <a:xfrm>
            <a:off x="457200" y="762000"/>
            <a:ext cx="8229600" cy="5943600"/>
          </a:xfrm>
        </p:spPr>
        <p:txBody>
          <a:bodyPr>
            <a:normAutofit/>
          </a:bodyPr>
          <a:lstStyle/>
          <a:p>
            <a:pPr marL="0" marR="0" indent="0" algn="just">
              <a:lnSpc>
                <a:spcPct val="150000"/>
              </a:lnSpc>
              <a:spcAft>
                <a:spcPts val="1000"/>
              </a:spcAft>
              <a:buNone/>
            </a:pPr>
            <a:r>
              <a:rPr lang="en-GB" sz="2000" b="1" dirty="0">
                <a:effectLst/>
                <a:latin typeface="Verdana" panose="020B0604030504040204" pitchFamily="34" charset="0"/>
                <a:ea typeface="DengXian" panose="020B0503020204020204" pitchFamily="2" charset="-122"/>
                <a:cs typeface="Arial" panose="020B0604020202020204" pitchFamily="34" charset="0"/>
              </a:rPr>
              <a:t>Why So Much Trouble?</a:t>
            </a:r>
            <a:endParaRPr lang="en-US" sz="2000" b="1" dirty="0">
              <a:effectLst/>
              <a:latin typeface="Calibri" panose="020F0502020204030204" pitchFamily="34" charset="0"/>
              <a:ea typeface="DengXian" panose="020B0503020204020204" pitchFamily="2" charset="-122"/>
              <a:cs typeface="Arial" panose="020B0604020202020204" pitchFamily="34" charset="0"/>
            </a:endParaRPr>
          </a:p>
          <a:p>
            <a:pPr marL="0" marR="0" algn="just">
              <a:lnSpc>
                <a:spcPct val="150000"/>
              </a:lnSpc>
              <a:spcAft>
                <a:spcPts val="1000"/>
              </a:spcAft>
            </a:pPr>
            <a:r>
              <a:rPr lang="en-GB" sz="2000" dirty="0">
                <a:effectLst/>
                <a:latin typeface="Verdana" panose="020B0604030504040204" pitchFamily="34" charset="0"/>
                <a:ea typeface="DengXian" panose="020B0503020204020204" pitchFamily="2" charset="-122"/>
                <a:cs typeface="Arial" panose="020B0604020202020204" pitchFamily="34" charset="0"/>
              </a:rPr>
              <a:t>Sin has brought a great deal of misery into the world. Blindness, lameness, paralysis, disaster—every harmful or hateful thing has its origin in sin. People often ask, “If God is love, why is there so much trouble in the world?” God created all things good, but man’s rebellion against God brought sin into the world, and painful things resulted—war, famine, disease, natural disaster. One day God will remove sin from the world. What a glorious day that will be! Beside the pool Jesus saw a man who had an infirmity for thirty-eight years. When He saw that the man had been ill for so long, Jesus said to him, “Do you want to be made well?” (John 5:6).</a:t>
            </a:r>
            <a:endParaRPr lang="en-US" sz="2000" dirty="0">
              <a:effectLst/>
              <a:latin typeface="Calibri" panose="020F0502020204030204" pitchFamily="34" charset="0"/>
              <a:ea typeface="DengXian" panose="020B0503020204020204" pitchFamily="2" charset="-122"/>
              <a:cs typeface="Arial" panose="020B0604020202020204" pitchFamily="34" charset="0"/>
            </a:endParaRPr>
          </a:p>
          <a:p>
            <a:pPr>
              <a:lnSpc>
                <a:spcPct val="150000"/>
              </a:lnSpc>
            </a:pPr>
            <a:endParaRPr lang="en-US" sz="2000" dirty="0"/>
          </a:p>
        </p:txBody>
      </p:sp>
    </p:spTree>
    <p:extLst>
      <p:ext uri="{BB962C8B-B14F-4D97-AF65-F5344CB8AC3E}">
        <p14:creationId xmlns:p14="http://schemas.microsoft.com/office/powerpoint/2010/main" val="3437180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FA098B-633B-213B-12FB-90412456CC10}"/>
              </a:ext>
            </a:extLst>
          </p:cNvPr>
          <p:cNvSpPr>
            <a:spLocks noGrp="1"/>
          </p:cNvSpPr>
          <p:nvPr>
            <p:ph type="title"/>
          </p:nvPr>
        </p:nvSpPr>
        <p:spPr>
          <a:xfrm>
            <a:off x="36286" y="14514"/>
            <a:ext cx="8229600" cy="457199"/>
          </a:xfrm>
        </p:spPr>
        <p:txBody>
          <a:bodyPr>
            <a:noAutofit/>
          </a:bodyPr>
          <a:lstStyle/>
          <a:p>
            <a:pPr algn="l"/>
            <a:r>
              <a:rPr lang="en-GB" sz="2900" b="1" dirty="0">
                <a:effectLst/>
                <a:latin typeface="Verdana" panose="020B0604030504040204" pitchFamily="34" charset="0"/>
                <a:ea typeface="Verdana" panose="020B0604030504040204" pitchFamily="34" charset="0"/>
                <a:cs typeface="Arial" panose="020B0604020202020204" pitchFamily="34" charset="0"/>
              </a:rPr>
              <a:t>The Plight . . .</a:t>
            </a:r>
            <a:endParaRPr lang="en-US" sz="2900" dirty="0"/>
          </a:p>
        </p:txBody>
      </p:sp>
      <p:sp>
        <p:nvSpPr>
          <p:cNvPr id="3" name="Content Placeholder 2">
            <a:extLst>
              <a:ext uri="{FF2B5EF4-FFF2-40B4-BE49-F238E27FC236}">
                <a16:creationId xmlns:a16="http://schemas.microsoft.com/office/drawing/2014/main" id="{D2CA019E-430D-978A-1AFB-41CCB1F41B47}"/>
              </a:ext>
            </a:extLst>
          </p:cNvPr>
          <p:cNvSpPr>
            <a:spLocks noGrp="1"/>
          </p:cNvSpPr>
          <p:nvPr>
            <p:ph idx="1"/>
          </p:nvPr>
        </p:nvSpPr>
        <p:spPr>
          <a:xfrm>
            <a:off x="457200" y="909638"/>
            <a:ext cx="8229600" cy="5948362"/>
          </a:xfrm>
        </p:spPr>
        <p:txBody>
          <a:bodyPr>
            <a:normAutofit fontScale="92500"/>
          </a:bodyPr>
          <a:lstStyle/>
          <a:p>
            <a:pPr algn="just">
              <a:lnSpc>
                <a:spcPct val="150000"/>
              </a:lnSpc>
            </a:pPr>
            <a:r>
              <a:rPr lang="en-GB" sz="2400" dirty="0">
                <a:effectLst/>
                <a:latin typeface="Verdana" panose="020B0604030504040204" pitchFamily="34" charset="0"/>
                <a:ea typeface="Verdana" panose="020B0604030504040204" pitchFamily="34" charset="0"/>
                <a:cs typeface="Arial" panose="020B0604020202020204" pitchFamily="34" charset="0"/>
              </a:rPr>
              <a:t>This man had been forgotten and overlooked in the multitude of sick people. But Jesus noticed him. He saw his plight. Jesus said to the man, “Rise, take up your bed and walk” (John 5:8). Immediately the man was healed, and he picked up his bed and walked.</a:t>
            </a:r>
          </a:p>
          <a:p>
            <a:pPr marL="0" marR="0" indent="0">
              <a:lnSpc>
                <a:spcPct val="113000"/>
              </a:lnSpc>
              <a:spcAft>
                <a:spcPts val="1000"/>
              </a:spcAft>
              <a:buNone/>
            </a:pPr>
            <a:r>
              <a:rPr lang="en-GB" sz="1800" b="1" dirty="0">
                <a:effectLst/>
                <a:latin typeface="Calibri" panose="020F0502020204030204" pitchFamily="34" charset="0"/>
                <a:ea typeface="DengXian" panose="020B0503020204020204" pitchFamily="2" charset="-122"/>
                <a:cs typeface="Arial" panose="020B0604020202020204" pitchFamily="34" charset="0"/>
              </a:rPr>
              <a:t>We Can Relate</a:t>
            </a:r>
            <a:endParaRPr lang="en-US" sz="1800" b="1" dirty="0">
              <a:effectLst/>
              <a:latin typeface="Calibri" panose="020F0502020204030204" pitchFamily="34" charset="0"/>
              <a:ea typeface="DengXian" panose="020B0503020204020204" pitchFamily="2" charset="-122"/>
              <a:cs typeface="Arial" panose="020B0604020202020204" pitchFamily="34" charset="0"/>
            </a:endParaRPr>
          </a:p>
          <a:p>
            <a:pPr marL="0" marR="0">
              <a:lnSpc>
                <a:spcPct val="150000"/>
              </a:lnSpc>
              <a:spcAft>
                <a:spcPts val="1000"/>
              </a:spcAft>
            </a:pPr>
            <a:r>
              <a:rPr lang="en-GB" sz="1800" dirty="0">
                <a:effectLst/>
                <a:latin typeface="Calibri" panose="020F0502020204030204" pitchFamily="34" charset="0"/>
                <a:ea typeface="DengXian" panose="020B0503020204020204" pitchFamily="2" charset="-122"/>
                <a:cs typeface="Arial" panose="020B0604020202020204" pitchFamily="34" charset="0"/>
              </a:rPr>
              <a:t> </a:t>
            </a:r>
            <a:r>
              <a:rPr lang="en-GB" sz="2400" dirty="0">
                <a:latin typeface="Verdana" panose="020B0604030504040204" pitchFamily="34" charset="0"/>
                <a:ea typeface="Verdana" panose="020B0604030504040204" pitchFamily="34" charset="0"/>
                <a:cs typeface="Arial" panose="020B0604020202020204" pitchFamily="34" charset="0"/>
              </a:rPr>
              <a:t>Most of us can relate to this man’s situation. We may feel neglected or overlooked. But Jesus sees us. He knows the trouble we’re in. Jesus never sees one of His people in distress without feeling compassion and offering help.</a:t>
            </a:r>
            <a:endParaRPr lang="en-US" sz="2400" dirty="0">
              <a:latin typeface="Verdana" panose="020B0604030504040204" pitchFamily="34" charset="0"/>
              <a:ea typeface="Verdana" panose="020B0604030504040204" pitchFamily="34" charset="0"/>
              <a:cs typeface="Arial" panose="020B0604020202020204" pitchFamily="34" charset="0"/>
            </a:endParaRPr>
          </a:p>
          <a:p>
            <a:pPr algn="just">
              <a:lnSpc>
                <a:spcPct val="150000"/>
              </a:lnSpc>
            </a:pPr>
            <a:endParaRPr lang="en-US" sz="2400" dirty="0">
              <a:effectLst/>
              <a:latin typeface="Verdana" panose="020B0604030504040204" pitchFamily="34" charset="0"/>
              <a:ea typeface="Verdana" panose="020B060403050404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296426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63583D-0798-169C-CD65-1DDC8ACE53D2}"/>
              </a:ext>
            </a:extLst>
          </p:cNvPr>
          <p:cNvSpPr>
            <a:spLocks noGrp="1"/>
          </p:cNvSpPr>
          <p:nvPr>
            <p:ph type="title"/>
          </p:nvPr>
        </p:nvSpPr>
        <p:spPr>
          <a:xfrm>
            <a:off x="32657" y="152400"/>
            <a:ext cx="8229600" cy="334962"/>
          </a:xfrm>
        </p:spPr>
        <p:txBody>
          <a:bodyPr>
            <a:noAutofit/>
          </a:bodyPr>
          <a:lstStyle/>
          <a:p>
            <a:pPr algn="l"/>
            <a:r>
              <a:rPr lang="en-GB" sz="2900" b="1" dirty="0">
                <a:effectLst/>
                <a:latin typeface="Verdana" panose="020B0604030504040204" pitchFamily="34" charset="0"/>
                <a:ea typeface="Verdana" panose="020B0604030504040204" pitchFamily="34" charset="0"/>
                <a:cs typeface="Arial" panose="020B0604020202020204" pitchFamily="34" charset="0"/>
              </a:rPr>
              <a:t>The Plight . . .</a:t>
            </a:r>
            <a:endParaRPr lang="en-US" sz="2900" dirty="0"/>
          </a:p>
        </p:txBody>
      </p:sp>
      <p:sp>
        <p:nvSpPr>
          <p:cNvPr id="3" name="Content Placeholder 2">
            <a:extLst>
              <a:ext uri="{FF2B5EF4-FFF2-40B4-BE49-F238E27FC236}">
                <a16:creationId xmlns:a16="http://schemas.microsoft.com/office/drawing/2014/main" id="{CCF4DB05-31AD-8C5B-8183-615F473CBCC5}"/>
              </a:ext>
            </a:extLst>
          </p:cNvPr>
          <p:cNvSpPr>
            <a:spLocks noGrp="1"/>
          </p:cNvSpPr>
          <p:nvPr>
            <p:ph idx="1"/>
          </p:nvPr>
        </p:nvSpPr>
        <p:spPr>
          <a:xfrm>
            <a:off x="457200" y="762000"/>
            <a:ext cx="8229600" cy="5364163"/>
          </a:xfrm>
        </p:spPr>
        <p:txBody>
          <a:bodyPr>
            <a:normAutofit fontScale="92500"/>
          </a:bodyPr>
          <a:lstStyle/>
          <a:p>
            <a:pPr algn="just">
              <a:lnSpc>
                <a:spcPct val="150000"/>
              </a:lnSpc>
            </a:pPr>
            <a:r>
              <a:rPr lang="en-GB" sz="2400" dirty="0">
                <a:effectLst/>
                <a:latin typeface="Verdana" panose="020B0604030504040204" pitchFamily="34" charset="0"/>
                <a:ea typeface="Verdana" panose="020B0604030504040204" pitchFamily="34" charset="0"/>
                <a:cs typeface="Arial" panose="020B0604020202020204" pitchFamily="34" charset="0"/>
              </a:rPr>
              <a:t>But here’s the interesting thing. Later on Jesus found this man in the temple, and He said to him, “See, you have been made well. Sin no more, lest a worse thing come upon you” (John 5:14). Every physical infirmity is related to sin, either directly or indirectly, because sickness was a result of sin entering the world. Jesus’ warning to this man tells us that his sickness was directly related to sin. In other words, it was sin that had gotten this man into trouble in the first place. For the majority of his life, he had been eaten up by sin.</a:t>
            </a:r>
            <a:endParaRPr lang="en-US" sz="2400" dirty="0">
              <a:effectLst/>
              <a:latin typeface="Verdana" panose="020B0604030504040204" pitchFamily="34" charset="0"/>
              <a:ea typeface="Verdana" panose="020B0604030504040204" pitchFamily="34" charset="0"/>
              <a:cs typeface="Arial" panose="020B060402020202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430799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F53BF1-06EA-5D25-8C75-DB3922E950A2}"/>
              </a:ext>
            </a:extLst>
          </p:cNvPr>
          <p:cNvSpPr>
            <a:spLocks noGrp="1"/>
          </p:cNvSpPr>
          <p:nvPr>
            <p:ph type="title"/>
          </p:nvPr>
        </p:nvSpPr>
        <p:spPr>
          <a:xfrm>
            <a:off x="228600" y="160337"/>
            <a:ext cx="8229600" cy="1143000"/>
          </a:xfrm>
        </p:spPr>
        <p:txBody>
          <a:bodyPr>
            <a:noAutofit/>
          </a:bodyPr>
          <a:lstStyle/>
          <a:p>
            <a:pPr algn="l"/>
            <a:r>
              <a:rPr lang="en-GB" sz="2900" b="1" dirty="0">
                <a:effectLst/>
                <a:latin typeface="Verdana" panose="020B0604030504040204" pitchFamily="34" charset="0"/>
                <a:ea typeface="Verdana" panose="020B0604030504040204" pitchFamily="34" charset="0"/>
                <a:cs typeface="Arial" panose="020B0604020202020204" pitchFamily="34" charset="0"/>
              </a:rPr>
              <a:t>The Plight . . .</a:t>
            </a:r>
            <a:endParaRPr lang="en-US" sz="2900" dirty="0"/>
          </a:p>
        </p:txBody>
      </p:sp>
      <p:sp>
        <p:nvSpPr>
          <p:cNvPr id="3" name="Content Placeholder 2">
            <a:extLst>
              <a:ext uri="{FF2B5EF4-FFF2-40B4-BE49-F238E27FC236}">
                <a16:creationId xmlns:a16="http://schemas.microsoft.com/office/drawing/2014/main" id="{A0064937-C8EF-CAD4-A0DB-4BD0DBFC3D4E}"/>
              </a:ext>
            </a:extLst>
          </p:cNvPr>
          <p:cNvSpPr>
            <a:spLocks noGrp="1"/>
          </p:cNvSpPr>
          <p:nvPr>
            <p:ph idx="1"/>
          </p:nvPr>
        </p:nvSpPr>
        <p:spPr>
          <a:xfrm>
            <a:off x="457200" y="1447800"/>
            <a:ext cx="8229600" cy="4678363"/>
          </a:xfrm>
        </p:spPr>
        <p:txBody>
          <a:bodyPr>
            <a:normAutofit/>
          </a:bodyPr>
          <a:lstStyle/>
          <a:p>
            <a:pPr algn="just">
              <a:lnSpc>
                <a:spcPct val="150000"/>
              </a:lnSpc>
            </a:pPr>
            <a:r>
              <a:rPr lang="en-GB" sz="2400" dirty="0">
                <a:effectLst/>
                <a:latin typeface="Calibri" panose="020F0502020204030204" pitchFamily="34" charset="0"/>
                <a:ea typeface="DengXian" panose="020B0503020204020204" pitchFamily="2" charset="-122"/>
                <a:cs typeface="Arial" panose="020B0604020202020204" pitchFamily="34" charset="0"/>
              </a:rPr>
              <a:t>Sometimes when it seems that God delays in helping us, it’s because of sin in our lives. Our trials are not always the direct result of our own sin, of course. But when they are, the only way to deal with the trouble is to deal with the sin—to repent.</a:t>
            </a:r>
            <a:endParaRPr lang="en-US" sz="2400" dirty="0">
              <a:effectLst/>
              <a:latin typeface="Calibri" panose="020F0502020204030204" pitchFamily="34" charset="0"/>
              <a:ea typeface="DengXian" panose="020B0503020204020204" pitchFamily="2" charset="-122"/>
              <a:cs typeface="Arial" panose="020B0604020202020204" pitchFamily="34" charset="0"/>
            </a:endParaRPr>
          </a:p>
          <a:p>
            <a:pPr algn="just">
              <a:lnSpc>
                <a:spcPct val="150000"/>
              </a:lnSpc>
            </a:pPr>
            <a:endParaRPr lang="en-US" sz="2400" dirty="0"/>
          </a:p>
        </p:txBody>
      </p:sp>
    </p:spTree>
    <p:extLst>
      <p:ext uri="{BB962C8B-B14F-4D97-AF65-F5344CB8AC3E}">
        <p14:creationId xmlns:p14="http://schemas.microsoft.com/office/powerpoint/2010/main" val="39792402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C79F0C-EE7D-E027-4DFF-B2106BE9696B}"/>
              </a:ext>
            </a:extLst>
          </p:cNvPr>
          <p:cNvSpPr>
            <a:spLocks noGrp="1"/>
          </p:cNvSpPr>
          <p:nvPr>
            <p:ph idx="1"/>
          </p:nvPr>
        </p:nvSpPr>
        <p:spPr>
          <a:xfrm>
            <a:off x="457200" y="1219200"/>
            <a:ext cx="8229600" cy="4983162"/>
          </a:xfrm>
        </p:spPr>
        <p:txBody>
          <a:bodyPr>
            <a:normAutofit fontScale="92500"/>
          </a:bodyPr>
          <a:lstStyle/>
          <a:p>
            <a:pPr marL="0" marR="0" indent="0" algn="just">
              <a:lnSpc>
                <a:spcPct val="150000"/>
              </a:lnSpc>
              <a:spcAft>
                <a:spcPts val="1000"/>
              </a:spcAft>
              <a:buNone/>
            </a:pPr>
            <a:r>
              <a:rPr lang="en-GB" sz="2400" b="1" dirty="0">
                <a:effectLst/>
                <a:latin typeface="Calibri" panose="020F0502020204030204" pitchFamily="34" charset="0"/>
                <a:ea typeface="DengXian" panose="020B0503020204020204" pitchFamily="2" charset="-122"/>
                <a:cs typeface="Arial" panose="020B0604020202020204" pitchFamily="34" charset="0"/>
              </a:rPr>
              <a:t>Trust Jesus to Take Over </a:t>
            </a:r>
            <a:endParaRPr lang="en-US" sz="2400" b="1" dirty="0">
              <a:effectLst/>
              <a:latin typeface="Calibri" panose="020F0502020204030204" pitchFamily="34" charset="0"/>
              <a:ea typeface="DengXian" panose="020B0503020204020204" pitchFamily="2" charset="-122"/>
              <a:cs typeface="Arial" panose="020B0604020202020204" pitchFamily="34" charset="0"/>
            </a:endParaRPr>
          </a:p>
          <a:p>
            <a:pPr marL="0" marR="0" algn="just">
              <a:lnSpc>
                <a:spcPct val="150000"/>
              </a:lnSpc>
              <a:spcAft>
                <a:spcPts val="1000"/>
              </a:spcAft>
            </a:pPr>
            <a:r>
              <a:rPr lang="en-GB" sz="2400" dirty="0">
                <a:effectLst/>
                <a:latin typeface="Calibri" panose="020F0502020204030204" pitchFamily="34" charset="0"/>
                <a:ea typeface="DengXian" panose="020B0503020204020204" pitchFamily="2" charset="-122"/>
                <a:cs typeface="Arial" panose="020B0604020202020204" pitchFamily="34" charset="0"/>
              </a:rPr>
              <a:t>What about when our trouble isn’t caused directly by sin but simply because we live in a fallen world? Will Jesus deliver us? Jesus chose to heal the man by the pool, but God doesn’t heal every physical affliction. However, we can count on the fact that God will take care of us spiritually, which is better. When we are in a state of spiritual well-being, everything else will be put in right order. We can absolutely depend on God for that kind of health.</a:t>
            </a:r>
            <a:endParaRPr lang="en-US" sz="2400" dirty="0">
              <a:effectLst/>
              <a:latin typeface="Calibri" panose="020F0502020204030204" pitchFamily="34" charset="0"/>
              <a:ea typeface="DengXian" panose="020B0503020204020204" pitchFamily="2" charset="-122"/>
              <a:cs typeface="Arial" panose="020B0604020202020204" pitchFamily="34" charset="0"/>
            </a:endParaRPr>
          </a:p>
          <a:p>
            <a:pPr algn="just">
              <a:lnSpc>
                <a:spcPct val="150000"/>
              </a:lnSpc>
            </a:pPr>
            <a:endParaRPr lang="en-US" sz="2400" dirty="0"/>
          </a:p>
        </p:txBody>
      </p:sp>
      <p:sp>
        <p:nvSpPr>
          <p:cNvPr id="4" name="Title 1">
            <a:extLst>
              <a:ext uri="{FF2B5EF4-FFF2-40B4-BE49-F238E27FC236}">
                <a16:creationId xmlns:a16="http://schemas.microsoft.com/office/drawing/2014/main" id="{EB685E77-123D-4CED-CB66-2F642D81C74E}"/>
              </a:ext>
            </a:extLst>
          </p:cNvPr>
          <p:cNvSpPr txBox="1">
            <a:spLocks/>
          </p:cNvSpPr>
          <p:nvPr/>
        </p:nvSpPr>
        <p:spPr>
          <a:xfrm>
            <a:off x="32657" y="274638"/>
            <a:ext cx="8229600" cy="3349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2900" b="1" dirty="0">
                <a:latin typeface="Verdana" panose="020B0604030504040204" pitchFamily="34" charset="0"/>
                <a:ea typeface="Verdana" panose="020B0604030504040204" pitchFamily="34" charset="0"/>
                <a:cs typeface="Arial" panose="020B0604020202020204" pitchFamily="34" charset="0"/>
              </a:rPr>
              <a:t>The Plight . . .</a:t>
            </a:r>
            <a:endParaRPr lang="en-US" sz="2900" dirty="0"/>
          </a:p>
        </p:txBody>
      </p:sp>
    </p:spTree>
    <p:extLst>
      <p:ext uri="{BB962C8B-B14F-4D97-AF65-F5344CB8AC3E}">
        <p14:creationId xmlns:p14="http://schemas.microsoft.com/office/powerpoint/2010/main" val="3615748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538A4-809D-1285-EDB8-252C2CA5CD32}"/>
              </a:ext>
            </a:extLst>
          </p:cNvPr>
          <p:cNvSpPr>
            <a:spLocks noGrp="1"/>
          </p:cNvSpPr>
          <p:nvPr>
            <p:ph idx="1"/>
          </p:nvPr>
        </p:nvSpPr>
        <p:spPr>
          <a:xfrm>
            <a:off x="609600" y="1524000"/>
            <a:ext cx="8229600" cy="4525963"/>
          </a:xfrm>
        </p:spPr>
        <p:txBody>
          <a:bodyPr>
            <a:noAutofit/>
          </a:bodyPr>
          <a:lstStyle/>
          <a:p>
            <a:pPr marL="0" marR="0" algn="just">
              <a:lnSpc>
                <a:spcPct val="150000"/>
              </a:lnSpc>
              <a:spcAft>
                <a:spcPts val="1000"/>
              </a:spcAft>
            </a:pPr>
            <a:r>
              <a:rPr lang="en-GB" sz="2400" dirty="0">
                <a:effectLst/>
                <a:latin typeface="Verdana" panose="020B0604030504040204" pitchFamily="34" charset="0"/>
                <a:ea typeface="Verdana" panose="020B0604030504040204" pitchFamily="34" charset="0"/>
                <a:cs typeface="Arial" panose="020B0604020202020204" pitchFamily="34" charset="0"/>
              </a:rPr>
              <a:t>The plight of man is sin, and the power of God can make us whole. We don’t know whether or not God will take away our trials, but He promises us that things will be well with our souls. We can lay hold of that.</a:t>
            </a:r>
            <a:endParaRPr lang="en-US" sz="2400" dirty="0">
              <a:effectLst/>
              <a:latin typeface="Verdana" panose="020B0604030504040204" pitchFamily="34" charset="0"/>
              <a:ea typeface="Verdana" panose="020B0604030504040204" pitchFamily="34" charset="0"/>
              <a:cs typeface="Arial" panose="020B0604020202020204" pitchFamily="34" charset="0"/>
            </a:endParaRPr>
          </a:p>
          <a:p>
            <a:pPr marL="0" marR="0" algn="just">
              <a:lnSpc>
                <a:spcPct val="150000"/>
              </a:lnSpc>
              <a:spcAft>
                <a:spcPts val="1000"/>
              </a:spcAft>
            </a:pPr>
            <a:r>
              <a:rPr lang="en-GB" sz="2400" dirty="0">
                <a:effectLst/>
                <a:latin typeface="Verdana" panose="020B0604030504040204" pitchFamily="34" charset="0"/>
                <a:ea typeface="Verdana" panose="020B0604030504040204" pitchFamily="34" charset="0"/>
                <a:cs typeface="Arial" panose="020B0604020202020204" pitchFamily="34" charset="0"/>
              </a:rPr>
              <a:t>The same Jesus who saw that man in his desperate situation sees your need and wants to minister to you. Let Him bring health to your spirit. If you have sin in your life, turn away from it. Repent. It’s time to renounce it and say, “Lord, I want to follow You.” When Jesus Christ steps into your situation, you can trust Him to take over                      </a:t>
            </a:r>
            <a:endParaRPr lang="en-US" sz="2400" dirty="0">
              <a:effectLst/>
              <a:latin typeface="Verdana" panose="020B0604030504040204" pitchFamily="34" charset="0"/>
              <a:ea typeface="Verdana" panose="020B0604030504040204" pitchFamily="34" charset="0"/>
              <a:cs typeface="Arial" panose="020B0604020202020204" pitchFamily="34"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87447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AD27-B3D1-FE48-05EE-C544B7A28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F78BE-5EFF-16AB-54BE-2066A0722191}"/>
              </a:ext>
            </a:extLst>
          </p:cNvPr>
          <p:cNvSpPr>
            <a:spLocks noGrp="1"/>
          </p:cNvSpPr>
          <p:nvPr>
            <p:ph type="ctrTitle"/>
          </p:nvPr>
        </p:nvSpPr>
        <p:spPr>
          <a:xfrm>
            <a:off x="816747" y="223039"/>
            <a:ext cx="7510506" cy="3213982"/>
          </a:xfrm>
        </p:spPr>
        <p:txBody>
          <a:bodyPr>
            <a:normAutofit/>
          </a:bodyPr>
          <a:lstStyle/>
          <a:p>
            <a:r>
              <a:rPr lang="en-GB" sz="6600" b="1" dirty="0">
                <a:effectLst/>
                <a:latin typeface="Calibri" panose="020F0502020204030204" pitchFamily="34" charset="0"/>
                <a:ea typeface="Times New Roman" panose="02020603050405020304" pitchFamily="18" charset="0"/>
                <a:cs typeface="Times New Roman" panose="02020603050405020304" pitchFamily="18" charset="0"/>
              </a:rPr>
              <a:t>salvation</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73959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BE4A-5454-A8A6-542E-5D8D0B54DFA4}"/>
              </a:ext>
            </a:extLst>
          </p:cNvPr>
          <p:cNvSpPr>
            <a:spLocks noGrp="1"/>
          </p:cNvSpPr>
          <p:nvPr>
            <p:ph type="title"/>
          </p:nvPr>
        </p:nvSpPr>
        <p:spPr>
          <a:xfrm>
            <a:off x="1066800" y="152400"/>
            <a:ext cx="7511473" cy="1312480"/>
          </a:xfrm>
        </p:spPr>
        <p:txBody>
          <a:bodyPr>
            <a:normAutofit fontScale="90000"/>
          </a:bodyPr>
          <a:lstStyle/>
          <a:p>
            <a:pPr algn="ctr"/>
            <a:r>
              <a:rPr lang="en-GB" sz="4400" b="1" u="sng" dirty="0">
                <a:effectLst/>
                <a:latin typeface="Calibri" panose="020F0502020204030204" pitchFamily="34" charset="0"/>
                <a:ea typeface="Times New Roman" panose="02020603050405020304" pitchFamily="18" charset="0"/>
                <a:cs typeface="Times New Roman" panose="02020603050405020304" pitchFamily="18" charset="0"/>
              </a:rPr>
              <a:t>the teachings of Confucian about salvation </a:t>
            </a:r>
            <a:br>
              <a:rPr lang="en-US" sz="4400" dirty="0">
                <a:effectLst/>
                <a:latin typeface="Calibri" panose="020F0502020204030204" pitchFamily="34"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5D5DEF3-2453-18FF-F65F-08CD59B5A4F0}"/>
              </a:ext>
            </a:extLst>
          </p:cNvPr>
          <p:cNvSpPr>
            <a:spLocks noGrp="1"/>
          </p:cNvSpPr>
          <p:nvPr>
            <p:ph idx="1"/>
          </p:nvPr>
        </p:nvSpPr>
        <p:spPr>
          <a:xfrm>
            <a:off x="457200" y="1600200"/>
            <a:ext cx="8229600" cy="4800600"/>
          </a:xfrm>
        </p:spPr>
        <p:txBody>
          <a:bodyPr>
            <a:normAutofit fontScale="92500"/>
          </a:bodyPr>
          <a:lstStyle/>
          <a:p>
            <a:pPr marL="0" marR="0" algn="just">
              <a:lnSpc>
                <a:spcPct val="150000"/>
              </a:lnSpc>
              <a:spcAft>
                <a:spcPts val="800"/>
              </a:spcAft>
            </a:pPr>
            <a:r>
              <a:rPr lang="en-GB" sz="2400" dirty="0">
                <a:effectLst/>
                <a:latin typeface="Verdana" panose="020B0604030504040204" pitchFamily="34" charset="0"/>
                <a:ea typeface="Verdana" panose="020B0604030504040204" pitchFamily="34" charset="0"/>
                <a:cs typeface="Times New Roman" panose="02020603050405020304" pitchFamily="18" charset="0"/>
              </a:rPr>
              <a:t>Confucianism is not typically considered a religion with doctrines about salvation in the way that many theistic religions approach the concept. Instead, it is a philosophical and ethical system primarily focused on creating harmony in society and personal moral development. The concept of salvation in Confucianism, if interpreted metaphorically, would centre around self-cultivation and living in accordance with virtues, rather than a divine intervention or afterlife deliverance.</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8433668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CB90F-649A-1F8A-8FB6-B9A335785D40}"/>
              </a:ext>
            </a:extLst>
          </p:cNvPr>
          <p:cNvSpPr>
            <a:spLocks noGrp="1"/>
          </p:cNvSpPr>
          <p:nvPr>
            <p:ph type="title"/>
          </p:nvPr>
        </p:nvSpPr>
        <p:spPr>
          <a:xfrm>
            <a:off x="36286" y="0"/>
            <a:ext cx="8229600" cy="1143000"/>
          </a:xfrm>
        </p:spPr>
        <p:txBody>
          <a:bodyPr/>
          <a:lstStyle/>
          <a:p>
            <a:pPr algn="l"/>
            <a:r>
              <a:rPr lang="en-GB" sz="2800" b="1" dirty="0">
                <a:latin typeface="Calibri" panose="020F0502020204030204" pitchFamily="34" charset="0"/>
                <a:ea typeface="Times New Roman" panose="02020603050405020304" pitchFamily="18" charset="0"/>
                <a:cs typeface="Times New Roman" panose="02020603050405020304" pitchFamily="18" charset="0"/>
              </a:rPr>
              <a:t>Salvation . . .</a:t>
            </a:r>
            <a:endParaRPr lang="en-US" sz="2800" dirty="0"/>
          </a:p>
        </p:txBody>
      </p:sp>
      <p:sp>
        <p:nvSpPr>
          <p:cNvPr id="3" name="Content Placeholder 2">
            <a:extLst>
              <a:ext uri="{FF2B5EF4-FFF2-40B4-BE49-F238E27FC236}">
                <a16:creationId xmlns:a16="http://schemas.microsoft.com/office/drawing/2014/main" id="{9DE90DA9-F9D9-DF68-1D8B-F72F081DCD34}"/>
              </a:ext>
            </a:extLst>
          </p:cNvPr>
          <p:cNvSpPr>
            <a:spLocks noGrp="1"/>
          </p:cNvSpPr>
          <p:nvPr>
            <p:ph idx="1"/>
          </p:nvPr>
        </p:nvSpPr>
        <p:spPr>
          <a:xfrm>
            <a:off x="818348" y="1143000"/>
            <a:ext cx="7792252" cy="4959060"/>
          </a:xfrm>
        </p:spPr>
        <p:txBody>
          <a:bodyPr>
            <a:normAutofit fontScale="92500" lnSpcReduction="10000"/>
          </a:bodyPr>
          <a:lstStyle/>
          <a:p>
            <a:pPr marL="0" marR="0" indent="0" algn="just">
              <a:lnSpc>
                <a:spcPct val="150000"/>
              </a:lnSpc>
              <a:spcAft>
                <a:spcPts val="800"/>
              </a:spcAft>
              <a:buNone/>
            </a:pPr>
            <a:r>
              <a:rPr lang="en-GB" sz="2400" b="1" dirty="0">
                <a:effectLst/>
                <a:latin typeface="Verdana" panose="020B0604030504040204" pitchFamily="34" charset="0"/>
                <a:ea typeface="Verdana" panose="020B0604030504040204" pitchFamily="34" charset="0"/>
                <a:cs typeface="Times New Roman" panose="02020603050405020304" pitchFamily="18" charset="0"/>
              </a:rPr>
              <a:t>Key Teachings Related to Salvation in Confucianism </a:t>
            </a:r>
            <a:r>
              <a:rPr lang="ti-ET" sz="2400" b="1" dirty="0">
                <a:effectLst/>
                <a:latin typeface="Nyala" panose="02000504070300020003" pitchFamily="2" charset="0"/>
                <a:ea typeface="Verdana" panose="020B0604030504040204" pitchFamily="34" charset="0"/>
                <a:cs typeface="Times New Roman" panose="02020603050405020304" pitchFamily="18" charset="0"/>
              </a:rPr>
              <a:t>፦</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marL="0" marR="0" indent="0" algn="just">
              <a:lnSpc>
                <a:spcPct val="150000"/>
              </a:lnSpc>
              <a:spcAft>
                <a:spcPts val="800"/>
              </a:spcAft>
              <a:buNone/>
            </a:pPr>
            <a:r>
              <a:rPr lang="en-GB" sz="2400" dirty="0">
                <a:effectLst/>
                <a:latin typeface="Verdana" panose="020B0604030504040204" pitchFamily="34" charset="0"/>
                <a:ea typeface="Verdana" panose="020B0604030504040204" pitchFamily="34" charset="0"/>
                <a:cs typeface="Times New Roman" panose="02020603050405020304" pitchFamily="18" charset="0"/>
              </a:rPr>
              <a:t>1. </a:t>
            </a:r>
            <a:r>
              <a:rPr lang="en-GB" sz="2400" b="1" dirty="0">
                <a:effectLst/>
                <a:latin typeface="Verdana" panose="020B0604030504040204" pitchFamily="34" charset="0"/>
                <a:ea typeface="Verdana" panose="020B0604030504040204" pitchFamily="34" charset="0"/>
                <a:cs typeface="Times New Roman" panose="02020603050405020304" pitchFamily="18" charset="0"/>
              </a:rPr>
              <a:t>Moral Self-Cultivation:</a:t>
            </a:r>
            <a:endParaRPr lang="en-US" sz="2400" b="1" dirty="0">
              <a:effectLst/>
              <a:latin typeface="Verdana" panose="020B0604030504040204" pitchFamily="34" charset="0"/>
              <a:ea typeface="Verdana" panose="020B0604030504040204" pitchFamily="34" charset="0"/>
              <a:cs typeface="Times New Roman" panose="02020603050405020304" pitchFamily="18" charset="0"/>
            </a:endParaRPr>
          </a:p>
          <a:p>
            <a:pPr marL="0" marR="0" indent="0" algn="just">
              <a:lnSpc>
                <a:spcPct val="150000"/>
              </a:lnSpc>
              <a:spcAft>
                <a:spcPts val="800"/>
              </a:spcAft>
              <a:buNone/>
            </a:pPr>
            <a:r>
              <a:rPr lang="en-GB" sz="2400" dirty="0">
                <a:effectLst/>
                <a:latin typeface="Verdana" panose="020B0604030504040204" pitchFamily="34" charset="0"/>
                <a:ea typeface="Verdana" panose="020B0604030504040204" pitchFamily="34" charset="0"/>
                <a:cs typeface="Times New Roman" panose="02020603050405020304" pitchFamily="18" charset="0"/>
              </a:rPr>
              <a:t>Confucianism emphasizes the transformation of the self through learning, self-reflection, and practicing virtues such as ren (benevolence), li (ritual propriety), and </a:t>
            </a:r>
            <a:r>
              <a:rPr lang="en-GB" sz="2400" dirty="0" err="1">
                <a:effectLst/>
                <a:latin typeface="Verdana" panose="020B0604030504040204" pitchFamily="34" charset="0"/>
                <a:ea typeface="Verdana" panose="020B0604030504040204" pitchFamily="34" charset="0"/>
                <a:cs typeface="Times New Roman" panose="02020603050405020304" pitchFamily="18" charset="0"/>
              </a:rPr>
              <a:t>yi</a:t>
            </a:r>
            <a:r>
              <a:rPr lang="en-GB" sz="2400" dirty="0">
                <a:effectLst/>
                <a:latin typeface="Verdana" panose="020B0604030504040204" pitchFamily="34" charset="0"/>
                <a:ea typeface="Verdana" panose="020B0604030504040204" pitchFamily="34" charset="0"/>
                <a:cs typeface="Times New Roman" panose="02020603050405020304" pitchFamily="18" charset="0"/>
              </a:rPr>
              <a:t> (righteousness). This moral self-cultivation leads to a harmonious life and contributes to societal order.</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74017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F328AE-351B-28D3-281F-2B5685B8F546}"/>
              </a:ext>
            </a:extLst>
          </p:cNvPr>
          <p:cNvSpPr>
            <a:spLocks noGrp="1"/>
          </p:cNvSpPr>
          <p:nvPr>
            <p:ph idx="1"/>
          </p:nvPr>
        </p:nvSpPr>
        <p:spPr>
          <a:xfrm>
            <a:off x="457200" y="762000"/>
            <a:ext cx="8229600" cy="5364163"/>
          </a:xfrm>
        </p:spPr>
        <p:txBody>
          <a:bodyPr>
            <a:noAutofit/>
          </a:bodyPr>
          <a:lstStyle/>
          <a:p>
            <a:pPr marL="0" marR="0" indent="0" algn="just">
              <a:lnSpc>
                <a:spcPct val="107000"/>
              </a:lnSpc>
              <a:spcAft>
                <a:spcPts val="800"/>
              </a:spcAft>
              <a:buNone/>
            </a:pPr>
            <a:r>
              <a:rPr lang="en-GB" sz="2400" b="1" dirty="0">
                <a:effectLst/>
                <a:latin typeface="Verdana" panose="020B0604030504040204" pitchFamily="34" charset="0"/>
                <a:ea typeface="Verdana" panose="020B0604030504040204" pitchFamily="34" charset="0"/>
                <a:cs typeface="Times New Roman" panose="02020603050405020304" pitchFamily="18" charset="0"/>
              </a:rPr>
              <a:t>2. Harmonious Relationships:</a:t>
            </a:r>
            <a:endParaRPr lang="en-US" sz="2400" b="1" dirty="0">
              <a:effectLst/>
              <a:latin typeface="Verdana" panose="020B0604030504040204" pitchFamily="34" charset="0"/>
              <a:ea typeface="Verdana" panose="020B0604030504040204" pitchFamily="34" charset="0"/>
              <a:cs typeface="Times New Roman" panose="02020603050405020304" pitchFamily="18" charset="0"/>
            </a:endParaRPr>
          </a:p>
          <a:p>
            <a:pPr marL="0" marR="0" algn="just">
              <a:lnSpc>
                <a:spcPct val="107000"/>
              </a:lnSpc>
              <a:spcAft>
                <a:spcPts val="800"/>
              </a:spcAft>
            </a:pPr>
            <a:r>
              <a:rPr lang="en-GB" sz="2400" dirty="0">
                <a:effectLst/>
                <a:latin typeface="Verdana" panose="020B0604030504040204" pitchFamily="34" charset="0"/>
                <a:ea typeface="Verdana" panose="020B0604030504040204" pitchFamily="34" charset="0"/>
                <a:cs typeface="Times New Roman" panose="02020603050405020304" pitchFamily="18" charset="0"/>
              </a:rPr>
              <a:t>Salvation in a Confucian sense might be seen as achieving harmony in relationships through the proper fulfilment of one's roles within the Five Relationships (parent-child, ruler-subject, husband-wife, elder-younger, and friend-friend). Living according to these roles ensures social stability and personal fulfilment.</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marL="0" marR="0" indent="0" algn="just">
              <a:lnSpc>
                <a:spcPct val="107000"/>
              </a:lnSpc>
              <a:spcAft>
                <a:spcPts val="800"/>
              </a:spcAft>
              <a:buNone/>
            </a:pPr>
            <a:r>
              <a:rPr lang="en-GB" sz="2400" b="1" dirty="0">
                <a:effectLst/>
                <a:latin typeface="Verdana" panose="020B0604030504040204" pitchFamily="34" charset="0"/>
                <a:ea typeface="Verdana" panose="020B0604030504040204" pitchFamily="34" charset="0"/>
                <a:cs typeface="Times New Roman" panose="02020603050405020304" pitchFamily="18" charset="0"/>
              </a:rPr>
              <a:t>3. Alignment with the Dao (Way):</a:t>
            </a:r>
            <a:endParaRPr lang="en-US" sz="2400" b="1" dirty="0">
              <a:effectLst/>
              <a:latin typeface="Verdana" panose="020B0604030504040204" pitchFamily="34" charset="0"/>
              <a:ea typeface="Verdana" panose="020B0604030504040204" pitchFamily="34" charset="0"/>
              <a:cs typeface="Times New Roman" panose="02020603050405020304" pitchFamily="18" charset="0"/>
            </a:endParaRPr>
          </a:p>
          <a:p>
            <a:pPr marL="0" marR="0" algn="just">
              <a:lnSpc>
                <a:spcPct val="107000"/>
              </a:lnSpc>
              <a:spcAft>
                <a:spcPts val="800"/>
              </a:spcAft>
            </a:pPr>
            <a:r>
              <a:rPr lang="en-GB" sz="2400" dirty="0">
                <a:effectLst/>
                <a:latin typeface="Verdana" panose="020B0604030504040204" pitchFamily="34" charset="0"/>
                <a:ea typeface="Verdana" panose="020B0604030504040204" pitchFamily="34" charset="0"/>
                <a:cs typeface="Times New Roman" panose="02020603050405020304" pitchFamily="18" charset="0"/>
              </a:rPr>
              <a:t>Although the Dao in Confucianism is not as metaphysical as in Daoism, it represents the "way" of proper human conduct. Following the Dao through virtuous behaviour and respect for tradition is seen as the path to an ideal life.</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algn="just"/>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077795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84B07A1-7A4C-E6A2-3156-F1F648CE54E1}"/>
              </a:ext>
            </a:extLst>
          </p:cNvPr>
          <p:cNvSpPr>
            <a:spLocks noGrp="1"/>
          </p:cNvSpPr>
          <p:nvPr>
            <p:ph type="title"/>
          </p:nvPr>
        </p:nvSpPr>
        <p:spPr>
          <a:xfrm>
            <a:off x="0" y="0"/>
            <a:ext cx="8229600" cy="563563"/>
          </a:xfrm>
        </p:spPr>
        <p:txBody>
          <a:bodyPr>
            <a:normAutofit/>
          </a:bodyPr>
          <a:lstStyle/>
          <a:p>
            <a:pPr algn="l"/>
            <a:r>
              <a:rPr lang="en-GB" sz="2800" b="1" dirty="0">
                <a:latin typeface="Calibri" panose="020F0502020204030204" pitchFamily="34" charset="0"/>
                <a:ea typeface="Times New Roman" panose="02020603050405020304" pitchFamily="18" charset="0"/>
                <a:cs typeface="Times New Roman" panose="02020603050405020304" pitchFamily="18" charset="0"/>
              </a:rPr>
              <a:t>Salvation . . .</a:t>
            </a:r>
            <a:endParaRPr lang="en-US" sz="2800" dirty="0"/>
          </a:p>
        </p:txBody>
      </p:sp>
      <p:sp>
        <p:nvSpPr>
          <p:cNvPr id="3" name="Content Placeholder 2">
            <a:extLst>
              <a:ext uri="{FF2B5EF4-FFF2-40B4-BE49-F238E27FC236}">
                <a16:creationId xmlns:a16="http://schemas.microsoft.com/office/drawing/2014/main" id="{E01C75C6-DDF8-54EF-40AD-A69D14058D46}"/>
              </a:ext>
            </a:extLst>
          </p:cNvPr>
          <p:cNvSpPr>
            <a:spLocks noGrp="1"/>
          </p:cNvSpPr>
          <p:nvPr>
            <p:ph idx="1"/>
          </p:nvPr>
        </p:nvSpPr>
        <p:spPr>
          <a:xfrm>
            <a:off x="457200" y="563564"/>
            <a:ext cx="8229600" cy="5867400"/>
          </a:xfrm>
        </p:spPr>
        <p:txBody>
          <a:bodyPr>
            <a:noAutofit/>
          </a:bodyPr>
          <a:lstStyle/>
          <a:p>
            <a:pPr marL="0" marR="0" indent="0" algn="just">
              <a:lnSpc>
                <a:spcPct val="107000"/>
              </a:lnSpc>
              <a:spcAft>
                <a:spcPts val="800"/>
              </a:spcAft>
              <a:buNone/>
            </a:pPr>
            <a:r>
              <a:rPr lang="en-GB" sz="2100" b="1" dirty="0">
                <a:effectLst/>
                <a:latin typeface="Verdana" panose="020B0604030504040204" pitchFamily="34" charset="0"/>
                <a:ea typeface="Verdana" panose="020B0604030504040204" pitchFamily="34" charset="0"/>
                <a:cs typeface="Times New Roman" panose="02020603050405020304" pitchFamily="18" charset="0"/>
              </a:rPr>
              <a:t>4. Legacy and Immortality Through Virtue:</a:t>
            </a:r>
            <a:endParaRPr lang="en-US" sz="2100" b="1" dirty="0">
              <a:effectLst/>
              <a:latin typeface="Verdana" panose="020B0604030504040204" pitchFamily="34" charset="0"/>
              <a:ea typeface="Verdana" panose="020B0604030504040204" pitchFamily="34" charset="0"/>
              <a:cs typeface="Times New Roman" panose="02020603050405020304" pitchFamily="18" charset="0"/>
            </a:endParaRPr>
          </a:p>
          <a:p>
            <a:pPr marL="0" marR="0" algn="just">
              <a:lnSpc>
                <a:spcPct val="107000"/>
              </a:lnSpc>
              <a:spcAft>
                <a:spcPts val="800"/>
              </a:spcAft>
            </a:pPr>
            <a:r>
              <a:rPr lang="en-GB" sz="2100" dirty="0">
                <a:effectLst/>
                <a:latin typeface="Verdana" panose="020B0604030504040204" pitchFamily="34" charset="0"/>
                <a:ea typeface="Verdana" panose="020B0604030504040204" pitchFamily="34" charset="0"/>
                <a:cs typeface="Times New Roman" panose="02020603050405020304" pitchFamily="18" charset="0"/>
              </a:rPr>
              <a:t>Confucianism places great value on the idea of leaving a legacy of virtue and wisdom. "Salvation" may be understood as achieving a form of immortality through the positive impact one has on their family, community, and society.</a:t>
            </a:r>
            <a:endParaRPr lang="en-US" sz="2100" dirty="0">
              <a:effectLst/>
              <a:latin typeface="Verdana" panose="020B0604030504040204" pitchFamily="34" charset="0"/>
              <a:ea typeface="Verdana" panose="020B0604030504040204" pitchFamily="34" charset="0"/>
              <a:cs typeface="Times New Roman" panose="02020603050405020304" pitchFamily="18" charset="0"/>
            </a:endParaRPr>
          </a:p>
          <a:p>
            <a:pPr marL="0" marR="0" indent="0" algn="just">
              <a:lnSpc>
                <a:spcPct val="107000"/>
              </a:lnSpc>
              <a:spcAft>
                <a:spcPts val="800"/>
              </a:spcAft>
              <a:buNone/>
            </a:pPr>
            <a:r>
              <a:rPr lang="en-GB" sz="2100" b="1" dirty="0">
                <a:effectLst/>
                <a:latin typeface="Verdana" panose="020B0604030504040204" pitchFamily="34" charset="0"/>
                <a:ea typeface="Verdana" panose="020B0604030504040204" pitchFamily="34" charset="0"/>
                <a:cs typeface="Times New Roman" panose="02020603050405020304" pitchFamily="18" charset="0"/>
              </a:rPr>
              <a:t>5. No Emphasis on Afterlife:</a:t>
            </a:r>
            <a:endParaRPr lang="en-US" sz="2100" b="1" dirty="0">
              <a:effectLst/>
              <a:latin typeface="Verdana" panose="020B0604030504040204" pitchFamily="34" charset="0"/>
              <a:ea typeface="Verdana" panose="020B0604030504040204" pitchFamily="34" charset="0"/>
              <a:cs typeface="Times New Roman" panose="02020603050405020304" pitchFamily="18" charset="0"/>
            </a:endParaRPr>
          </a:p>
          <a:p>
            <a:pPr marL="0" marR="0" algn="just">
              <a:lnSpc>
                <a:spcPct val="107000"/>
              </a:lnSpc>
              <a:spcAft>
                <a:spcPts val="800"/>
              </a:spcAft>
            </a:pPr>
            <a:r>
              <a:rPr lang="en-GB" sz="2100" dirty="0">
                <a:effectLst/>
                <a:latin typeface="Verdana" panose="020B0604030504040204" pitchFamily="34" charset="0"/>
                <a:ea typeface="Verdana" panose="020B0604030504040204" pitchFamily="34" charset="0"/>
                <a:cs typeface="Times New Roman" panose="02020603050405020304" pitchFamily="18" charset="0"/>
              </a:rPr>
              <a:t>Confucius himself said little about the afterlife, focusing instead on how to live a good life in the here and now. His teachings encourage individuals to concentrate on ethical living and fulfilling their earthly responsibilities.</a:t>
            </a:r>
            <a:endParaRPr lang="en-US" sz="2100" dirty="0">
              <a:effectLst/>
              <a:latin typeface="Verdana" panose="020B0604030504040204" pitchFamily="34" charset="0"/>
              <a:ea typeface="Verdana" panose="020B0604030504040204" pitchFamily="34" charset="0"/>
              <a:cs typeface="Times New Roman" panose="02020603050405020304" pitchFamily="18" charset="0"/>
            </a:endParaRPr>
          </a:p>
          <a:p>
            <a:pPr algn="just"/>
            <a:endParaRPr lang="en-US" sz="2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3107695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AFB5-0158-DB91-325E-963A6C8245EB}"/>
              </a:ext>
            </a:extLst>
          </p:cNvPr>
          <p:cNvSpPr>
            <a:spLocks noGrp="1"/>
          </p:cNvSpPr>
          <p:nvPr>
            <p:ph type="title"/>
          </p:nvPr>
        </p:nvSpPr>
        <p:spPr/>
        <p:txBody>
          <a:bodyPr/>
          <a:lstStyle/>
          <a:p>
            <a:r>
              <a:rPr lang="en-GB" sz="4400" dirty="0">
                <a:effectLst/>
                <a:latin typeface="Verdana" panose="020B0604030504040204" pitchFamily="34" charset="0"/>
                <a:ea typeface="Verdana" panose="020B0604030504040204" pitchFamily="34" charset="0"/>
                <a:cs typeface="Times New Roman" panose="02020603050405020304" pitchFamily="18" charset="0"/>
              </a:rPr>
              <a:t>In summary</a:t>
            </a:r>
            <a:endParaRPr lang="en-US" dirty="0"/>
          </a:p>
        </p:txBody>
      </p:sp>
      <p:sp>
        <p:nvSpPr>
          <p:cNvPr id="3" name="Content Placeholder 2">
            <a:extLst>
              <a:ext uri="{FF2B5EF4-FFF2-40B4-BE49-F238E27FC236}">
                <a16:creationId xmlns:a16="http://schemas.microsoft.com/office/drawing/2014/main" id="{D7C5C4BC-6240-3C08-DFE2-FFAA19B04652}"/>
              </a:ext>
            </a:extLst>
          </p:cNvPr>
          <p:cNvSpPr>
            <a:spLocks noGrp="1"/>
          </p:cNvSpPr>
          <p:nvPr>
            <p:ph idx="1"/>
          </p:nvPr>
        </p:nvSpPr>
        <p:spPr>
          <a:xfrm>
            <a:off x="533400" y="2060898"/>
            <a:ext cx="7796420" cy="4041162"/>
          </a:xfrm>
        </p:spPr>
        <p:txBody>
          <a:bodyPr>
            <a:normAutofit/>
          </a:bodyPr>
          <a:lstStyle/>
          <a:p>
            <a:pPr algn="just">
              <a:lnSpc>
                <a:spcPct val="150000"/>
              </a:lnSpc>
            </a:pPr>
            <a:r>
              <a:rPr lang="en-GB" sz="2400" dirty="0">
                <a:effectLst/>
                <a:latin typeface="Verdana" panose="020B0604030504040204" pitchFamily="34" charset="0"/>
                <a:ea typeface="Verdana" panose="020B0604030504040204" pitchFamily="34" charset="0"/>
                <a:cs typeface="Times New Roman" panose="02020603050405020304" pitchFamily="18" charset="0"/>
              </a:rPr>
              <a:t> Confucianism does not address salvation in a supernatural or religious sense. Instead, it promotes a form of "salvation" achieved through moral excellence, societal harmony, and a meaningful life grounded in virtue and duty.</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a:p>
            <a:pPr algn="just">
              <a:lnSpc>
                <a:spcPct val="150000"/>
              </a:lnSpc>
            </a:pPr>
            <a:endParaRPr lang="en-US" sz="2400" dirty="0"/>
          </a:p>
        </p:txBody>
      </p:sp>
      <p:sp>
        <p:nvSpPr>
          <p:cNvPr id="4" name="Title 1">
            <a:extLst>
              <a:ext uri="{FF2B5EF4-FFF2-40B4-BE49-F238E27FC236}">
                <a16:creationId xmlns:a16="http://schemas.microsoft.com/office/drawing/2014/main" id="{7BB01703-00B0-D264-A0B4-9152F40DF517}"/>
              </a:ext>
            </a:extLst>
          </p:cNvPr>
          <p:cNvSpPr txBox="1">
            <a:spLocks/>
          </p:cNvSpPr>
          <p:nvPr/>
        </p:nvSpPr>
        <p:spPr>
          <a:xfrm>
            <a:off x="36286" y="0"/>
            <a:ext cx="8229600" cy="53340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b="1" dirty="0">
                <a:latin typeface="Calibri" panose="020F0502020204030204" pitchFamily="34" charset="0"/>
                <a:ea typeface="Times New Roman" panose="02020603050405020304" pitchFamily="18" charset="0"/>
                <a:cs typeface="Times New Roman" panose="02020603050405020304" pitchFamily="18" charset="0"/>
              </a:rPr>
              <a:t>Salvation . . .</a:t>
            </a:r>
            <a:endParaRPr lang="en-US" dirty="0"/>
          </a:p>
        </p:txBody>
      </p:sp>
    </p:spTree>
    <p:extLst>
      <p:ext uri="{BB962C8B-B14F-4D97-AF65-F5344CB8AC3E}">
        <p14:creationId xmlns:p14="http://schemas.microsoft.com/office/powerpoint/2010/main" val="1493999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50B5E-F973-DE00-9743-F4B2B5DD19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64F40-5275-A44A-B78C-1435A561B4AF}"/>
              </a:ext>
            </a:extLst>
          </p:cNvPr>
          <p:cNvSpPr>
            <a:spLocks noGrp="1"/>
          </p:cNvSpPr>
          <p:nvPr>
            <p:ph type="ctrTitle"/>
          </p:nvPr>
        </p:nvSpPr>
        <p:spPr>
          <a:xfrm>
            <a:off x="816747" y="223039"/>
            <a:ext cx="7510506" cy="3213982"/>
          </a:xfrm>
        </p:spPr>
        <p:txBody>
          <a:bodyPr>
            <a:normAutofit/>
          </a:bodyPr>
          <a:lstStyle/>
          <a:p>
            <a:r>
              <a:rPr lang="en-US" sz="6600" b="1" kern="100" dirty="0">
                <a:effectLst/>
                <a:latin typeface="Verdana" panose="020B0604030504040204" pitchFamily="34" charset="0"/>
                <a:ea typeface="Verdana" panose="020B0604030504040204" pitchFamily="34" charset="0"/>
                <a:cs typeface="Times New Roman" panose="02020603050405020304" pitchFamily="18" charset="0"/>
              </a:rPr>
              <a:t>Conduct</a:t>
            </a:r>
            <a:endParaRPr lang="en-US" sz="77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781030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D6F67-0E4D-846A-564F-AFE860BE175D}"/>
              </a:ext>
            </a:extLst>
          </p:cNvPr>
          <p:cNvSpPr>
            <a:spLocks noGrp="1"/>
          </p:cNvSpPr>
          <p:nvPr>
            <p:ph type="title"/>
          </p:nvPr>
        </p:nvSpPr>
        <p:spPr>
          <a:xfrm>
            <a:off x="439057" y="0"/>
            <a:ext cx="8229600" cy="1096962"/>
          </a:xfrm>
        </p:spPr>
        <p:txBody>
          <a:bodyPr>
            <a:normAutofit fontScale="90000"/>
          </a:bodyPr>
          <a:lstStyle/>
          <a:p>
            <a:pPr algn="ctr"/>
            <a:r>
              <a:rPr lang="en-US" sz="4100" b="1" kern="100" dirty="0">
                <a:effectLst/>
                <a:latin typeface="Verdana" panose="020B0604030504040204" pitchFamily="34" charset="0"/>
                <a:ea typeface="Verdana" panose="020B0604030504040204" pitchFamily="34" charset="0"/>
                <a:cs typeface="Times New Roman" panose="02020603050405020304" pitchFamily="18" charset="0"/>
              </a:rPr>
              <a:t>Conduct</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DBA9030-FE1F-B6B8-1F30-E654A1B35CDA}"/>
              </a:ext>
            </a:extLst>
          </p:cNvPr>
          <p:cNvSpPr>
            <a:spLocks noGrp="1"/>
          </p:cNvSpPr>
          <p:nvPr>
            <p:ph idx="1"/>
          </p:nvPr>
        </p:nvSpPr>
        <p:spPr>
          <a:xfrm>
            <a:off x="458986" y="1295400"/>
            <a:ext cx="8229600" cy="5364163"/>
          </a:xfrm>
        </p:spPr>
        <p:txBody>
          <a:bodyPr>
            <a:noAutofit/>
          </a:bodyPr>
          <a:lstStyle/>
          <a:p>
            <a:pPr marL="0" marR="0" algn="just">
              <a:lnSpc>
                <a:spcPct val="150000"/>
              </a:lnSpc>
              <a:spcAft>
                <a:spcPts val="600"/>
              </a:spcAft>
            </a:pPr>
            <a:r>
              <a:rPr lang="en-US" sz="1900" kern="100" dirty="0">
                <a:effectLst/>
                <a:cs typeface="Times New Roman" panose="02020603050405020304" pitchFamily="18" charset="0"/>
              </a:rPr>
              <a:t>A religion plays a significant role in regulating human behavior by distinguishing between acceptable and unacceptable conduct. Rewards and punishments are often linked to good and bad behavior, though the clarity of this connection varies across traditions.</a:t>
            </a:r>
          </a:p>
          <a:p>
            <a:pPr marL="0" marR="0" algn="just">
              <a:lnSpc>
                <a:spcPct val="150000"/>
              </a:lnSpc>
              <a:spcAft>
                <a:spcPts val="600"/>
              </a:spcAft>
            </a:pPr>
            <a:r>
              <a:rPr lang="en-US" sz="1900" kern="100" dirty="0">
                <a:effectLst/>
                <a:cs typeface="Times New Roman" panose="02020603050405020304" pitchFamily="18" charset="0"/>
              </a:rPr>
              <a:t>Many religious traditions provide clear guidelines for behavior, often summarized in memorable lists like the Ten Commandments. Regulated human behavior or conduct typically cover both moral principles, such as prohibitions against lying, stealing, and killing, and ritual behaviors, which may vary in emphasis among different traditions. Sexual propriety and various taboos related to food consumption and social contact are also common aspects of regulated conduct.</a:t>
            </a:r>
          </a:p>
          <a:p>
            <a:pPr algn="just">
              <a:lnSpc>
                <a:spcPct val="150000"/>
              </a:lnSpc>
            </a:pPr>
            <a:endParaRPr lang="en-US" sz="1900" dirty="0"/>
          </a:p>
        </p:txBody>
      </p:sp>
    </p:spTree>
    <p:extLst>
      <p:ext uri="{BB962C8B-B14F-4D97-AF65-F5344CB8AC3E}">
        <p14:creationId xmlns:p14="http://schemas.microsoft.com/office/powerpoint/2010/main" val="1889864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5F8330A-7538-9123-BD1C-8934EED2C747}"/>
              </a:ext>
            </a:extLst>
          </p:cNvPr>
          <p:cNvSpPr>
            <a:spLocks noGrp="1"/>
          </p:cNvSpPr>
          <p:nvPr>
            <p:ph type="title"/>
          </p:nvPr>
        </p:nvSpPr>
        <p:spPr>
          <a:xfrm>
            <a:off x="0" y="28575"/>
            <a:ext cx="8229600" cy="639763"/>
          </a:xfrm>
        </p:spPr>
        <p:txBody>
          <a:bodyPr>
            <a:normAutofit fontScale="90000"/>
          </a:bodyPr>
          <a:lstStyle/>
          <a:p>
            <a:pPr algn="l"/>
            <a:br>
              <a:rPr lang="en-US" sz="4100" b="1" kern="100" dirty="0">
                <a:effectLst/>
                <a:latin typeface="Verdana" panose="020B0604030504040204" pitchFamily="34" charset="0"/>
                <a:ea typeface="Verdana" panose="020B0604030504040204" pitchFamily="34" charset="0"/>
                <a:cs typeface="Times New Roman" panose="02020603050405020304" pitchFamily="18" charset="0"/>
              </a:rPr>
            </a:br>
            <a:r>
              <a:rPr lang="en-US" sz="4100" b="1" kern="100" dirty="0">
                <a:effectLst/>
                <a:latin typeface="Verdana" panose="020B0604030504040204" pitchFamily="34" charset="0"/>
                <a:ea typeface="Verdana" panose="020B0604030504040204" pitchFamily="34" charset="0"/>
                <a:cs typeface="Times New Roman" panose="02020603050405020304" pitchFamily="18" charset="0"/>
              </a:rPr>
              <a:t>Conduct</a:t>
            </a:r>
            <a:r>
              <a:rPr lang="en-US" sz="4100" b="1" kern="100" dirty="0">
                <a:latin typeface="Calibri" panose="020F0502020204030204" pitchFamily="34" charset="0"/>
                <a:ea typeface="Verdana" panose="020B0604030504040204" pitchFamily="34" charset="0"/>
                <a:cs typeface="Times New Roman" panose="02020603050405020304" pitchFamily="18" charset="0"/>
              </a:rPr>
              <a:t> . .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EB404DC-4341-3455-9BF1-F6D03BFA4422}"/>
              </a:ext>
            </a:extLst>
          </p:cNvPr>
          <p:cNvSpPr>
            <a:spLocks noGrp="1"/>
          </p:cNvSpPr>
          <p:nvPr>
            <p:ph idx="1"/>
          </p:nvPr>
        </p:nvSpPr>
        <p:spPr>
          <a:xfrm>
            <a:off x="457200" y="1219200"/>
            <a:ext cx="8229600" cy="5287963"/>
          </a:xfrm>
        </p:spPr>
        <p:txBody>
          <a:bodyPr>
            <a:noAutofit/>
          </a:bodyPr>
          <a:lstStyle/>
          <a:p>
            <a:pPr algn="just">
              <a:lnSpc>
                <a:spcPct val="150000"/>
              </a:lnSpc>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In this regard, Confucius emphasized rectifying social disorder through the Five Relationships: ruler and government official, father and son, husband and wife, elder brother and younger brother, and elder friend and younger friend. He detailed the responsibilities and behaviors expected in these relationships, stressing the importance of hierarchical respect and filial piety. Confucius also promoted propriety (Li), righteousness (Yi), and human-heartedness (Ren). </a:t>
            </a:r>
          </a:p>
          <a:p>
            <a:pPr algn="just">
              <a:lnSpc>
                <a:spcPct val="150000"/>
              </a:lnSpc>
            </a:pPr>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4644037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88BD3C-7FD5-0BB9-929F-0AEA3D863D78}"/>
              </a:ext>
            </a:extLst>
          </p:cNvPr>
          <p:cNvSpPr>
            <a:spLocks noGrp="1"/>
          </p:cNvSpPr>
          <p:nvPr>
            <p:ph type="title"/>
          </p:nvPr>
        </p:nvSpPr>
        <p:spPr>
          <a:xfrm>
            <a:off x="28575" y="0"/>
            <a:ext cx="8229600" cy="457200"/>
          </a:xfrm>
        </p:spPr>
        <p:txBody>
          <a:bodyPr>
            <a:normAutofit fontScale="90000"/>
          </a:bodyPr>
          <a:lstStyle/>
          <a:p>
            <a:pPr algn="l"/>
            <a:br>
              <a:rPr lang="en-US" sz="4100" b="1" kern="100" dirty="0">
                <a:effectLst/>
                <a:latin typeface="Verdana" panose="020B0604030504040204" pitchFamily="34" charset="0"/>
                <a:ea typeface="Verdana" panose="020B0604030504040204" pitchFamily="34" charset="0"/>
                <a:cs typeface="Times New Roman" panose="02020603050405020304" pitchFamily="18" charset="0"/>
              </a:rPr>
            </a:br>
            <a:r>
              <a:rPr lang="en-US" sz="4100" b="1" kern="100" dirty="0">
                <a:effectLst/>
                <a:latin typeface="Verdana" panose="020B0604030504040204" pitchFamily="34" charset="0"/>
                <a:ea typeface="Verdana" panose="020B0604030504040204" pitchFamily="34" charset="0"/>
                <a:cs typeface="Times New Roman" panose="02020603050405020304" pitchFamily="18" charset="0"/>
              </a:rPr>
              <a:t>Conduct</a:t>
            </a:r>
            <a:r>
              <a:rPr lang="en-US" sz="4100" b="1" kern="100" dirty="0">
                <a:latin typeface="Calibri" panose="020F0502020204030204" pitchFamily="34" charset="0"/>
                <a:ea typeface="Verdana" panose="020B0604030504040204" pitchFamily="34" charset="0"/>
                <a:cs typeface="Times New Roman" panose="02020603050405020304" pitchFamily="18" charset="0"/>
              </a:rPr>
              <a:t> . .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E54C3392-F7DA-3F3C-73D1-A0DF7B73FEAB}"/>
              </a:ext>
            </a:extLst>
          </p:cNvPr>
          <p:cNvSpPr>
            <a:spLocks noGrp="1"/>
          </p:cNvSpPr>
          <p:nvPr>
            <p:ph idx="1"/>
          </p:nvPr>
        </p:nvSpPr>
        <p:spPr>
          <a:xfrm>
            <a:off x="457200" y="762000"/>
            <a:ext cx="8229600" cy="5364163"/>
          </a:xfrm>
        </p:spPr>
        <p:txBody>
          <a:bodyPr>
            <a:noAutofit/>
          </a:bodyPr>
          <a:lstStyle/>
          <a:p>
            <a:pPr marL="0" marR="0" algn="just">
              <a:lnSpc>
                <a:spcPct val="150000"/>
              </a:lnSpc>
              <a:spcAft>
                <a:spcPts val="600"/>
              </a:spcAft>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“Li” represents a set of social behaviors and rituals that foster respectful interactions and uphold social order. It includes both daily behaviors, like respectful greetings, and ceremonial rites, such as making offerings to ancestors.</a:t>
            </a:r>
          </a:p>
          <a:p>
            <a:pPr marL="0" marR="0" algn="just">
              <a:lnSpc>
                <a:spcPct val="150000"/>
              </a:lnSpc>
              <a:spcAft>
                <a:spcPts val="600"/>
              </a:spcAft>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“Yi” refers to the sense of righteousness that emerges from practicing Li. Through consistent application of these behaviors, people internalize and understand the principles of righteous conduct.</a:t>
            </a:r>
          </a:p>
          <a:p>
            <a:pPr algn="just"/>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377540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192DD8B-B0DE-97F7-70EC-B2D765345037}"/>
              </a:ext>
            </a:extLst>
          </p:cNvPr>
          <p:cNvSpPr>
            <a:spLocks noGrp="1"/>
          </p:cNvSpPr>
          <p:nvPr>
            <p:ph type="title"/>
          </p:nvPr>
        </p:nvSpPr>
        <p:spPr>
          <a:xfrm>
            <a:off x="22225" y="0"/>
            <a:ext cx="8229600" cy="731838"/>
          </a:xfrm>
        </p:spPr>
        <p:txBody>
          <a:bodyPr>
            <a:normAutofit fontScale="90000"/>
          </a:bodyPr>
          <a:lstStyle/>
          <a:p>
            <a:pPr algn="l"/>
            <a:br>
              <a:rPr lang="en-US" sz="4100" b="1" kern="100" dirty="0">
                <a:effectLst/>
                <a:latin typeface="Verdana" panose="020B0604030504040204" pitchFamily="34" charset="0"/>
                <a:ea typeface="Verdana" panose="020B0604030504040204" pitchFamily="34" charset="0"/>
                <a:cs typeface="Times New Roman" panose="02020603050405020304" pitchFamily="18" charset="0"/>
              </a:rPr>
            </a:br>
            <a:r>
              <a:rPr lang="en-US" sz="4100" b="1" kern="100" dirty="0">
                <a:effectLst/>
                <a:latin typeface="Verdana" panose="020B0604030504040204" pitchFamily="34" charset="0"/>
                <a:ea typeface="Verdana" panose="020B0604030504040204" pitchFamily="34" charset="0"/>
                <a:cs typeface="Times New Roman" panose="02020603050405020304" pitchFamily="18" charset="0"/>
              </a:rPr>
              <a:t>Conduct</a:t>
            </a:r>
            <a:r>
              <a:rPr lang="en-US" sz="4100" b="1" kern="100" dirty="0">
                <a:latin typeface="Calibri" panose="020F0502020204030204" pitchFamily="34" charset="0"/>
                <a:ea typeface="Verdana" panose="020B0604030504040204" pitchFamily="34" charset="0"/>
                <a:cs typeface="Times New Roman" panose="02020603050405020304" pitchFamily="18" charset="0"/>
              </a:rPr>
              <a:t> . .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7A98AAE-40AC-C527-C29A-43F444924152}"/>
              </a:ext>
            </a:extLst>
          </p:cNvPr>
          <p:cNvSpPr>
            <a:spLocks noGrp="1"/>
          </p:cNvSpPr>
          <p:nvPr>
            <p:ph idx="1"/>
          </p:nvPr>
        </p:nvSpPr>
        <p:spPr>
          <a:xfrm>
            <a:off x="457200" y="1447800"/>
            <a:ext cx="8229600" cy="4525963"/>
          </a:xfrm>
        </p:spPr>
        <p:txBody>
          <a:bodyPr>
            <a:noAutofit/>
          </a:bodyPr>
          <a:lstStyle/>
          <a:p>
            <a:pPr marL="0" marR="0" algn="just">
              <a:lnSpc>
                <a:spcPct val="150000"/>
              </a:lnSpc>
              <a:spcAft>
                <a:spcPts val="600"/>
              </a:spcAft>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“Ren” is the highest Confucian virtue, embodying deep empathy and human-heartedness. It goes beyond formal actions and moral rules, reflecting an intrinsic goodness and empathetic nature towards others. Ren is closely related to the principle of reciprocity, encapsulated in the Confucian Golden Rule: “Do not do to others what you do not want done to yourself.”</a:t>
            </a:r>
          </a:p>
          <a:p>
            <a:pPr algn="just"/>
            <a:endParaRPr lang="en-US" sz="24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873535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2F4EF2-C950-4BBF-C7AF-C48364303B55}"/>
              </a:ext>
            </a:extLst>
          </p:cNvPr>
          <p:cNvSpPr>
            <a:spLocks noGrp="1"/>
          </p:cNvSpPr>
          <p:nvPr>
            <p:ph type="title"/>
          </p:nvPr>
        </p:nvSpPr>
        <p:spPr>
          <a:xfrm>
            <a:off x="304800" y="160337"/>
            <a:ext cx="8229600" cy="1143000"/>
          </a:xfrm>
        </p:spPr>
        <p:txBody>
          <a:bodyPr>
            <a:normAutofit fontScale="90000"/>
          </a:bodyPr>
          <a:lstStyle/>
          <a:p>
            <a:pPr algn="l"/>
            <a:br>
              <a:rPr lang="en-US" sz="4100" b="1" kern="100" dirty="0">
                <a:effectLst/>
                <a:latin typeface="Verdana" panose="020B0604030504040204" pitchFamily="34" charset="0"/>
                <a:ea typeface="Verdana" panose="020B0604030504040204" pitchFamily="34" charset="0"/>
                <a:cs typeface="Times New Roman" panose="02020603050405020304" pitchFamily="18" charset="0"/>
              </a:rPr>
            </a:br>
            <a:r>
              <a:rPr lang="en-US" sz="4100" b="1" kern="100" dirty="0">
                <a:effectLst/>
                <a:latin typeface="Verdana" panose="020B0604030504040204" pitchFamily="34" charset="0"/>
                <a:ea typeface="Verdana" panose="020B0604030504040204" pitchFamily="34" charset="0"/>
                <a:cs typeface="Times New Roman" panose="02020603050405020304" pitchFamily="18" charset="0"/>
              </a:rPr>
              <a:t>Conduct</a:t>
            </a:r>
            <a:r>
              <a:rPr lang="en-US" sz="4100" b="1" kern="100" dirty="0">
                <a:latin typeface="Calibri" panose="020F0502020204030204" pitchFamily="34" charset="0"/>
                <a:ea typeface="Verdana" panose="020B0604030504040204" pitchFamily="34" charset="0"/>
                <a:cs typeface="Times New Roman" panose="02020603050405020304" pitchFamily="18" charset="0"/>
              </a:rPr>
              <a:t> . . .</a:t>
            </a:r>
            <a:br>
              <a:rPr lang="en-US"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E4BFC41-1B79-131F-EB5B-AAF45C00DB25}"/>
              </a:ext>
            </a:extLst>
          </p:cNvPr>
          <p:cNvSpPr>
            <a:spLocks noGrp="1"/>
          </p:cNvSpPr>
          <p:nvPr>
            <p:ph idx="1"/>
          </p:nvPr>
        </p:nvSpPr>
        <p:spPr/>
        <p:txBody>
          <a:bodyPr>
            <a:normAutofit/>
          </a:bodyPr>
          <a:lstStyle/>
          <a:p>
            <a:pPr algn="just">
              <a:lnSpc>
                <a:spcPct val="150000"/>
              </a:lnSpc>
            </a:pPr>
            <a:r>
              <a:rPr lang="en-US" sz="2400" kern="100" dirty="0">
                <a:effectLst/>
                <a:latin typeface="Verdana" panose="020B0604030504040204" pitchFamily="34" charset="0"/>
                <a:ea typeface="Verdana" panose="020B0604030504040204" pitchFamily="34" charset="0"/>
                <a:cs typeface="Times New Roman" panose="02020603050405020304" pitchFamily="18" charset="0"/>
              </a:rPr>
              <a:t>Ren is also what defines a Junzi, an ideal person who has perfected their moral character, emphasizing a shift from hereditary nobility to personal moral achievement. These concepts highlight the importance of cultivating intrinsic goodness and empathy to become superior individuals.</a:t>
            </a:r>
          </a:p>
          <a:p>
            <a:pPr algn="just">
              <a:lnSpc>
                <a:spcPct val="150000"/>
              </a:lnSpc>
            </a:pPr>
            <a:endParaRPr lang="en-US" sz="2400" dirty="0"/>
          </a:p>
        </p:txBody>
      </p:sp>
    </p:spTree>
    <p:extLst>
      <p:ext uri="{BB962C8B-B14F-4D97-AF65-F5344CB8AC3E}">
        <p14:creationId xmlns:p14="http://schemas.microsoft.com/office/powerpoint/2010/main" val="39917071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766DCB-4347-0CAF-B59E-ED96C6316956}"/>
              </a:ext>
            </a:extLst>
          </p:cNvPr>
          <p:cNvSpPr>
            <a:spLocks noGrp="1"/>
          </p:cNvSpPr>
          <p:nvPr>
            <p:ph idx="1"/>
          </p:nvPr>
        </p:nvSpPr>
        <p:spPr>
          <a:xfrm>
            <a:off x="609600" y="1066800"/>
            <a:ext cx="8229600" cy="5364163"/>
          </a:xfrm>
        </p:spPr>
        <p:txBody>
          <a:bodyPr>
            <a:noAutofit/>
          </a:bodyPr>
          <a:lstStyle/>
          <a:p>
            <a:pPr marL="0" marR="0" algn="just">
              <a:lnSpc>
                <a:spcPct val="170000"/>
              </a:lnSpc>
              <a:spcAft>
                <a:spcPts val="600"/>
              </a:spcAft>
            </a:pPr>
            <a:r>
              <a:rPr lang="en-US" sz="2300" kern="100" dirty="0">
                <a:effectLst/>
                <a:latin typeface="Verdana" panose="020B0604030504040204" pitchFamily="34" charset="0"/>
                <a:ea typeface="Verdana" panose="020B0604030504040204" pitchFamily="34" charset="0"/>
                <a:cs typeface="Times New Roman" panose="02020603050405020304" pitchFamily="18" charset="0"/>
              </a:rPr>
              <a:t>Looking into the evolution of Confucian ideals, the “Junzi” ideal shifted reverence from hereditary nobility to personal moral achievement, emphasizing nurturing intrinsic human-heartedness (“Ren”).</a:t>
            </a:r>
          </a:p>
          <a:p>
            <a:pPr marL="0" marR="0" algn="just">
              <a:lnSpc>
                <a:spcPct val="170000"/>
              </a:lnSpc>
              <a:spcAft>
                <a:spcPts val="600"/>
              </a:spcAft>
            </a:pPr>
            <a:r>
              <a:rPr lang="en-US" sz="2300" kern="100" dirty="0">
                <a:effectLst/>
                <a:latin typeface="Verdana" panose="020B0604030504040204" pitchFamily="34" charset="0"/>
                <a:ea typeface="Verdana" panose="020B0604030504040204" pitchFamily="34" charset="0"/>
                <a:cs typeface="Times New Roman" panose="02020603050405020304" pitchFamily="18" charset="0"/>
              </a:rPr>
              <a:t>Confucianism's success is attributed to its moderation, balancing the extremes of Mohism (which is emphasizing egalitarianism and militant pacifism, advocating universal love) and Legalism(viewing humans as inherently self-serving and promoted strict laws and severe punishments to maintain social order).</a:t>
            </a:r>
          </a:p>
          <a:p>
            <a:endParaRPr lang="en-US" sz="2300" dirty="0"/>
          </a:p>
        </p:txBody>
      </p:sp>
    </p:spTree>
    <p:extLst>
      <p:ext uri="{BB962C8B-B14F-4D97-AF65-F5344CB8AC3E}">
        <p14:creationId xmlns:p14="http://schemas.microsoft.com/office/powerpoint/2010/main" val="1036186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b="1" dirty="0">
                <a:latin typeface="Verdana" panose="020B0604030504040204" pitchFamily="34" charset="0"/>
                <a:ea typeface="Verdana" panose="020B0604030504040204" pitchFamily="34" charset="0"/>
              </a:rPr>
              <a:t>Destiny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14683"/>
            <a:ext cx="7511473" cy="1312480"/>
          </a:xfrm>
        </p:spPr>
        <p:txBody>
          <a:bodyPr>
            <a:normAutofit/>
          </a:bodyPr>
          <a:lstStyle/>
          <a:p>
            <a:pPr algn="ctr"/>
            <a:r>
              <a:rPr lang="en-US" b="1" dirty="0"/>
              <a:t>Destiny Views</a:t>
            </a:r>
          </a:p>
        </p:txBody>
      </p:sp>
      <p:sp>
        <p:nvSpPr>
          <p:cNvPr id="3" name="Content Placeholder 2"/>
          <p:cNvSpPr>
            <a:spLocks noGrp="1"/>
          </p:cNvSpPr>
          <p:nvPr>
            <p:ph idx="1"/>
          </p:nvPr>
        </p:nvSpPr>
        <p:spPr>
          <a:xfrm>
            <a:off x="457200" y="1600200"/>
            <a:ext cx="8229600" cy="4876800"/>
          </a:xfrm>
        </p:spPr>
        <p:txBody>
          <a:bodyPr>
            <a:normAutofit lnSpcReduction="10000"/>
          </a:bodyPr>
          <a:lstStyle/>
          <a:p>
            <a:pPr algn="just">
              <a:lnSpc>
                <a:spcPct val="150000"/>
              </a:lnSpc>
              <a:buFont typeface="Wingdings" pitchFamily="2" charset="2"/>
              <a:buChar char="v"/>
            </a:pPr>
            <a:r>
              <a:rPr lang="en-US" sz="2400" dirty="0">
                <a:latin typeface="Verdana" panose="020B0604030504040204" pitchFamily="34" charset="0"/>
                <a:ea typeface="Verdana" panose="020B0604030504040204" pitchFamily="34" charset="0"/>
              </a:rPr>
              <a:t>The Confucian view of destiny, often referred to as </a:t>
            </a:r>
            <a:r>
              <a:rPr lang="en-US" sz="2400" b="1" dirty="0">
                <a:latin typeface="Verdana" panose="020B0604030504040204" pitchFamily="34" charset="0"/>
                <a:ea typeface="Verdana" panose="020B0604030504040204" pitchFamily="34" charset="0"/>
              </a:rPr>
              <a:t>"</a:t>
            </a:r>
            <a:r>
              <a:rPr lang="en-US" sz="2400" b="1" dirty="0" err="1">
                <a:latin typeface="Verdana" panose="020B0604030504040204" pitchFamily="34" charset="0"/>
                <a:ea typeface="Verdana" panose="020B0604030504040204" pitchFamily="34" charset="0"/>
              </a:rPr>
              <a:t>Tianming</a:t>
            </a:r>
            <a:r>
              <a:rPr lang="en-US" sz="2400" b="1" dirty="0">
                <a:latin typeface="Verdana" panose="020B0604030504040204" pitchFamily="34" charset="0"/>
                <a:ea typeface="Verdana" panose="020B0604030504040204" pitchFamily="34" charset="0"/>
              </a:rPr>
              <a:t>"</a:t>
            </a:r>
            <a:r>
              <a:rPr lang="en-US" sz="2400" dirty="0">
                <a:latin typeface="Verdana" panose="020B0604030504040204" pitchFamily="34" charset="0"/>
                <a:ea typeface="Verdana" panose="020B0604030504040204" pitchFamily="34" charset="0"/>
              </a:rPr>
              <a:t> (</a:t>
            </a:r>
            <a:r>
              <a:rPr lang="en-US" sz="2400" dirty="0" err="1">
                <a:latin typeface="Verdana" panose="020B0604030504040204" pitchFamily="34" charset="0"/>
                <a:ea typeface="Verdana" panose="020B0604030504040204" pitchFamily="34" charset="0"/>
              </a:rPr>
              <a:t>天命</a:t>
            </a:r>
            <a:r>
              <a:rPr lang="en-US" sz="2400" dirty="0">
                <a:latin typeface="Verdana" panose="020B0604030504040204" pitchFamily="34" charset="0"/>
                <a:ea typeface="Verdana" panose="020B0604030504040204" pitchFamily="34" charset="0"/>
              </a:rPr>
              <a:t>) or the </a:t>
            </a:r>
            <a:r>
              <a:rPr lang="en-US" sz="2400" b="1" dirty="0">
                <a:latin typeface="Verdana" panose="020B0604030504040204" pitchFamily="34" charset="0"/>
                <a:ea typeface="Verdana" panose="020B0604030504040204" pitchFamily="34" charset="0"/>
              </a:rPr>
              <a:t>"Mandate of Heaven,"</a:t>
            </a:r>
            <a:r>
              <a:rPr lang="en-US" sz="2400" dirty="0">
                <a:latin typeface="Verdana" panose="020B0604030504040204" pitchFamily="34" charset="0"/>
                <a:ea typeface="Verdana" panose="020B0604030504040204" pitchFamily="34" charset="0"/>
              </a:rPr>
              <a:t> is a central concept in Confucian philosophy. Here are some key points:</a:t>
            </a:r>
          </a:p>
          <a:p>
            <a:pPr marL="514350" indent="-514350" algn="just">
              <a:lnSpc>
                <a:spcPct val="150000"/>
              </a:lnSpc>
              <a:buFont typeface="+mj-lt"/>
              <a:buAutoNum type="arabicPeriod"/>
            </a:pPr>
            <a:r>
              <a:rPr lang="en-US" sz="2400" b="1" dirty="0">
                <a:latin typeface="Verdana" panose="020B0604030504040204" pitchFamily="34" charset="0"/>
                <a:ea typeface="Verdana" panose="020B0604030504040204" pitchFamily="34" charset="0"/>
              </a:rPr>
              <a:t>Mandate of Heaven</a:t>
            </a:r>
            <a:r>
              <a:rPr lang="en-US" sz="2400" dirty="0">
                <a:latin typeface="Verdana" panose="020B0604030504040204" pitchFamily="34" charset="0"/>
                <a:ea typeface="Verdana" panose="020B0604030504040204" pitchFamily="34" charset="0"/>
              </a:rPr>
              <a:t>: This concept suggests that Heaven grants the right to rule based on virtue and moral conduct. A ruler's legitimacy is derived from their ability to govern justly and benevolently.</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511473" cy="1312480"/>
          </a:xfrm>
        </p:spPr>
        <p:txBody>
          <a:bodyPr/>
          <a:lstStyle/>
          <a:p>
            <a:r>
              <a:rPr lang="en-US" b="1" dirty="0"/>
              <a:t>Destiny Views</a:t>
            </a:r>
            <a:endParaRPr lang="en-US" dirty="0"/>
          </a:p>
        </p:txBody>
      </p:sp>
      <p:sp>
        <p:nvSpPr>
          <p:cNvPr id="3" name="Content Placeholder 2"/>
          <p:cNvSpPr>
            <a:spLocks noGrp="1"/>
          </p:cNvSpPr>
          <p:nvPr>
            <p:ph idx="1"/>
          </p:nvPr>
        </p:nvSpPr>
        <p:spPr>
          <a:xfrm>
            <a:off x="818348" y="1143000"/>
            <a:ext cx="8173252" cy="4959060"/>
          </a:xfrm>
        </p:spPr>
        <p:txBody>
          <a:bodyPr>
            <a:normAutofit fontScale="92500" lnSpcReduction="20000"/>
          </a:bodyPr>
          <a:lstStyle/>
          <a:p>
            <a:pPr marL="514350" indent="-514350">
              <a:lnSpc>
                <a:spcPct val="160000"/>
              </a:lnSpc>
              <a:buAutoNum type="arabicPeriod" startAt="2"/>
            </a:pPr>
            <a:r>
              <a:rPr lang="en-US" b="1" dirty="0"/>
              <a:t>Self-Cultivation</a:t>
            </a:r>
            <a:r>
              <a:rPr lang="en-US" dirty="0"/>
              <a:t>: Confucianism emphasizes the importance of self-cultivation and moral development. Destiny is seen as something that individuals can influence through their actions and ethical behavior.</a:t>
            </a:r>
          </a:p>
          <a:p>
            <a:pPr marL="514350" indent="-514350">
              <a:lnSpc>
                <a:spcPct val="160000"/>
              </a:lnSpc>
              <a:buAutoNum type="arabicPeriod" startAt="2"/>
            </a:pPr>
            <a:r>
              <a:rPr lang="en-US" b="1" dirty="0"/>
              <a:t>Human Effort</a:t>
            </a:r>
            <a:r>
              <a:rPr lang="en-US" dirty="0"/>
              <a:t>: While destiny plays a role in one's life, Confucianism also stresses the importance of human effort and responsibility. Individuals are encouraged to strive for moral excellence and fulfill their duties.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511473" cy="1004182"/>
          </a:xfrm>
        </p:spPr>
        <p:txBody>
          <a:bodyPr/>
          <a:lstStyle/>
          <a:p>
            <a:r>
              <a:rPr lang="en-US" b="1" dirty="0"/>
              <a:t>Destiny Views</a:t>
            </a:r>
            <a:endParaRPr lang="en-US" dirty="0"/>
          </a:p>
        </p:txBody>
      </p:sp>
      <p:sp>
        <p:nvSpPr>
          <p:cNvPr id="3" name="Content Placeholder 2"/>
          <p:cNvSpPr>
            <a:spLocks noGrp="1"/>
          </p:cNvSpPr>
          <p:nvPr>
            <p:ph idx="1"/>
          </p:nvPr>
        </p:nvSpPr>
        <p:spPr>
          <a:xfrm>
            <a:off x="818348" y="1295400"/>
            <a:ext cx="7511472" cy="4806660"/>
          </a:xfrm>
        </p:spPr>
        <p:txBody>
          <a:bodyPr>
            <a:normAutofit fontScale="92500"/>
          </a:bodyPr>
          <a:lstStyle/>
          <a:p>
            <a:pPr algn="just">
              <a:lnSpc>
                <a:spcPct val="150000"/>
              </a:lnSpc>
              <a:buNone/>
            </a:pPr>
            <a:r>
              <a:rPr lang="en-US" b="1" dirty="0"/>
              <a:t>4. Rationalism: </a:t>
            </a:r>
            <a:r>
              <a:rPr lang="en-US" dirty="0"/>
              <a:t>Confucian thought incorporates rationalism, suggesting that destiny is not purely a matter of fate but can be understood and shaped through reason and moral practice.</a:t>
            </a:r>
          </a:p>
          <a:p>
            <a:pPr algn="just">
              <a:lnSpc>
                <a:spcPct val="150000"/>
              </a:lnSpc>
              <a:buNone/>
            </a:pPr>
            <a:r>
              <a:rPr lang="en-US" b="1" dirty="0"/>
              <a:t>5. Ethical Conduct: </a:t>
            </a:r>
            <a:r>
              <a:rPr lang="en-US" dirty="0"/>
              <a:t>The concept of destiny in Confucianism is closely tied to ethical conduct. A person's destiny is influenced by their adherence to moral principles and their ability to act virtuously.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700"/>
            <a:ext cx="7511473" cy="1312480"/>
          </a:xfrm>
        </p:spPr>
        <p:txBody>
          <a:bodyPr/>
          <a:lstStyle/>
          <a:p>
            <a:r>
              <a:rPr lang="en-US" b="1" dirty="0"/>
              <a:t>Destiny Views</a:t>
            </a:r>
            <a:endParaRPr lang="en-US" dirty="0"/>
          </a:p>
        </p:txBody>
      </p:sp>
      <p:sp>
        <p:nvSpPr>
          <p:cNvPr id="3" name="Content Placeholder 2"/>
          <p:cNvSpPr>
            <a:spLocks noGrp="1"/>
          </p:cNvSpPr>
          <p:nvPr>
            <p:ph idx="1"/>
          </p:nvPr>
        </p:nvSpPr>
        <p:spPr>
          <a:xfrm>
            <a:off x="818348" y="914400"/>
            <a:ext cx="7511472" cy="5187660"/>
          </a:xfrm>
        </p:spPr>
        <p:txBody>
          <a:bodyPr/>
          <a:lstStyle/>
          <a:p>
            <a:pPr algn="just">
              <a:lnSpc>
                <a:spcPct val="150000"/>
              </a:lnSpc>
              <a:buNone/>
            </a:pPr>
            <a:r>
              <a:rPr lang="en-US" b="1" dirty="0"/>
              <a:t>6. Transcendence: </a:t>
            </a:r>
            <a:r>
              <a:rPr lang="en-US" dirty="0"/>
              <a:t>Destiny in Confucianism is also seen as a transcendental concept, reflecting the ultimate purpose and meaning of human life.</a:t>
            </a:r>
          </a:p>
          <a:p>
            <a:pPr algn="just">
              <a:lnSpc>
                <a:spcPct val="150000"/>
              </a:lnSpc>
              <a:buNone/>
            </a:pPr>
            <a:endParaRPr lang="en-US" dirty="0"/>
          </a:p>
          <a:p>
            <a:pPr algn="just">
              <a:lnSpc>
                <a:spcPct val="150000"/>
              </a:lnSpc>
              <a:buNone/>
            </a:pPr>
            <a:endParaRPr lang="en-US" dirty="0"/>
          </a:p>
          <a:p>
            <a:pPr algn="just">
              <a:lnSpc>
                <a:spcPct val="150000"/>
              </a:lnSpc>
              <a:buNone/>
            </a:pP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58FC-B175-EEC3-FBC7-67AE04632C0B}"/>
              </a:ext>
            </a:extLst>
          </p:cNvPr>
          <p:cNvSpPr>
            <a:spLocks noGrp="1"/>
          </p:cNvSpPr>
          <p:nvPr>
            <p:ph type="title"/>
          </p:nvPr>
        </p:nvSpPr>
        <p:spPr>
          <a:xfrm>
            <a:off x="1066800" y="-28074"/>
            <a:ext cx="7511473" cy="1312480"/>
          </a:xfrm>
        </p:spPr>
        <p:txBody>
          <a:bodyPr>
            <a:normAutofit/>
          </a:bodyPr>
          <a:lstStyle/>
          <a:p>
            <a:r>
              <a:rPr lang="en-GB" sz="3700" dirty="0"/>
              <a:t>Summary and Conclusion</a:t>
            </a:r>
            <a:endParaRPr lang="en-US" sz="3700" dirty="0"/>
          </a:p>
        </p:txBody>
      </p:sp>
      <p:sp>
        <p:nvSpPr>
          <p:cNvPr id="3" name="Content Placeholder 2">
            <a:extLst>
              <a:ext uri="{FF2B5EF4-FFF2-40B4-BE49-F238E27FC236}">
                <a16:creationId xmlns:a16="http://schemas.microsoft.com/office/drawing/2014/main" id="{B0605D97-4DDF-9045-2B35-51E2780AD40C}"/>
              </a:ext>
            </a:extLst>
          </p:cNvPr>
          <p:cNvSpPr>
            <a:spLocks noGrp="1"/>
          </p:cNvSpPr>
          <p:nvPr>
            <p:ph idx="1"/>
          </p:nvPr>
        </p:nvSpPr>
        <p:spPr>
          <a:xfrm>
            <a:off x="152401" y="2060898"/>
            <a:ext cx="8991600" cy="4041162"/>
          </a:xfrm>
        </p:spPr>
        <p:txBody>
          <a:bodyPr>
            <a:noAutofit/>
          </a:bodyPr>
          <a:lstStyle/>
          <a:p>
            <a:pPr algn="just">
              <a:lnSpc>
                <a:spcPct val="150000"/>
              </a:lnSpc>
            </a:pPr>
            <a:r>
              <a:rPr lang="en-US" kern="100" dirty="0">
                <a:effectLst/>
                <a:latin typeface="Calibri" panose="020F0502020204030204" pitchFamily="34" charset="0"/>
                <a:ea typeface="Calibri" panose="020F0502020204030204" pitchFamily="34" charset="0"/>
                <a:cs typeface="Times New Roman" panose="02020603050405020304" pitchFamily="18" charset="0"/>
              </a:rPr>
              <a:t>Confucianism is a philosophical and ethical system based on the teachings of Confucius (Kong Qiu), who lived around 551 BCE in China. Confucius, though not politically influential during his lifetime, sought to restore social harmony through education and the rectification of relationships. He was born in a time of social upheaval and criticized the hierarchical aristocratic system that oppressed the peasantry. His teachings, collected in the </a:t>
            </a:r>
            <a:r>
              <a:rPr lang="en-US" i="1" kern="100" dirty="0">
                <a:effectLst/>
                <a:latin typeface="Calibri" panose="020F0502020204030204" pitchFamily="34" charset="0"/>
                <a:ea typeface="Calibri" panose="020F0502020204030204" pitchFamily="34" charset="0"/>
                <a:cs typeface="Times New Roman" panose="02020603050405020304" pitchFamily="18" charset="0"/>
              </a:rPr>
              <a:t>Analects</a:t>
            </a:r>
            <a:r>
              <a:rPr lang="en-US" kern="100" dirty="0">
                <a:effectLst/>
                <a:latin typeface="Calibri" panose="020F0502020204030204" pitchFamily="34" charset="0"/>
                <a:ea typeface="Calibri" panose="020F0502020204030204" pitchFamily="34" charset="0"/>
                <a:cs typeface="Times New Roman" panose="02020603050405020304" pitchFamily="18" charset="0"/>
              </a:rPr>
              <a:t>, emphasize values such as filial piety, propriety (li), righteousness (</a:t>
            </a:r>
            <a:r>
              <a:rPr lang="en-US" kern="100" dirty="0" err="1">
                <a:effectLst/>
                <a:latin typeface="Calibri" panose="020F0502020204030204" pitchFamily="34" charset="0"/>
                <a:ea typeface="Calibri" panose="020F0502020204030204" pitchFamily="34" charset="0"/>
                <a:cs typeface="Times New Roman" panose="02020603050405020304" pitchFamily="18" charset="0"/>
              </a:rPr>
              <a:t>yi</a:t>
            </a:r>
            <a:r>
              <a:rPr lang="en-US" kern="100" dirty="0">
                <a:effectLst/>
                <a:latin typeface="Calibri" panose="020F0502020204030204" pitchFamily="34" charset="0"/>
                <a:ea typeface="Calibri" panose="020F0502020204030204" pitchFamily="34" charset="0"/>
                <a:cs typeface="Times New Roman" panose="02020603050405020304" pitchFamily="18" charset="0"/>
              </a:rPr>
              <a:t>), and human-heartedness (ren). Confucius promoted the cultivation of moral character and education to restore order in society.</a:t>
            </a:r>
          </a:p>
          <a:p>
            <a:pPr algn="just">
              <a:lnSpc>
                <a:spcPct val="150000"/>
              </a:lnSpc>
            </a:pPr>
            <a:endParaRPr lang="en-US" dirty="0"/>
          </a:p>
        </p:txBody>
      </p:sp>
    </p:spTree>
    <p:extLst>
      <p:ext uri="{BB962C8B-B14F-4D97-AF65-F5344CB8AC3E}">
        <p14:creationId xmlns:p14="http://schemas.microsoft.com/office/powerpoint/2010/main" val="29287941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7C9F5-74B0-812D-E6B6-C744304F0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833E-28F6-7062-63F4-F819E32FBA2A}"/>
              </a:ext>
            </a:extLst>
          </p:cNvPr>
          <p:cNvSpPr>
            <a:spLocks noGrp="1"/>
          </p:cNvSpPr>
          <p:nvPr>
            <p:ph type="title"/>
          </p:nvPr>
        </p:nvSpPr>
        <p:spPr>
          <a:xfrm>
            <a:off x="1066800" y="-28074"/>
            <a:ext cx="7511473" cy="866274"/>
          </a:xfrm>
        </p:spPr>
        <p:txBody>
          <a:bodyPr>
            <a:normAutofit/>
          </a:bodyPr>
          <a:lstStyle/>
          <a:p>
            <a:r>
              <a:rPr lang="en-GB" sz="3700" dirty="0"/>
              <a:t>Summary and Conclusion</a:t>
            </a:r>
            <a:endParaRPr lang="en-US" sz="3700" dirty="0"/>
          </a:p>
        </p:txBody>
      </p:sp>
      <p:sp>
        <p:nvSpPr>
          <p:cNvPr id="3" name="Content Placeholder 2">
            <a:extLst>
              <a:ext uri="{FF2B5EF4-FFF2-40B4-BE49-F238E27FC236}">
                <a16:creationId xmlns:a16="http://schemas.microsoft.com/office/drawing/2014/main" id="{962EED5F-F22A-9AE0-306B-E76931995F34}"/>
              </a:ext>
            </a:extLst>
          </p:cNvPr>
          <p:cNvSpPr>
            <a:spLocks noGrp="1"/>
          </p:cNvSpPr>
          <p:nvPr>
            <p:ph idx="1"/>
          </p:nvPr>
        </p:nvSpPr>
        <p:spPr>
          <a:xfrm>
            <a:off x="152400" y="1752600"/>
            <a:ext cx="8991600" cy="4041162"/>
          </a:xfrm>
        </p:spPr>
        <p:txBody>
          <a:bodyPr>
            <a:noAutofit/>
          </a:bodyPr>
          <a:lstStyle/>
          <a:p>
            <a:pPr algn="just">
              <a:lnSpc>
                <a:spcPct val="150000"/>
              </a:lnSpc>
            </a:pPr>
            <a:r>
              <a:rPr lang="en-GB" kern="100" dirty="0">
                <a:effectLst/>
                <a:latin typeface="Calibri" panose="020F0502020204030204" pitchFamily="34" charset="0"/>
                <a:ea typeface="Calibri" panose="020F0502020204030204" pitchFamily="34" charset="0"/>
                <a:cs typeface="Times New Roman" panose="02020603050405020304" pitchFamily="18" charset="0"/>
              </a:rPr>
              <a:t>Confucianism's influence grew after Confucius's death, particularly through followers like Mencius and Xunzi. Mencius emphasized the innate goodness of human nature and the importance of benevolent rulers, while Xunzi, more pragmatic, believed human nature was self-serving but could be refined through education. During the Han dynasty, Confucianism became the official state ideology, influencing the bureaucratic system and social norms. Over centuries, Confucianism faced challenges from other philosophies, such as Daoism and Mohism, but persisted, evolving through Neo-Confucianism in the 11th century, which integrated elements of Daoism and Buddhism.</a:t>
            </a:r>
            <a:endParaRPr lang="en-US" dirty="0"/>
          </a:p>
        </p:txBody>
      </p:sp>
    </p:spTree>
    <p:extLst>
      <p:ext uri="{BB962C8B-B14F-4D97-AF65-F5344CB8AC3E}">
        <p14:creationId xmlns:p14="http://schemas.microsoft.com/office/powerpoint/2010/main" val="29757942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EE40-6303-B235-7ED3-0C4B0E872E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B0863-89F8-65BB-A583-A5FC96FAB560}"/>
              </a:ext>
            </a:extLst>
          </p:cNvPr>
          <p:cNvSpPr>
            <a:spLocks noGrp="1"/>
          </p:cNvSpPr>
          <p:nvPr>
            <p:ph type="title"/>
          </p:nvPr>
        </p:nvSpPr>
        <p:spPr>
          <a:xfrm>
            <a:off x="1066800" y="-28074"/>
            <a:ext cx="7511473" cy="866274"/>
          </a:xfrm>
        </p:spPr>
        <p:txBody>
          <a:bodyPr>
            <a:normAutofit/>
          </a:bodyPr>
          <a:lstStyle/>
          <a:p>
            <a:r>
              <a:rPr lang="en-GB" sz="3700" dirty="0"/>
              <a:t>Summary and Conclusion</a:t>
            </a:r>
            <a:endParaRPr lang="en-US" sz="3700" dirty="0"/>
          </a:p>
        </p:txBody>
      </p:sp>
      <p:sp>
        <p:nvSpPr>
          <p:cNvPr id="3" name="Content Placeholder 2">
            <a:extLst>
              <a:ext uri="{FF2B5EF4-FFF2-40B4-BE49-F238E27FC236}">
                <a16:creationId xmlns:a16="http://schemas.microsoft.com/office/drawing/2014/main" id="{98340245-EBAE-D93F-EC74-8B85751EDDFF}"/>
              </a:ext>
            </a:extLst>
          </p:cNvPr>
          <p:cNvSpPr>
            <a:spLocks noGrp="1"/>
          </p:cNvSpPr>
          <p:nvPr>
            <p:ph idx="1"/>
          </p:nvPr>
        </p:nvSpPr>
        <p:spPr>
          <a:xfrm>
            <a:off x="152400" y="1752600"/>
            <a:ext cx="8991600" cy="4041162"/>
          </a:xfrm>
        </p:spPr>
        <p:txBody>
          <a:bodyPr>
            <a:noAutofit/>
          </a:bodyPr>
          <a:lstStyle/>
          <a:p>
            <a:pPr algn="just">
              <a:lnSpc>
                <a:spcPct val="150000"/>
              </a:lnSpc>
            </a:pPr>
            <a:r>
              <a:rPr lang="en-GB" kern="100" dirty="0">
                <a:effectLst/>
                <a:latin typeface="Calibri" panose="020F0502020204030204" pitchFamily="34" charset="0"/>
                <a:ea typeface="Calibri" panose="020F0502020204030204" pitchFamily="34" charset="0"/>
                <a:cs typeface="Times New Roman" panose="02020603050405020304" pitchFamily="18" charset="0"/>
              </a:rPr>
              <a:t>Confucianism's core principles include the Five Relationships (ruler and official, father and son, husband and wife, elder and younger siblings, and friends) that structure society. Central to Confucian belief is the idea of the junzi, an ideal person who embodies virtues like ren and strives to improve through education. Confucius's teachings also highlight the importance of ritual and respect for tradition, fostering societal harmony through rituals and ethical conduct.</a:t>
            </a:r>
          </a:p>
          <a:p>
            <a:pPr algn="just">
              <a:lnSpc>
                <a:spcPct val="150000"/>
              </a:lnSpc>
            </a:pPr>
            <a:r>
              <a:rPr lang="en-GB" kern="100" dirty="0">
                <a:effectLst/>
                <a:latin typeface="Calibri" panose="020F0502020204030204" pitchFamily="34" charset="0"/>
                <a:ea typeface="Calibri" panose="020F0502020204030204" pitchFamily="34" charset="0"/>
                <a:cs typeface="Times New Roman" panose="02020603050405020304" pitchFamily="18" charset="0"/>
              </a:rPr>
              <a:t>The Confucian legacy extended beyond China to Korea, Japan, and other East Asian cultures. While Confucianism faced setbacks during the Cultural Revolution in China, its moral teachings continue to influence societies, particularly in Taiwan and Korea.</a:t>
            </a:r>
          </a:p>
        </p:txBody>
      </p:sp>
    </p:spTree>
    <p:extLst>
      <p:ext uri="{BB962C8B-B14F-4D97-AF65-F5344CB8AC3E}">
        <p14:creationId xmlns:p14="http://schemas.microsoft.com/office/powerpoint/2010/main" val="2020670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FB785-2FEA-4925-84B4-5D403BDC96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20DF99-C2F4-0947-316F-DF23A90B2BD5}"/>
              </a:ext>
            </a:extLst>
          </p:cNvPr>
          <p:cNvSpPr>
            <a:spLocks noGrp="1"/>
          </p:cNvSpPr>
          <p:nvPr>
            <p:ph type="title"/>
          </p:nvPr>
        </p:nvSpPr>
        <p:spPr>
          <a:xfrm>
            <a:off x="1143000" y="276726"/>
            <a:ext cx="7511473" cy="866274"/>
          </a:xfrm>
        </p:spPr>
        <p:txBody>
          <a:bodyPr>
            <a:normAutofit/>
          </a:bodyPr>
          <a:lstStyle/>
          <a:p>
            <a:r>
              <a:rPr lang="en-GB" sz="3700" dirty="0"/>
              <a:t>Summary and Conclusion</a:t>
            </a:r>
            <a:endParaRPr lang="en-US" sz="3700" dirty="0"/>
          </a:p>
        </p:txBody>
      </p:sp>
      <p:sp>
        <p:nvSpPr>
          <p:cNvPr id="3" name="Content Placeholder 2">
            <a:extLst>
              <a:ext uri="{FF2B5EF4-FFF2-40B4-BE49-F238E27FC236}">
                <a16:creationId xmlns:a16="http://schemas.microsoft.com/office/drawing/2014/main" id="{DCA5489D-8267-A354-98A7-C4DE1D93A7E8}"/>
              </a:ext>
            </a:extLst>
          </p:cNvPr>
          <p:cNvSpPr>
            <a:spLocks noGrp="1"/>
          </p:cNvSpPr>
          <p:nvPr>
            <p:ph idx="1"/>
          </p:nvPr>
        </p:nvSpPr>
        <p:spPr>
          <a:xfrm>
            <a:off x="76200" y="1143000"/>
            <a:ext cx="8991600" cy="4041162"/>
          </a:xfrm>
        </p:spPr>
        <p:txBody>
          <a:bodyPr>
            <a:noAutofit/>
          </a:bodyPr>
          <a:lstStyle/>
          <a:p>
            <a:pPr algn="just">
              <a:lnSpc>
                <a:spcPct val="150000"/>
              </a:lnSpc>
            </a:pPr>
            <a:r>
              <a:rPr lang="en-GB" kern="100" dirty="0">
                <a:effectLst/>
                <a:latin typeface="Calibri" panose="020F0502020204030204" pitchFamily="34" charset="0"/>
                <a:ea typeface="Calibri" panose="020F0502020204030204" pitchFamily="34" charset="0"/>
                <a:cs typeface="Times New Roman" panose="02020603050405020304" pitchFamily="18" charset="0"/>
              </a:rPr>
              <a:t>In addition to philosophical teachings, Confucianism also has a rich tradition of texts, including the Five Classics and Four Books, which shaped the educational system and civil service examinations in imperial China. Confucian practices include rituals and festivals like the New Year, Qingming (Tomb-Sweeping Day), and the Mid-Autumn Festival, which emphasize ancestor worship and family unity. Despite its association with rituals, Confucius emphasized that moral integrity should underpin any ceremonial practice.</a:t>
            </a:r>
          </a:p>
        </p:txBody>
      </p:sp>
    </p:spTree>
    <p:extLst>
      <p:ext uri="{BB962C8B-B14F-4D97-AF65-F5344CB8AC3E}">
        <p14:creationId xmlns:p14="http://schemas.microsoft.com/office/powerpoint/2010/main" val="41862887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057" y="29029"/>
            <a:ext cx="8229600" cy="792162"/>
          </a:xfrm>
        </p:spPr>
        <p:txBody>
          <a:bodyPr>
            <a:normAutofit fontScale="90000"/>
          </a:bodyPr>
          <a:lstStyle/>
          <a:p>
            <a:br>
              <a:rPr lang="en-US" dirty="0"/>
            </a:br>
            <a:r>
              <a:rPr lang="en-US" sz="4900" dirty="0"/>
              <a:t>Reference</a:t>
            </a:r>
            <a:br>
              <a:rPr lang="en-US" dirty="0"/>
            </a:br>
            <a:endParaRPr lang="en-US" dirty="0"/>
          </a:p>
        </p:txBody>
      </p:sp>
      <p:sp>
        <p:nvSpPr>
          <p:cNvPr id="3" name="Content Placeholder 2"/>
          <p:cNvSpPr>
            <a:spLocks noGrp="1"/>
          </p:cNvSpPr>
          <p:nvPr>
            <p:ph idx="1"/>
          </p:nvPr>
        </p:nvSpPr>
        <p:spPr>
          <a:xfrm>
            <a:off x="457200" y="1066800"/>
            <a:ext cx="8229600" cy="5638800"/>
          </a:xfrm>
        </p:spPr>
        <p:txBody>
          <a:bodyPr>
            <a:noAutofit/>
          </a:bodyPr>
          <a:lstStyle/>
          <a:p>
            <a:pPr>
              <a:lnSpc>
                <a:spcPct val="160000"/>
              </a:lnSpc>
              <a:buFont typeface="Wingdings" pitchFamily="2" charset="2"/>
              <a:buChar char="Ø"/>
            </a:pPr>
            <a:r>
              <a:rPr lang="en-US" sz="1600" dirty="0"/>
              <a:t>Daniel K. Gardner (2014).Confucianism a Very Short Introduction. Oxford University Press.</a:t>
            </a:r>
          </a:p>
          <a:p>
            <a:pPr>
              <a:lnSpc>
                <a:spcPct val="160000"/>
              </a:lnSpc>
              <a:buFont typeface="Wingdings" pitchFamily="2" charset="2"/>
              <a:buChar char="Ø"/>
            </a:pPr>
            <a:r>
              <a:rPr lang="en-US" sz="1600" kern="100" dirty="0">
                <a:effectLst/>
                <a:cs typeface="Times New Roman" panose="02020603050405020304" pitchFamily="18" charset="0"/>
              </a:rPr>
              <a:t>Thomas, A. Robinson and Hillary, P. Rodrigues. World religions a guide to the essentials. 3</a:t>
            </a:r>
            <a:r>
              <a:rPr lang="en-US" sz="1600" kern="100" baseline="30000" dirty="0">
                <a:effectLst/>
                <a:cs typeface="Times New Roman" panose="02020603050405020304" pitchFamily="18" charset="0"/>
              </a:rPr>
              <a:t>rd</a:t>
            </a:r>
            <a:r>
              <a:rPr lang="en-US" sz="1600" kern="100" dirty="0">
                <a:effectLst/>
                <a:cs typeface="Times New Roman" panose="02020603050405020304" pitchFamily="18" charset="0"/>
              </a:rPr>
              <a:t> ed. Barker Academic, MI: Grand Rapids, 2022. pp.30-31</a:t>
            </a:r>
          </a:p>
          <a:p>
            <a:pPr>
              <a:lnSpc>
                <a:spcPct val="160000"/>
              </a:lnSpc>
              <a:buFont typeface="Wingdings" pitchFamily="2" charset="2"/>
              <a:buChar char="Ø"/>
            </a:pPr>
            <a:r>
              <a:rPr lang="en-US" sz="1600" kern="100" dirty="0">
                <a:effectLst/>
                <a:cs typeface="Times New Roman" panose="02020603050405020304" pitchFamily="18" charset="0"/>
              </a:rPr>
              <a:t>Thomas, A. Robinson and Hillary, P. Rodrigues. World religions a guide to the essentials. 3</a:t>
            </a:r>
            <a:r>
              <a:rPr lang="en-US" sz="1600" kern="100" baseline="30000" dirty="0">
                <a:effectLst/>
                <a:cs typeface="Times New Roman" panose="02020603050405020304" pitchFamily="18" charset="0"/>
              </a:rPr>
              <a:t>rd</a:t>
            </a:r>
            <a:r>
              <a:rPr lang="en-US" sz="1600" kern="100" dirty="0">
                <a:effectLst/>
                <a:cs typeface="Times New Roman" panose="02020603050405020304" pitchFamily="18" charset="0"/>
              </a:rPr>
              <a:t> ed. Barker Academic, MI: Grand Rapids, 2022. pp.423-427</a:t>
            </a:r>
          </a:p>
          <a:p>
            <a:pPr>
              <a:lnSpc>
                <a:spcPct val="160000"/>
              </a:lnSpc>
              <a:buFont typeface="Wingdings" pitchFamily="2" charset="2"/>
              <a:buChar char="Ø"/>
            </a:pPr>
            <a:r>
              <a:rPr lang="en-US" sz="1600" dirty="0"/>
              <a:t>Lee Dian Rainey (2010).Confucius &amp; Confucianism. Wiley-Blackwell.</a:t>
            </a:r>
          </a:p>
          <a:p>
            <a:pPr>
              <a:lnSpc>
                <a:spcPct val="160000"/>
              </a:lnSpc>
              <a:buFont typeface="Wingdings" pitchFamily="2" charset="2"/>
              <a:buChar char="Ø"/>
            </a:pPr>
            <a:r>
              <a:rPr lang="en-GB" sz="1600" dirty="0">
                <a:hlinkClick r:id="rId2"/>
              </a:rPr>
              <a:t>https://www.britannica.com/summary/Confucianism</a:t>
            </a:r>
            <a:endParaRPr lang="en-GB" sz="1600" dirty="0"/>
          </a:p>
          <a:p>
            <a:pPr>
              <a:lnSpc>
                <a:spcPct val="160000"/>
              </a:lnSpc>
              <a:buFont typeface="Wingdings" pitchFamily="2" charset="2"/>
              <a:buChar char="Ø"/>
            </a:pPr>
            <a:r>
              <a:rPr lang="en-GB" sz="1600" dirty="0">
                <a:hlinkClick r:id="rId3"/>
              </a:rPr>
              <a:t>https://en.m.wikipedia.org/wiki/Confucianism</a:t>
            </a:r>
            <a:endParaRPr lang="en-GB" sz="1600" dirty="0"/>
          </a:p>
          <a:p>
            <a:pPr marL="0" indent="0">
              <a:lnSpc>
                <a:spcPct val="160000"/>
              </a:lnSpc>
              <a:buNone/>
            </a:pPr>
            <a:endParaRPr lang="en-US" sz="1600" dirty="0"/>
          </a:p>
          <a:p>
            <a:pPr marL="0" indent="0">
              <a:lnSpc>
                <a:spcPct val="160000"/>
              </a:lnSpc>
              <a:buNone/>
            </a:pPr>
            <a:endParaRPr lang="en-US" sz="1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1621</TotalTime>
  <Words>4607</Words>
  <Application>Microsoft Office PowerPoint</Application>
  <PresentationFormat>On-screen Show (4:3)</PresentationFormat>
  <Paragraphs>184</Paragraphs>
  <Slides>63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Calibri</vt:lpstr>
      <vt:lpstr>Nyala</vt:lpstr>
      <vt:lpstr>Rockwell</vt:lpstr>
      <vt:lpstr>Times New Roman</vt:lpstr>
      <vt:lpstr>Tw Cen MT</vt:lpstr>
      <vt:lpstr>Verdana</vt:lpstr>
      <vt:lpstr>Wingdings</vt:lpstr>
      <vt:lpstr>Mesh</vt:lpstr>
      <vt:lpstr>HOLY TRINITY UNIVERSITY  CONFUCIANISM RELIGION</vt:lpstr>
      <vt:lpstr>Content</vt:lpstr>
      <vt:lpstr>Confucius Statue</vt:lpstr>
      <vt:lpstr>PowerPoint Presentation</vt:lpstr>
      <vt:lpstr>PowerPoint Presentation</vt:lpstr>
      <vt:lpstr>Cosmos</vt:lpstr>
      <vt:lpstr> INTRODUCTION </vt:lpstr>
      <vt:lpstr>KEY ASPECTS OF CONFUCIANISM</vt:lpstr>
      <vt:lpstr>KEY ASPECTS OF CONFUCIANISM</vt:lpstr>
      <vt:lpstr>KEY ASPECTS OF CONFUCIANISM</vt:lpstr>
      <vt:lpstr>KEY ASPECTS OF CONFUCIANISM</vt:lpstr>
      <vt:lpstr>The Cosmos View of Confucianism </vt:lpstr>
      <vt:lpstr>The Cosmos View of Confucianism </vt:lpstr>
      <vt:lpstr>The Cosmos View of Confucianism </vt:lpstr>
      <vt:lpstr>deity</vt:lpstr>
      <vt:lpstr>Confucianism deity </vt:lpstr>
      <vt:lpstr>Confucianism deity . . . </vt:lpstr>
      <vt:lpstr>Confucianism deity . . . </vt:lpstr>
      <vt:lpstr>Confucianism deity . . . </vt:lpstr>
      <vt:lpstr>Confucianism deity . . . </vt:lpstr>
      <vt:lpstr>Confucianism deity . . . </vt:lpstr>
      <vt:lpstr>Confucianism deity . . . </vt:lpstr>
      <vt:lpstr>Confucianism deity . . . </vt:lpstr>
      <vt:lpstr>human</vt:lpstr>
      <vt:lpstr>Confucianism, the belief regarding human</vt:lpstr>
      <vt:lpstr>Confucianism, the belief regarding human</vt:lpstr>
      <vt:lpstr>Confucianism, the belief regarding human</vt:lpstr>
      <vt:lpstr>Confucianism, the belief regarding human</vt:lpstr>
      <vt:lpstr>Confucianism, the belief regarding human</vt:lpstr>
      <vt:lpstr>Confucianism, the belief regarding human</vt:lpstr>
      <vt:lpstr>Confucianism, the belief regarding human</vt:lpstr>
      <vt:lpstr>Plight  of  Man</vt:lpstr>
      <vt:lpstr> The Plight of Man and the Power of God</vt:lpstr>
      <vt:lpstr> The Plight . . . </vt:lpstr>
      <vt:lpstr>The Plight . . .</vt:lpstr>
      <vt:lpstr>The Plight . . .</vt:lpstr>
      <vt:lpstr>The Plight . . .</vt:lpstr>
      <vt:lpstr>The Plight . . .</vt:lpstr>
      <vt:lpstr>PowerPoint Presentation</vt:lpstr>
      <vt:lpstr>PowerPoint Presentation</vt:lpstr>
      <vt:lpstr>salvation</vt:lpstr>
      <vt:lpstr>the teachings of Confucian about salvation  </vt:lpstr>
      <vt:lpstr>Salvation . . .</vt:lpstr>
      <vt:lpstr>PowerPoint Presentation</vt:lpstr>
      <vt:lpstr>Salvation . . .</vt:lpstr>
      <vt:lpstr>In summary</vt:lpstr>
      <vt:lpstr>Conduct</vt:lpstr>
      <vt:lpstr>Conduct </vt:lpstr>
      <vt:lpstr> Conduct . . . </vt:lpstr>
      <vt:lpstr> Conduct . . . </vt:lpstr>
      <vt:lpstr> Conduct . . . </vt:lpstr>
      <vt:lpstr> Conduct . . . </vt:lpstr>
      <vt:lpstr>PowerPoint Presentation</vt:lpstr>
      <vt:lpstr>Destiny</vt:lpstr>
      <vt:lpstr>Destiny Views</vt:lpstr>
      <vt:lpstr>Destiny Views</vt:lpstr>
      <vt:lpstr>Destiny Views</vt:lpstr>
      <vt:lpstr>Destiny Views</vt:lpstr>
      <vt:lpstr>Summary and Conclusion</vt:lpstr>
      <vt:lpstr>Summary and Conclusion</vt:lpstr>
      <vt:lpstr>Summary and Conclusion</vt:lpstr>
      <vt:lpstr>Summary and Conclusion</vt:lpstr>
      <vt:lpstr> 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HOLY TRINITY SPRITUAL UNIVERSITY CONFUCIANISM</dc:title>
  <dc:creator>SELAM</dc:creator>
  <cp:lastModifiedBy>Nega Gebre</cp:lastModifiedBy>
  <cp:revision>35</cp:revision>
  <dcterms:created xsi:type="dcterms:W3CDTF">2024-12-17T12:17:26Z</dcterms:created>
  <dcterms:modified xsi:type="dcterms:W3CDTF">2025-01-08T22:06:10Z</dcterms:modified>
</cp:coreProperties>
</file>