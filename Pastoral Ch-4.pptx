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931F0E39-CEC6-4423-942C-A79E7B51B7E9}"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2797028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31F0E39-CEC6-4423-942C-A79E7B51B7E9}"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2873044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1F0E39-CEC6-4423-942C-A79E7B51B7E9}"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4260285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931F0E39-CEC6-4423-942C-A79E7B51B7E9}" type="datetimeFigureOut">
              <a:rPr lang="en-GB" smtClean="0"/>
              <a:t>13/04/2025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3459566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931F0E39-CEC6-4423-942C-A79E7B51B7E9}" type="datetimeFigureOut">
              <a:rPr lang="en-GB" smtClean="0"/>
              <a:t>13/04/2025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4124217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931F0E39-CEC6-4423-942C-A79E7B51B7E9}" type="datetimeFigureOut">
              <a:rPr lang="en-GB" smtClean="0"/>
              <a:t>13/04/2025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1441764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1F0E39-CEC6-4423-942C-A79E7B51B7E9}" type="datetimeFigureOut">
              <a:rPr lang="en-GB" smtClean="0"/>
              <a:t>13/04/2025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381070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1F0E39-CEC6-4423-942C-A79E7B51B7E9}" type="datetimeFigureOut">
              <a:rPr lang="en-GB" smtClean="0"/>
              <a:t>13/04/2025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1079894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1F0E39-CEC6-4423-942C-A79E7B51B7E9}" type="datetimeFigureOut">
              <a:rPr lang="en-GB" smtClean="0"/>
              <a:t>13/04/2025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602998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31F0E39-CEC6-4423-942C-A79E7B51B7E9}"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1515309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31F0E39-CEC6-4423-942C-A79E7B51B7E9}"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BE4F00D-5BF9-44F5-9665-7F4F10FD02FB}" type="slidenum">
              <a:rPr lang="en-GB" smtClean="0"/>
              <a:t>‹#›</a:t>
            </a:fld>
            <a:endParaRPr lang="en-GB"/>
          </a:p>
        </p:txBody>
      </p:sp>
    </p:spTree>
    <p:extLst>
      <p:ext uri="{BB962C8B-B14F-4D97-AF65-F5344CB8AC3E}">
        <p14:creationId xmlns:p14="http://schemas.microsoft.com/office/powerpoint/2010/main" val="3905499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1F0E39-CEC6-4423-942C-A79E7B51B7E9}" type="datetimeFigureOut">
              <a:rPr lang="en-GB" smtClean="0"/>
              <a:t>13/04/2025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E4F00D-5BF9-44F5-9665-7F4F10FD02FB}" type="slidenum">
              <a:rPr lang="en-GB" smtClean="0"/>
              <a:t>‹#›</a:t>
            </a:fld>
            <a:endParaRPr lang="en-GB"/>
          </a:p>
        </p:txBody>
      </p:sp>
    </p:spTree>
    <p:extLst>
      <p:ext uri="{BB962C8B-B14F-4D97-AF65-F5344CB8AC3E}">
        <p14:creationId xmlns:p14="http://schemas.microsoft.com/office/powerpoint/2010/main" val="4263066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latin typeface="Times New Roman" pitchFamily="18" charset="0"/>
                <a:cs typeface="Times New Roman" pitchFamily="18" charset="0"/>
              </a:rPr>
              <a:t>CHAPTER FOUR</a:t>
            </a:r>
            <a:endParaRPr lang="en-GB"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GB" b="1" dirty="0" smtClean="0">
                <a:solidFill>
                  <a:schemeClr val="tx1"/>
                </a:solidFill>
                <a:latin typeface="Times New Roman" pitchFamily="18" charset="0"/>
                <a:cs typeface="Times New Roman" pitchFamily="18" charset="0"/>
              </a:rPr>
              <a:t>The Role of the Priest in Church and Society</a:t>
            </a:r>
            <a:endParaRPr lang="en-GB"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28827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Times New Roman" pitchFamily="18" charset="0"/>
                <a:cs typeface="Times New Roman" pitchFamily="18" charset="0"/>
              </a:rPr>
              <a:t>Introduction</a:t>
            </a: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marL="0" indent="0" algn="just">
              <a:lnSpc>
                <a:spcPct val="115000"/>
              </a:lnSpc>
              <a:spcAft>
                <a:spcPts val="1000"/>
              </a:spcAft>
              <a:buNone/>
            </a:pPr>
            <a:r>
              <a:rPr lang="en-GB" sz="2050" dirty="0" smtClean="0">
                <a:effectLst/>
                <a:latin typeface="Times New Roman" pitchFamily="18" charset="0"/>
                <a:ea typeface="Times New Roman"/>
                <a:cs typeface="Times New Roman" pitchFamily="18" charset="0"/>
              </a:rPr>
              <a:t>The priest holds a sacred and irreplaceable role in the life of both the Church and society. He is not merely a person who leads prayers or teaches religious doctrine; he is a spiritual father, a living icon of Christ, and a bridge between God and His people. His ministry is deeply rooted in the apostolic tradition and begins with his ordination through the laying on of hands, which connects him to the eternal priesthood of Jesus Christ, the one true High Priest (Hebrews 4:14–16).</a:t>
            </a:r>
            <a:endParaRPr lang="en-GB" sz="2050" dirty="0">
              <a:latin typeface="Times New Roman" pitchFamily="18" charset="0"/>
              <a:ea typeface="Calibri"/>
              <a:cs typeface="Times New Roman" pitchFamily="18" charset="0"/>
            </a:endParaRPr>
          </a:p>
          <a:p>
            <a:pPr marL="0" indent="0" algn="just">
              <a:lnSpc>
                <a:spcPct val="115000"/>
              </a:lnSpc>
              <a:spcAft>
                <a:spcPts val="1000"/>
              </a:spcAft>
              <a:buNone/>
            </a:pPr>
            <a:r>
              <a:rPr lang="en-GB" sz="2050" dirty="0" smtClean="0">
                <a:effectLst/>
                <a:latin typeface="Times New Roman" pitchFamily="18" charset="0"/>
                <a:ea typeface="Times New Roman"/>
                <a:cs typeface="Times New Roman" pitchFamily="18" charset="0"/>
              </a:rPr>
              <a:t>Saint John Chrysostom expresses the greatness of this calling by saying:</a:t>
            </a:r>
            <a:endParaRPr lang="en-GB" sz="2050" dirty="0">
              <a:latin typeface="Times New Roman" pitchFamily="18" charset="0"/>
              <a:ea typeface="Calibri"/>
              <a:cs typeface="Times New Roman" pitchFamily="18" charset="0"/>
            </a:endParaRPr>
          </a:p>
          <a:p>
            <a:pPr marL="0" indent="0" algn="just">
              <a:lnSpc>
                <a:spcPct val="115000"/>
              </a:lnSpc>
              <a:spcAft>
                <a:spcPts val="1000"/>
              </a:spcAft>
              <a:buNone/>
            </a:pPr>
            <a:r>
              <a:rPr lang="en-GB" sz="2050" dirty="0" smtClean="0">
                <a:effectLst/>
                <a:latin typeface="Times New Roman" pitchFamily="18" charset="0"/>
                <a:ea typeface="Times New Roman"/>
                <a:cs typeface="Times New Roman" pitchFamily="18" charset="0"/>
              </a:rPr>
              <a:t>"The priesthood is carried out on earth, but it belongs to the order of heavenly things. Even angels were not entrusted with this ministry — only men were chosen by God to serve as priests." (</a:t>
            </a:r>
            <a:r>
              <a:rPr lang="en-GB" sz="2050" i="1" dirty="0" smtClean="0">
                <a:effectLst/>
                <a:latin typeface="Times New Roman" pitchFamily="18" charset="0"/>
                <a:ea typeface="Times New Roman"/>
                <a:cs typeface="Times New Roman" pitchFamily="18" charset="0"/>
              </a:rPr>
              <a:t>On the Priesthood</a:t>
            </a:r>
            <a:r>
              <a:rPr lang="en-GB" sz="2050" dirty="0" smtClean="0">
                <a:effectLst/>
                <a:latin typeface="Times New Roman" pitchFamily="18" charset="0"/>
                <a:ea typeface="Times New Roman"/>
                <a:cs typeface="Times New Roman" pitchFamily="18" charset="0"/>
              </a:rPr>
              <a:t>, Book 3)</a:t>
            </a:r>
            <a:endParaRPr lang="en-GB" sz="2050" dirty="0">
              <a:latin typeface="Times New Roman" pitchFamily="18" charset="0"/>
              <a:ea typeface="Calibri"/>
              <a:cs typeface="Times New Roman" pitchFamily="18" charset="0"/>
            </a:endParaRPr>
          </a:p>
          <a:p>
            <a:endParaRPr lang="en-GB" sz="2100" dirty="0"/>
          </a:p>
        </p:txBody>
      </p:sp>
    </p:spTree>
    <p:extLst>
      <p:ext uri="{BB962C8B-B14F-4D97-AF65-F5344CB8AC3E}">
        <p14:creationId xmlns:p14="http://schemas.microsoft.com/office/powerpoint/2010/main" val="2721593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lvl="0" indent="0" algn="just">
              <a:lnSpc>
                <a:spcPct val="115000"/>
              </a:lnSpc>
              <a:spcAft>
                <a:spcPts val="1000"/>
              </a:spcAft>
              <a:buNone/>
            </a:pPr>
            <a:r>
              <a:rPr lang="en-GB" sz="2400" dirty="0">
                <a:solidFill>
                  <a:prstClr val="black"/>
                </a:solidFill>
                <a:latin typeface="Times New Roman" pitchFamily="18" charset="0"/>
                <a:ea typeface="Times New Roman"/>
                <a:cs typeface="Times New Roman" pitchFamily="18" charset="0"/>
              </a:rPr>
              <a:t>This means that while the priest serves among people, his work touches the divine. He stands before the altar, lifts up the prayers of the people, administers the holy mysteries, and guides souls toward salvation. His presence is essential not only in the liturgical life of the Church but also in every part of human life — in times of joy and sorrow, among the rich and poor, the young and the old, the healthy and the suffering. A priest’s </a:t>
            </a:r>
            <a:r>
              <a:rPr lang="en-GB" sz="2400" b="1" dirty="0">
                <a:solidFill>
                  <a:prstClr val="black"/>
                </a:solidFill>
                <a:latin typeface="Times New Roman" pitchFamily="18" charset="0"/>
                <a:ea typeface="Times New Roman"/>
                <a:cs typeface="Times New Roman" pitchFamily="18" charset="0"/>
              </a:rPr>
              <a:t>greatest calling</a:t>
            </a:r>
            <a:r>
              <a:rPr lang="en-GB" sz="2400" dirty="0">
                <a:solidFill>
                  <a:prstClr val="black"/>
                </a:solidFill>
                <a:latin typeface="Times New Roman" pitchFamily="18" charset="0"/>
                <a:ea typeface="Times New Roman"/>
                <a:cs typeface="Times New Roman" pitchFamily="18" charset="0"/>
              </a:rPr>
              <a:t> is to reflect </a:t>
            </a:r>
            <a:r>
              <a:rPr lang="en-GB" sz="2400" b="1" dirty="0">
                <a:solidFill>
                  <a:prstClr val="black"/>
                </a:solidFill>
                <a:latin typeface="Times New Roman" pitchFamily="18" charset="0"/>
                <a:ea typeface="Times New Roman"/>
                <a:cs typeface="Times New Roman" pitchFamily="18" charset="0"/>
              </a:rPr>
              <a:t>Christ’s love and wisdom</a:t>
            </a:r>
            <a:r>
              <a:rPr lang="en-GB" sz="2400" dirty="0">
                <a:solidFill>
                  <a:prstClr val="black"/>
                </a:solidFill>
                <a:latin typeface="Times New Roman" pitchFamily="18" charset="0"/>
                <a:ea typeface="Times New Roman"/>
                <a:cs typeface="Times New Roman" pitchFamily="18" charset="0"/>
              </a:rPr>
              <a:t>, leading the Church toward </a:t>
            </a:r>
            <a:r>
              <a:rPr lang="en-GB" sz="2400" b="1" dirty="0">
                <a:solidFill>
                  <a:prstClr val="black"/>
                </a:solidFill>
                <a:latin typeface="Times New Roman" pitchFamily="18" charset="0"/>
                <a:ea typeface="Times New Roman"/>
                <a:cs typeface="Times New Roman" pitchFamily="18" charset="0"/>
              </a:rPr>
              <a:t>holiness and spiritual growth</a:t>
            </a:r>
            <a:r>
              <a:rPr lang="en-GB" sz="2400" dirty="0">
                <a:solidFill>
                  <a:prstClr val="black"/>
                </a:solidFill>
                <a:latin typeface="Times New Roman" pitchFamily="18" charset="0"/>
                <a:ea typeface="Times New Roman"/>
                <a:cs typeface="Times New Roman" pitchFamily="18" charset="0"/>
              </a:rPr>
              <a:t>.</a:t>
            </a:r>
            <a:endParaRPr lang="en-GB" sz="2400" dirty="0">
              <a:solidFill>
                <a:prstClr val="black"/>
              </a:solidFill>
              <a:latin typeface="Times New Roman" pitchFamily="18" charset="0"/>
              <a:ea typeface="Calibri"/>
              <a:cs typeface="Times New Roman" pitchFamily="18" charset="0"/>
            </a:endParaRPr>
          </a:p>
          <a:p>
            <a:endParaRPr lang="en-GB" sz="2400" dirty="0">
              <a:latin typeface="Times New Roman" pitchFamily="18" charset="0"/>
              <a:cs typeface="Times New Roman" pitchFamily="18" charset="0"/>
            </a:endParaRPr>
          </a:p>
        </p:txBody>
      </p:sp>
    </p:spTree>
    <p:extLst>
      <p:ext uri="{BB962C8B-B14F-4D97-AF65-F5344CB8AC3E}">
        <p14:creationId xmlns:p14="http://schemas.microsoft.com/office/powerpoint/2010/main" val="573871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latin typeface="Times New Roman" pitchFamily="18" charset="0"/>
                <a:cs typeface="Times New Roman" pitchFamily="18" charset="0"/>
              </a:rPr>
              <a:t>The Priest in the Church</a:t>
            </a:r>
            <a:r>
              <a:rPr lang="en-GB" dirty="0" smtClean="0">
                <a:latin typeface="Times New Roman" pitchFamily="18" charset="0"/>
                <a:cs typeface="Times New Roman" pitchFamily="18" charset="0"/>
              </a:rPr>
              <a:t/>
            </a:r>
            <a:br>
              <a:rPr lang="en-GB" dirty="0" smtClean="0">
                <a:latin typeface="Times New Roman" pitchFamily="18" charset="0"/>
                <a:cs typeface="Times New Roman" pitchFamily="18" charset="0"/>
              </a:rPr>
            </a:br>
            <a:endParaRPr lang="en-GB"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62500" lnSpcReduction="20000"/>
          </a:bodyPr>
          <a:lstStyle/>
          <a:p>
            <a:pPr marL="0" indent="0" algn="just">
              <a:buNone/>
            </a:pPr>
            <a:r>
              <a:rPr lang="en-GB" b="1" dirty="0" smtClean="0">
                <a:latin typeface="Times New Roman" pitchFamily="18" charset="0"/>
                <a:cs typeface="Times New Roman" pitchFamily="18" charset="0"/>
              </a:rPr>
              <a:t>Celebrant of the Divine Liturgy</a:t>
            </a:r>
            <a:r>
              <a:rPr lang="en-GB" dirty="0" smtClean="0">
                <a:latin typeface="Times New Roman" pitchFamily="18" charset="0"/>
                <a:cs typeface="Times New Roman" pitchFamily="18" charset="0"/>
              </a:rPr>
              <a:t>: The central role of the priest is to offer the Holy </a:t>
            </a:r>
            <a:r>
              <a:rPr lang="en-GB" dirty="0" err="1" smtClean="0">
                <a:latin typeface="Times New Roman" pitchFamily="18" charset="0"/>
                <a:cs typeface="Times New Roman" pitchFamily="18" charset="0"/>
              </a:rPr>
              <a:t>Qurban</a:t>
            </a:r>
            <a:r>
              <a:rPr lang="en-GB" dirty="0" smtClean="0">
                <a:latin typeface="Times New Roman" pitchFamily="18" charset="0"/>
                <a:cs typeface="Times New Roman" pitchFamily="18" charset="0"/>
              </a:rPr>
              <a:t> (Divine Liturgy) on behalf of the people. This sacred act connects heaven and earth and requires deep preparation, personal holiness, and liturgical knowledge.</a:t>
            </a:r>
          </a:p>
          <a:p>
            <a:pPr marL="0" indent="0" algn="just">
              <a:buNone/>
            </a:pPr>
            <a:r>
              <a:rPr lang="en-GB" b="1" dirty="0" smtClean="0">
                <a:latin typeface="Times New Roman" pitchFamily="18" charset="0"/>
                <a:cs typeface="Times New Roman" pitchFamily="18" charset="0"/>
              </a:rPr>
              <a:t>Preacher and Teacher</a:t>
            </a:r>
            <a:r>
              <a:rPr lang="en-GB" dirty="0" smtClean="0">
                <a:latin typeface="Times New Roman" pitchFamily="18" charset="0"/>
                <a:cs typeface="Times New Roman" pitchFamily="18" charset="0"/>
              </a:rPr>
              <a:t>: The priest must teach the Word of God faithfully, interpret scripture according to Orthodox Tradition, and defend the faith against heresies.</a:t>
            </a:r>
          </a:p>
          <a:p>
            <a:pPr marL="0" indent="0" algn="just">
              <a:buNone/>
            </a:pPr>
            <a:r>
              <a:rPr lang="en-GB" b="1" dirty="0" smtClean="0">
                <a:latin typeface="Times New Roman" pitchFamily="18" charset="0"/>
                <a:cs typeface="Times New Roman" pitchFamily="18" charset="0"/>
              </a:rPr>
              <a:t>Intercessor and Spiritual Watchman</a:t>
            </a:r>
            <a:r>
              <a:rPr lang="en-GB" dirty="0" smtClean="0">
                <a:latin typeface="Times New Roman" pitchFamily="18" charset="0"/>
                <a:cs typeface="Times New Roman" pitchFamily="18" charset="0"/>
              </a:rPr>
              <a:t>: The priest prays daily for his congregation, remembering them in his liturgy, prayers, and fasting. He acts as a shepherd who watches over souls (Hebrews 13:17).</a:t>
            </a:r>
          </a:p>
          <a:p>
            <a:pPr marL="0" indent="0" algn="just">
              <a:buNone/>
            </a:pPr>
            <a:r>
              <a:rPr lang="en-GB" b="1" dirty="0" smtClean="0">
                <a:latin typeface="Times New Roman" pitchFamily="18" charset="0"/>
                <a:cs typeface="Times New Roman" pitchFamily="18" charset="0"/>
              </a:rPr>
              <a:t>Administrator of the Sacraments</a:t>
            </a:r>
            <a:r>
              <a:rPr lang="en-GB" dirty="0" smtClean="0">
                <a:latin typeface="Times New Roman" pitchFamily="18" charset="0"/>
                <a:cs typeface="Times New Roman" pitchFamily="18" charset="0"/>
              </a:rPr>
              <a:t>: He baptizes, anoints, hears confessions, blesses marriages, anoints the sick, and prepares the dying.</a:t>
            </a:r>
          </a:p>
          <a:p>
            <a:pPr marL="0" indent="0" algn="just">
              <a:buNone/>
            </a:pPr>
            <a:r>
              <a:rPr lang="en-GB" b="1" dirty="0" smtClean="0">
                <a:latin typeface="Times New Roman" pitchFamily="18" charset="0"/>
                <a:cs typeface="Times New Roman" pitchFamily="18" charset="0"/>
              </a:rPr>
              <a:t>Guardian of Tradition</a:t>
            </a:r>
            <a:r>
              <a:rPr lang="en-GB" dirty="0" smtClean="0">
                <a:latin typeface="Times New Roman" pitchFamily="18" charset="0"/>
                <a:cs typeface="Times New Roman" pitchFamily="18" charset="0"/>
              </a:rPr>
              <a:t>: He ensures that worship and teachings conform to the Orthodox ethos, protecting the Church’s apostolic faith.</a:t>
            </a:r>
          </a:p>
          <a:p>
            <a:pPr marL="0" indent="0" algn="just">
              <a:buNone/>
            </a:pPr>
            <a:r>
              <a:rPr lang="en-GB" b="1" dirty="0" smtClean="0">
                <a:latin typeface="Times New Roman" pitchFamily="18" charset="0"/>
                <a:cs typeface="Times New Roman" pitchFamily="18" charset="0"/>
              </a:rPr>
              <a:t>Example of Holiness</a:t>
            </a:r>
            <a:r>
              <a:rPr lang="en-GB" dirty="0" smtClean="0">
                <a:latin typeface="Times New Roman" pitchFamily="18" charset="0"/>
                <a:cs typeface="Times New Roman" pitchFamily="18" charset="0"/>
              </a:rPr>
              <a:t>: Through his lifestyle, he becomes a living sermon, inspiring the faithful through humility, discipline, and mercy.</a:t>
            </a:r>
          </a:p>
          <a:p>
            <a:endParaRPr lang="en-GB" dirty="0"/>
          </a:p>
        </p:txBody>
      </p:sp>
    </p:spTree>
    <p:extLst>
      <p:ext uri="{BB962C8B-B14F-4D97-AF65-F5344CB8AC3E}">
        <p14:creationId xmlns:p14="http://schemas.microsoft.com/office/powerpoint/2010/main" val="2352514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b="1" dirty="0" smtClean="0">
                <a:latin typeface="Times New Roman" pitchFamily="18" charset="0"/>
                <a:cs typeface="Times New Roman" pitchFamily="18" charset="0"/>
              </a:rPr>
              <a:t>The Priest in the House of His Spiritual Children</a:t>
            </a:r>
            <a:r>
              <a:rPr lang="en-GB" sz="2800" dirty="0" smtClean="0">
                <a:latin typeface="Times New Roman" pitchFamily="18" charset="0"/>
                <a:cs typeface="Times New Roman" pitchFamily="18" charset="0"/>
              </a:rPr>
              <a:t/>
            </a:r>
            <a:br>
              <a:rPr lang="en-GB" sz="2800" dirty="0" smtClean="0">
                <a:latin typeface="Times New Roman" pitchFamily="18" charset="0"/>
                <a:cs typeface="Times New Roman" pitchFamily="18" charset="0"/>
              </a:rPr>
            </a:br>
            <a:endParaRPr lang="en-GB"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GB" dirty="0" smtClean="0">
                <a:latin typeface="Times New Roman" pitchFamily="18" charset="0"/>
                <a:cs typeface="Times New Roman" pitchFamily="18" charset="0"/>
              </a:rPr>
              <a:t>The priest is not only a minister at the altar but also a </a:t>
            </a:r>
            <a:r>
              <a:rPr lang="en-GB" b="1" dirty="0" smtClean="0">
                <a:latin typeface="Times New Roman" pitchFamily="18" charset="0"/>
                <a:cs typeface="Times New Roman" pitchFamily="18" charset="0"/>
              </a:rPr>
              <a:t>spiritual father</a:t>
            </a:r>
            <a:r>
              <a:rPr lang="en-GB" dirty="0" smtClean="0">
                <a:latin typeface="Times New Roman" pitchFamily="18" charset="0"/>
                <a:cs typeface="Times New Roman" pitchFamily="18" charset="0"/>
              </a:rPr>
              <a:t> in the homes of his faithful children. His pastoral mission extends beyond the walls of the church into the everyday lives of the people he shepherds. Just as Christ visited homes—healing the sick, dining with families, blessing children—the priest must follow His example by entering the lives of his flock with love, humility, and wisdom.</a:t>
            </a: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41889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10000"/>
          </a:bodyPr>
          <a:lstStyle/>
          <a:p>
            <a:pPr algn="just">
              <a:buFont typeface="Arial"/>
              <a:buChar char="•"/>
            </a:pPr>
            <a:r>
              <a:rPr lang="en-GB" dirty="0" smtClean="0">
                <a:latin typeface="Times New Roman" pitchFamily="18" charset="0"/>
                <a:cs typeface="Times New Roman" pitchFamily="18" charset="0"/>
              </a:rPr>
              <a:t>A priest should regularly visit his flock, especially those who are spiritually struggling or physically isolated.</a:t>
            </a:r>
          </a:p>
          <a:p>
            <a:pPr algn="just">
              <a:buFont typeface="Arial"/>
              <a:buChar char="•"/>
            </a:pPr>
            <a:r>
              <a:rPr lang="en-GB" dirty="0" smtClean="0">
                <a:latin typeface="Times New Roman" pitchFamily="18" charset="0"/>
                <a:cs typeface="Times New Roman" pitchFamily="18" charset="0"/>
              </a:rPr>
              <a:t>In the home, he blesses the family, listens to their spiritual and personal struggles, gives pastoral advice, and encourages harmony, prayer, and love.</a:t>
            </a:r>
          </a:p>
          <a:p>
            <a:pPr algn="just">
              <a:buFont typeface="Arial"/>
              <a:buChar char="•"/>
            </a:pPr>
            <a:r>
              <a:rPr lang="en-GB" dirty="0" smtClean="0">
                <a:latin typeface="Times New Roman" pitchFamily="18" charset="0"/>
                <a:cs typeface="Times New Roman" pitchFamily="18" charset="0"/>
              </a:rPr>
              <a:t>He strengthens marital relationships, encourages children in faith, and helps the family prioritize church life.</a:t>
            </a:r>
          </a:p>
          <a:p>
            <a:pPr algn="just">
              <a:buFont typeface="Arial"/>
              <a:buChar char="•"/>
            </a:pPr>
            <a:r>
              <a:rPr lang="en-GB" dirty="0" smtClean="0">
                <a:latin typeface="Times New Roman" pitchFamily="18" charset="0"/>
                <a:cs typeface="Times New Roman" pitchFamily="18" charset="0"/>
              </a:rPr>
              <a:t>As a father figure, he must cultivate a close, trusting, and prayerful relationship with his spiritual children.</a:t>
            </a:r>
          </a:p>
          <a:p>
            <a:pPr algn="just"/>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4122653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algn="just"/>
            <a:r>
              <a:rPr lang="en-GB" dirty="0" smtClean="0">
                <a:latin typeface="Times New Roman" pitchFamily="18" charset="0"/>
                <a:cs typeface="Times New Roman" pitchFamily="18" charset="0"/>
              </a:rPr>
              <a:t>A Spiritual Father and Guide</a:t>
            </a:r>
          </a:p>
          <a:p>
            <a:pPr algn="just"/>
            <a:r>
              <a:rPr lang="en-GB" dirty="0" smtClean="0">
                <a:latin typeface="Times New Roman" pitchFamily="18" charset="0"/>
                <a:cs typeface="Times New Roman" pitchFamily="18" charset="0"/>
              </a:rPr>
              <a:t>Presence in Times of Need</a:t>
            </a:r>
          </a:p>
          <a:p>
            <a:pPr algn="just"/>
            <a:r>
              <a:rPr lang="en-GB" dirty="0" smtClean="0">
                <a:latin typeface="Times New Roman" pitchFamily="18" charset="0"/>
                <a:cs typeface="Times New Roman" pitchFamily="18" charset="0"/>
              </a:rPr>
              <a:t>Building the Domestic Church</a:t>
            </a:r>
          </a:p>
          <a:p>
            <a:pPr algn="just"/>
            <a:r>
              <a:rPr lang="en-GB" dirty="0" smtClean="0">
                <a:latin typeface="Times New Roman" pitchFamily="18" charset="0"/>
                <a:cs typeface="Times New Roman" pitchFamily="18" charset="0"/>
              </a:rPr>
              <a:t>Correcting with Love</a:t>
            </a:r>
          </a:p>
          <a:p>
            <a:pPr algn="just"/>
            <a:r>
              <a:rPr lang="en-GB" dirty="0" smtClean="0">
                <a:latin typeface="Times New Roman" pitchFamily="18" charset="0"/>
                <a:cs typeface="Times New Roman" pitchFamily="18" charset="0"/>
              </a:rPr>
              <a:t>Encouraging Vocations and Church Life</a:t>
            </a:r>
          </a:p>
          <a:p>
            <a:pPr marL="0" indent="0" algn="just">
              <a:buNone/>
            </a:pPr>
            <a:r>
              <a:rPr lang="en-GB" dirty="0" smtClean="0">
                <a:latin typeface="Times New Roman" pitchFamily="18" charset="0"/>
                <a:cs typeface="Times New Roman" pitchFamily="18" charset="0"/>
              </a:rPr>
              <a:t>The home is the first seminary. A priest's visit and encouragement can inspire young people to:</a:t>
            </a:r>
          </a:p>
          <a:p>
            <a:pPr marL="0" indent="0" algn="just">
              <a:buNone/>
            </a:pPr>
            <a:r>
              <a:rPr lang="en-GB" dirty="0" smtClean="0">
                <a:latin typeface="Times New Roman" pitchFamily="18" charset="0"/>
                <a:cs typeface="Times New Roman" pitchFamily="18" charset="0"/>
              </a:rPr>
              <a:t>Serve as deacons, monks, or future priests.</a:t>
            </a:r>
          </a:p>
          <a:p>
            <a:pPr marL="0" indent="0" algn="just">
              <a:buNone/>
            </a:pPr>
            <a:r>
              <a:rPr lang="en-GB" dirty="0" smtClean="0">
                <a:latin typeface="Times New Roman" pitchFamily="18" charset="0"/>
                <a:cs typeface="Times New Roman" pitchFamily="18" charset="0"/>
              </a:rPr>
              <a:t>Engage actively in the life of the church.</a:t>
            </a:r>
          </a:p>
          <a:p>
            <a:pPr marL="0" indent="0" algn="just">
              <a:buNone/>
            </a:pPr>
            <a:r>
              <a:rPr lang="en-GB" dirty="0" smtClean="0">
                <a:latin typeface="Times New Roman" pitchFamily="18" charset="0"/>
                <a:cs typeface="Times New Roman" pitchFamily="18" charset="0"/>
              </a:rPr>
              <a:t>Understand their value in the Kingdom of God.</a:t>
            </a:r>
          </a:p>
          <a:p>
            <a:endParaRPr lang="en-GB" dirty="0"/>
          </a:p>
        </p:txBody>
      </p:sp>
    </p:spTree>
    <p:extLst>
      <p:ext uri="{BB962C8B-B14F-4D97-AF65-F5344CB8AC3E}">
        <p14:creationId xmlns:p14="http://schemas.microsoft.com/office/powerpoint/2010/main" val="2768607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GB" sz="2400" b="1" dirty="0">
                <a:latin typeface="Times New Roman" pitchFamily="18" charset="0"/>
                <a:ea typeface="Times New Roman"/>
                <a:cs typeface="Times New Roman" pitchFamily="18" charset="0"/>
              </a:rPr>
              <a:t>The Priest in the House of Mourning (Sorrow)</a:t>
            </a:r>
            <a:r>
              <a:rPr lang="en-GB" sz="2400" dirty="0">
                <a:latin typeface="Times New Roman" pitchFamily="18" charset="0"/>
                <a:ea typeface="Calibri"/>
                <a:cs typeface="Times New Roman" pitchFamily="18" charset="0"/>
              </a:rPr>
              <a:t/>
            </a:r>
            <a:br>
              <a:rPr lang="en-GB" sz="2400" dirty="0">
                <a:latin typeface="Times New Roman" pitchFamily="18" charset="0"/>
                <a:ea typeface="Calibri"/>
                <a:cs typeface="Times New Roman" pitchFamily="18" charset="0"/>
              </a:rPr>
            </a:br>
            <a:endParaRPr lang="en-GB" sz="24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A priest is called to comfort the sorrowful with the hope of the Resurrection.</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conducts funerals and memorial services with dignity and reverence, emphasizing eternal life.</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must be present with the grieving, listen with compassion, and offer scriptural and spiritual comfort.</a:t>
            </a:r>
            <a:endParaRPr lang="en-GB" sz="2800" dirty="0">
              <a:ea typeface="Calibri"/>
              <a:cs typeface="Times New Roman"/>
            </a:endParaRPr>
          </a:p>
          <a:p>
            <a:pPr algn="just"/>
            <a:r>
              <a:rPr lang="en-GB" dirty="0">
                <a:latin typeface="Times New Roman"/>
                <a:ea typeface="Times New Roman"/>
              </a:rPr>
              <a:t>By his presence, he symbolizes the Church standing with the </a:t>
            </a:r>
            <a:r>
              <a:rPr lang="en-GB" dirty="0" smtClean="0">
                <a:latin typeface="Times New Roman"/>
                <a:ea typeface="Times New Roman"/>
              </a:rPr>
              <a:t>afflicted.</a:t>
            </a:r>
            <a:endParaRPr lang="en-GB" dirty="0"/>
          </a:p>
        </p:txBody>
      </p:sp>
    </p:spTree>
    <p:extLst>
      <p:ext uri="{BB962C8B-B14F-4D97-AF65-F5344CB8AC3E}">
        <p14:creationId xmlns:p14="http://schemas.microsoft.com/office/powerpoint/2010/main" val="3332984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The Priest at Weddings</a:t>
            </a:r>
            <a:endParaRPr lang="en-GB" dirty="0"/>
          </a:p>
        </p:txBody>
      </p:sp>
      <p:sp>
        <p:nvSpPr>
          <p:cNvPr id="3" name="Content Placeholder 2"/>
          <p:cNvSpPr>
            <a:spLocks noGrp="1"/>
          </p:cNvSpPr>
          <p:nvPr>
            <p:ph idx="1"/>
          </p:nvPr>
        </p:nvSpPr>
        <p:spPr/>
        <p:txBody>
          <a:bodyPr>
            <a:normAutofit fontScale="85000" lnSpcReduction="20000"/>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A priest officiates weddings as a sacred mystery (sacrament) and must prepare the couple beforehand through </a:t>
            </a:r>
            <a:r>
              <a:rPr lang="en-GB" dirty="0" err="1">
                <a:latin typeface="Times New Roman"/>
                <a:ea typeface="Times New Roman"/>
                <a:cs typeface="Times New Roman"/>
              </a:rPr>
              <a:t>counseling</a:t>
            </a:r>
            <a:r>
              <a:rPr lang="en-GB" dirty="0">
                <a:latin typeface="Times New Roman"/>
                <a:ea typeface="Times New Roman"/>
                <a:cs typeface="Times New Roman"/>
              </a:rPr>
              <a:t>.</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explains the Orthodox understanding of marriage as a divine union and path to holiness.</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During the wedding, he leads the couple in prayer, crowns them, and blesses their home.</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After the ceremony, he continues to support them as their spiritual father.</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724494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The Priest Among the Poor</a:t>
            </a:r>
            <a:r>
              <a:rPr lang="en-GB" sz="4000" dirty="0">
                <a:ea typeface="Calibri"/>
                <a:cs typeface="Times New Roman"/>
              </a:rPr>
              <a:t/>
            </a:r>
            <a:br>
              <a:rPr lang="en-GB" sz="4000" dirty="0">
                <a:ea typeface="Calibri"/>
                <a:cs typeface="Times New Roman"/>
              </a:rPr>
            </a:br>
            <a:endParaRPr lang="en-GB" dirty="0"/>
          </a:p>
        </p:txBody>
      </p:sp>
      <p:sp>
        <p:nvSpPr>
          <p:cNvPr id="3" name="Content Placeholder 2"/>
          <p:cNvSpPr>
            <a:spLocks noGrp="1"/>
          </p:cNvSpPr>
          <p:nvPr>
            <p:ph idx="1"/>
          </p:nvPr>
        </p:nvSpPr>
        <p:spPr/>
        <p:txBody>
          <a:bodyPr>
            <a:normAutofit fontScale="85000" lnSpcReduction="20000"/>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The priest must reflect Christ’s love for the poor, marginalized, and suffering.</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should organize charitable activities, ensure that parish funds support those in need, and encourage the wealthy to practice generosity.</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must treat the poor with dignity and avoid favouritism.</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His presence among the poor reveals the heart of the Gospel.</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937113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The Priest with Children</a:t>
            </a:r>
            <a:endParaRPr lang="en-GB" dirty="0"/>
          </a:p>
        </p:txBody>
      </p:sp>
      <p:sp>
        <p:nvSpPr>
          <p:cNvPr id="3" name="Content Placeholder 2"/>
          <p:cNvSpPr>
            <a:spLocks noGrp="1"/>
          </p:cNvSpPr>
          <p:nvPr>
            <p:ph idx="1"/>
          </p:nvPr>
        </p:nvSpPr>
        <p:spPr/>
        <p:txBody>
          <a:bodyPr>
            <a:normAutofit fontScale="92500" lnSpcReduction="20000"/>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Children must be welcomed, respected, and spiritually nurtured by the priest.</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should organize catechism, storytelling, spiritual songs, and blessings.</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His interaction must be joyful, warm, and encouraging.</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represents a spiritual father who helps them love God and the Church from a young age.</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1390776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The Priest with Youth</a:t>
            </a:r>
            <a:endParaRPr lang="en-GB" dirty="0"/>
          </a:p>
        </p:txBody>
      </p:sp>
      <p:sp>
        <p:nvSpPr>
          <p:cNvPr id="3" name="Content Placeholder 2"/>
          <p:cNvSpPr>
            <a:spLocks noGrp="1"/>
          </p:cNvSpPr>
          <p:nvPr>
            <p:ph idx="1"/>
          </p:nvPr>
        </p:nvSpPr>
        <p:spPr/>
        <p:txBody>
          <a:bodyPr>
            <a:normAutofit lnSpcReduction="10000"/>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Youth need guidance, purpose, and connection. The priest must create platforms for discussion, mentorship, confession, and spiritual formation.</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should not be judgmental but rather an understanding, firm, and loving guide.</a:t>
            </a:r>
            <a:endParaRPr lang="en-GB" sz="2800" dirty="0">
              <a:ea typeface="Calibri"/>
              <a:cs typeface="Times New Roman"/>
            </a:endParaRPr>
          </a:p>
          <a:p>
            <a:pPr algn="just"/>
            <a:r>
              <a:rPr lang="en-GB" dirty="0">
                <a:latin typeface="Times New Roman"/>
                <a:ea typeface="Times New Roman"/>
              </a:rPr>
              <a:t>He must be a model of chastity, wisdom, courage, and strength in Christ.</a:t>
            </a:r>
            <a:endParaRPr lang="en-GB" dirty="0"/>
          </a:p>
        </p:txBody>
      </p:sp>
    </p:spTree>
    <p:extLst>
      <p:ext uri="{BB962C8B-B14F-4D97-AF65-F5344CB8AC3E}">
        <p14:creationId xmlns:p14="http://schemas.microsoft.com/office/powerpoint/2010/main" val="370820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The Priest with the Rich</a:t>
            </a:r>
            <a:r>
              <a:rPr lang="en-GB" sz="4000" dirty="0">
                <a:ea typeface="Calibri"/>
                <a:cs typeface="Times New Roman"/>
              </a:rPr>
              <a:t/>
            </a:r>
            <a:br>
              <a:rPr lang="en-GB" sz="4000" dirty="0">
                <a:ea typeface="Calibri"/>
                <a:cs typeface="Times New Roman"/>
              </a:rPr>
            </a:br>
            <a:endParaRPr lang="en-GB" dirty="0"/>
          </a:p>
        </p:txBody>
      </p:sp>
      <p:sp>
        <p:nvSpPr>
          <p:cNvPr id="3" name="Content Placeholder 2"/>
          <p:cNvSpPr>
            <a:spLocks noGrp="1"/>
          </p:cNvSpPr>
          <p:nvPr>
            <p:ph idx="1"/>
          </p:nvPr>
        </p:nvSpPr>
        <p:spPr/>
        <p:txBody>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must be impartial, never </a:t>
            </a:r>
            <a:r>
              <a:rPr lang="en-GB" dirty="0" err="1">
                <a:latin typeface="Times New Roman"/>
                <a:ea typeface="Times New Roman"/>
                <a:cs typeface="Times New Roman"/>
              </a:rPr>
              <a:t>favoring</a:t>
            </a:r>
            <a:r>
              <a:rPr lang="en-GB" dirty="0">
                <a:latin typeface="Times New Roman"/>
                <a:ea typeface="Times New Roman"/>
                <a:cs typeface="Times New Roman"/>
              </a:rPr>
              <a:t> the rich or fearing to preach the truth.</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teaches the rich to be humble, generous, and accountable.</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reminds them of the spiritual dangers of wealth and the blessing of charity.</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1085081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a:ea typeface="Times New Roman"/>
              </a:rPr>
              <a:t>The Priest with Orphans</a:t>
            </a:r>
            <a:endParaRPr lang="en-GB" dirty="0"/>
          </a:p>
        </p:txBody>
      </p:sp>
      <p:sp>
        <p:nvSpPr>
          <p:cNvPr id="3" name="Content Placeholder 2"/>
          <p:cNvSpPr>
            <a:spLocks noGrp="1"/>
          </p:cNvSpPr>
          <p:nvPr>
            <p:ph idx="1"/>
          </p:nvPr>
        </p:nvSpPr>
        <p:spPr/>
        <p:txBody>
          <a:bodyPr>
            <a:normAutofit lnSpcReduction="10000"/>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must defend, nurture, and protect orphans as Christ commanded (James 1:27).</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Visits to orphanages, providing spiritual and material support, and integrating orphans into the parish are essential duties.</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represents God's fatherhood to those without earthly fathers.</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389883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The Priest with Prisoners</a:t>
            </a:r>
            <a:r>
              <a:rPr lang="en-GB" sz="4000" dirty="0">
                <a:ea typeface="Calibri"/>
                <a:cs typeface="Times New Roman"/>
              </a:rPr>
              <a:t/>
            </a:r>
            <a:br>
              <a:rPr lang="en-GB" sz="4000" dirty="0">
                <a:ea typeface="Calibri"/>
                <a:cs typeface="Times New Roman"/>
              </a:rPr>
            </a:br>
            <a:endParaRPr lang="en-GB" dirty="0"/>
          </a:p>
        </p:txBody>
      </p:sp>
      <p:sp>
        <p:nvSpPr>
          <p:cNvPr id="3" name="Content Placeholder 2"/>
          <p:cNvSpPr>
            <a:spLocks noGrp="1"/>
          </p:cNvSpPr>
          <p:nvPr>
            <p:ph idx="1"/>
          </p:nvPr>
        </p:nvSpPr>
        <p:spPr/>
        <p:txBody>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The priest visits prisoners with the compassion of Christ, offering confession, prayer, and the Word of God.</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must see the dignity of the imprisoned and bring hope for repentance and transformation.</a:t>
            </a:r>
            <a:endParaRPr lang="en-GB" sz="2800" dirty="0">
              <a:ea typeface="Calibri"/>
              <a:cs typeface="Times New Roman"/>
            </a:endParaRPr>
          </a:p>
          <a:p>
            <a:pPr algn="just"/>
            <a:r>
              <a:rPr lang="en-GB" dirty="0">
                <a:latin typeface="Times New Roman"/>
                <a:ea typeface="Times New Roman"/>
              </a:rPr>
              <a:t>He also assists their families when possible.</a:t>
            </a:r>
            <a:endParaRPr lang="en-GB" dirty="0"/>
          </a:p>
        </p:txBody>
      </p:sp>
    </p:spTree>
    <p:extLst>
      <p:ext uri="{BB962C8B-B14F-4D97-AF65-F5344CB8AC3E}">
        <p14:creationId xmlns:p14="http://schemas.microsoft.com/office/powerpoint/2010/main" val="2853516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nSpc>
                <a:spcPct val="115000"/>
              </a:lnSpc>
              <a:spcAft>
                <a:spcPts val="1000"/>
              </a:spcAft>
            </a:pPr>
            <a:r>
              <a:rPr lang="en-GB" b="1" dirty="0">
                <a:latin typeface="Times New Roman"/>
                <a:ea typeface="Times New Roman"/>
                <a:cs typeface="Times New Roman"/>
              </a:rPr>
              <a:t>The Priest with the Sick</a:t>
            </a:r>
            <a:r>
              <a:rPr lang="en-GB" sz="4000" dirty="0">
                <a:ea typeface="Calibri"/>
                <a:cs typeface="Times New Roman"/>
              </a:rPr>
              <a:t/>
            </a:r>
            <a:br>
              <a:rPr lang="en-GB" sz="4000" dirty="0">
                <a:ea typeface="Calibri"/>
                <a:cs typeface="Times New Roman"/>
              </a:rPr>
            </a:br>
            <a:endParaRPr lang="en-GB" dirty="0"/>
          </a:p>
        </p:txBody>
      </p:sp>
      <p:sp>
        <p:nvSpPr>
          <p:cNvPr id="3" name="Content Placeholder 2"/>
          <p:cNvSpPr>
            <a:spLocks noGrp="1"/>
          </p:cNvSpPr>
          <p:nvPr>
            <p:ph idx="1"/>
          </p:nvPr>
        </p:nvSpPr>
        <p:spPr/>
        <p:txBody>
          <a:bodyPr>
            <a:normAutofit fontScale="92500" lnSpcReduction="10000"/>
          </a:bodyPr>
          <a:lstStyle/>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Visiting the sick is a pastoral priority. He brings the presence of Christ through prayer, Holy Communion, and anointing.</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He listens, comforts, prays, and stays connected even after recovery.</a:t>
            </a:r>
            <a:endParaRPr lang="en-GB" sz="2800" dirty="0">
              <a:ea typeface="Calibri"/>
              <a:cs typeface="Times New Roman"/>
            </a:endParaRPr>
          </a:p>
          <a:p>
            <a:pPr lvl="0" algn="just">
              <a:lnSpc>
                <a:spcPct val="115000"/>
              </a:lnSpc>
              <a:spcAft>
                <a:spcPts val="1000"/>
              </a:spcAft>
              <a:buSzPts val="1000"/>
              <a:buFont typeface="Symbol"/>
              <a:buChar char=""/>
              <a:tabLst>
                <a:tab pos="457200" algn="l"/>
              </a:tabLst>
            </a:pPr>
            <a:r>
              <a:rPr lang="en-GB" dirty="0">
                <a:latin typeface="Times New Roman"/>
                <a:ea typeface="Times New Roman"/>
                <a:cs typeface="Times New Roman"/>
              </a:rPr>
              <a:t>In terminal illness, he prepares the soul for peaceful departure through confession and sacraments.</a:t>
            </a:r>
            <a:endParaRPr lang="en-GB" sz="2800" dirty="0">
              <a:ea typeface="Calibri"/>
              <a:cs typeface="Times New Roman"/>
            </a:endParaRPr>
          </a:p>
          <a:p>
            <a:endParaRPr lang="en-GB" dirty="0"/>
          </a:p>
        </p:txBody>
      </p:sp>
    </p:spTree>
    <p:extLst>
      <p:ext uri="{BB962C8B-B14F-4D97-AF65-F5344CB8AC3E}">
        <p14:creationId xmlns:p14="http://schemas.microsoft.com/office/powerpoint/2010/main" val="878657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TotalTime>
  <Words>1243</Words>
  <Application>Microsoft Office PowerPoint</Application>
  <PresentationFormat>On-screen Show (4:3)</PresentationFormat>
  <Paragraphs>69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CHAPTER FOUR</vt:lpstr>
      <vt:lpstr>Introduction</vt:lpstr>
      <vt:lpstr>PowerPoint Presentation</vt:lpstr>
      <vt:lpstr>The Priest in the Church </vt:lpstr>
      <vt:lpstr>The Priest in the House of His Spiritual Children </vt:lpstr>
      <vt:lpstr>PowerPoint Presentation</vt:lpstr>
      <vt:lpstr>PowerPoint Presentation</vt:lpstr>
      <vt:lpstr>The Priest in the House of Mourning (Sorrow) </vt:lpstr>
      <vt:lpstr>The Priest at Weddings</vt:lpstr>
      <vt:lpstr>The Priest Among the Poor </vt:lpstr>
      <vt:lpstr>The Priest with Children</vt:lpstr>
      <vt:lpstr>The Priest with Youth</vt:lpstr>
      <vt:lpstr>The Priest with the Rich </vt:lpstr>
      <vt:lpstr>The Priest with Orphans</vt:lpstr>
      <vt:lpstr>The Priest with Prisoners </vt:lpstr>
      <vt:lpstr>The Priest with the Sick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9</cp:revision>
  <dcterms:created xsi:type="dcterms:W3CDTF">2025-04-12T07:55:08Z</dcterms:created>
  <dcterms:modified xsi:type="dcterms:W3CDTF">2025-04-12T23:17:06Z</dcterms:modified>
</cp:coreProperties>
</file>