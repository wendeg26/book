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p:scale>
          <a:sx n="70" d="100"/>
          <a:sy n="70" d="100"/>
        </p:scale>
        <p:origin x="-72" y="-18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A26C5A4-2AA8-B7FE-AA15-E5E21009DF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37396B81-230E-90DA-8C0D-EA0C90468C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9CEC4DD4-CF3F-10E1-D07D-CA47531AE2A3}"/>
              </a:ext>
            </a:extLst>
          </p:cNvPr>
          <p:cNvSpPr>
            <a:spLocks noGrp="1"/>
          </p:cNvSpPr>
          <p:nvPr>
            <p:ph type="dt" sz="half" idx="10"/>
          </p:nvPr>
        </p:nvSpPr>
        <p:spPr/>
        <p:txBody>
          <a:bodyPr/>
          <a:lstStyle/>
          <a:p>
            <a:fld id="{CAC0171D-A542-45F4-A09E-3EC974C64062}" type="datetimeFigureOut">
              <a:rPr lang="en-US" smtClean="0"/>
              <a:t>12/25/2024</a:t>
            </a:fld>
            <a:endParaRPr lang="en-US"/>
          </a:p>
        </p:txBody>
      </p:sp>
      <p:sp>
        <p:nvSpPr>
          <p:cNvPr id="5" name="Footer Placeholder 4">
            <a:extLst>
              <a:ext uri="{FF2B5EF4-FFF2-40B4-BE49-F238E27FC236}">
                <a16:creationId xmlns="" xmlns:a16="http://schemas.microsoft.com/office/drawing/2014/main" id="{2B7675B6-95F3-BDA8-14C1-6B5F262EDA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FB05FEDE-A0E3-F4E7-DEB8-D47168E28C2A}"/>
              </a:ext>
            </a:extLst>
          </p:cNvPr>
          <p:cNvSpPr>
            <a:spLocks noGrp="1"/>
          </p:cNvSpPr>
          <p:nvPr>
            <p:ph type="sldNum" sz="quarter" idx="12"/>
          </p:nvPr>
        </p:nvSpPr>
        <p:spPr/>
        <p:txBody>
          <a:bodyPr/>
          <a:lstStyle/>
          <a:p>
            <a:fld id="{37E2B160-25B2-49DB-A59A-A8C8FEBB263D}" type="slidenum">
              <a:rPr lang="en-US" smtClean="0"/>
              <a:t>‹#›</a:t>
            </a:fld>
            <a:endParaRPr lang="en-US"/>
          </a:p>
        </p:txBody>
      </p:sp>
    </p:spTree>
    <p:extLst>
      <p:ext uri="{BB962C8B-B14F-4D97-AF65-F5344CB8AC3E}">
        <p14:creationId xmlns:p14="http://schemas.microsoft.com/office/powerpoint/2010/main" val="2324110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6576354-3B5D-2507-08A8-E4CF8890C0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E97C4B86-B623-1478-C75B-BAFBFFA37C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9986B9E9-A4DC-5387-C70C-4C2D3C5EE45E}"/>
              </a:ext>
            </a:extLst>
          </p:cNvPr>
          <p:cNvSpPr>
            <a:spLocks noGrp="1"/>
          </p:cNvSpPr>
          <p:nvPr>
            <p:ph type="dt" sz="half" idx="10"/>
          </p:nvPr>
        </p:nvSpPr>
        <p:spPr/>
        <p:txBody>
          <a:bodyPr/>
          <a:lstStyle/>
          <a:p>
            <a:fld id="{CAC0171D-A542-45F4-A09E-3EC974C64062}" type="datetimeFigureOut">
              <a:rPr lang="en-US" smtClean="0"/>
              <a:t>12/25/2024</a:t>
            </a:fld>
            <a:endParaRPr lang="en-US"/>
          </a:p>
        </p:txBody>
      </p:sp>
      <p:sp>
        <p:nvSpPr>
          <p:cNvPr id="5" name="Footer Placeholder 4">
            <a:extLst>
              <a:ext uri="{FF2B5EF4-FFF2-40B4-BE49-F238E27FC236}">
                <a16:creationId xmlns="" xmlns:a16="http://schemas.microsoft.com/office/drawing/2014/main" id="{DC5E982C-B9C6-0FBB-4F38-E54BFE03A4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C15851B8-0752-A72D-D07C-070620FAA11C}"/>
              </a:ext>
            </a:extLst>
          </p:cNvPr>
          <p:cNvSpPr>
            <a:spLocks noGrp="1"/>
          </p:cNvSpPr>
          <p:nvPr>
            <p:ph type="sldNum" sz="quarter" idx="12"/>
          </p:nvPr>
        </p:nvSpPr>
        <p:spPr/>
        <p:txBody>
          <a:bodyPr/>
          <a:lstStyle/>
          <a:p>
            <a:fld id="{37E2B160-25B2-49DB-A59A-A8C8FEBB263D}" type="slidenum">
              <a:rPr lang="en-US" smtClean="0"/>
              <a:t>‹#›</a:t>
            </a:fld>
            <a:endParaRPr lang="en-US"/>
          </a:p>
        </p:txBody>
      </p:sp>
    </p:spTree>
    <p:extLst>
      <p:ext uri="{BB962C8B-B14F-4D97-AF65-F5344CB8AC3E}">
        <p14:creationId xmlns:p14="http://schemas.microsoft.com/office/powerpoint/2010/main" val="2204092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72E13A3-546D-6590-2D34-EAD0E7FA9F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940156D6-1558-34E7-63AE-91120CA057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A2EF0205-D4E1-D7E2-5BDE-0DD404FEA6BD}"/>
              </a:ext>
            </a:extLst>
          </p:cNvPr>
          <p:cNvSpPr>
            <a:spLocks noGrp="1"/>
          </p:cNvSpPr>
          <p:nvPr>
            <p:ph type="dt" sz="half" idx="10"/>
          </p:nvPr>
        </p:nvSpPr>
        <p:spPr/>
        <p:txBody>
          <a:bodyPr/>
          <a:lstStyle/>
          <a:p>
            <a:fld id="{CAC0171D-A542-45F4-A09E-3EC974C64062}" type="datetimeFigureOut">
              <a:rPr lang="en-US" smtClean="0"/>
              <a:t>12/25/2024</a:t>
            </a:fld>
            <a:endParaRPr lang="en-US"/>
          </a:p>
        </p:txBody>
      </p:sp>
      <p:sp>
        <p:nvSpPr>
          <p:cNvPr id="5" name="Footer Placeholder 4">
            <a:extLst>
              <a:ext uri="{FF2B5EF4-FFF2-40B4-BE49-F238E27FC236}">
                <a16:creationId xmlns="" xmlns:a16="http://schemas.microsoft.com/office/drawing/2014/main" id="{7681F854-FCAF-C61E-E5BC-04DAD3CACD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54AFF28C-2591-114F-BD54-38CC9904881B}"/>
              </a:ext>
            </a:extLst>
          </p:cNvPr>
          <p:cNvSpPr>
            <a:spLocks noGrp="1"/>
          </p:cNvSpPr>
          <p:nvPr>
            <p:ph type="sldNum" sz="quarter" idx="12"/>
          </p:nvPr>
        </p:nvSpPr>
        <p:spPr/>
        <p:txBody>
          <a:bodyPr/>
          <a:lstStyle/>
          <a:p>
            <a:fld id="{37E2B160-25B2-49DB-A59A-A8C8FEBB263D}" type="slidenum">
              <a:rPr lang="en-US" smtClean="0"/>
              <a:t>‹#›</a:t>
            </a:fld>
            <a:endParaRPr lang="en-US"/>
          </a:p>
        </p:txBody>
      </p:sp>
    </p:spTree>
    <p:extLst>
      <p:ext uri="{BB962C8B-B14F-4D97-AF65-F5344CB8AC3E}">
        <p14:creationId xmlns:p14="http://schemas.microsoft.com/office/powerpoint/2010/main" val="4076128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A199BBB-BF56-66B8-87E2-9A08D2DFC8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7C0A6E87-6EE7-AB80-D922-C520B5E95E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7EE7055F-C7F6-4ED7-6652-C6F1352B0A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37CD09BE-757A-8544-BB8A-93878F4BE73E}"/>
              </a:ext>
            </a:extLst>
          </p:cNvPr>
          <p:cNvSpPr>
            <a:spLocks noGrp="1"/>
          </p:cNvSpPr>
          <p:nvPr>
            <p:ph type="dt" sz="half" idx="10"/>
          </p:nvPr>
        </p:nvSpPr>
        <p:spPr/>
        <p:txBody>
          <a:bodyPr/>
          <a:lstStyle/>
          <a:p>
            <a:fld id="{CAC0171D-A542-45F4-A09E-3EC974C64062}" type="datetimeFigureOut">
              <a:rPr lang="en-US" smtClean="0"/>
              <a:t>12/25/2024</a:t>
            </a:fld>
            <a:endParaRPr lang="en-US"/>
          </a:p>
        </p:txBody>
      </p:sp>
      <p:sp>
        <p:nvSpPr>
          <p:cNvPr id="6" name="Footer Placeholder 5">
            <a:extLst>
              <a:ext uri="{FF2B5EF4-FFF2-40B4-BE49-F238E27FC236}">
                <a16:creationId xmlns="" xmlns:a16="http://schemas.microsoft.com/office/drawing/2014/main" id="{99C9EB19-081E-163A-CE59-296C3A858D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B4F7ECDA-EEAB-A195-802B-B7FCEF9C3AF0}"/>
              </a:ext>
            </a:extLst>
          </p:cNvPr>
          <p:cNvSpPr>
            <a:spLocks noGrp="1"/>
          </p:cNvSpPr>
          <p:nvPr>
            <p:ph type="sldNum" sz="quarter" idx="12"/>
          </p:nvPr>
        </p:nvSpPr>
        <p:spPr/>
        <p:txBody>
          <a:bodyPr/>
          <a:lstStyle/>
          <a:p>
            <a:fld id="{37E2B160-25B2-49DB-A59A-A8C8FEBB263D}" type="slidenum">
              <a:rPr lang="en-US" smtClean="0"/>
              <a:t>‹#›</a:t>
            </a:fld>
            <a:endParaRPr lang="en-US"/>
          </a:p>
        </p:txBody>
      </p:sp>
    </p:spTree>
    <p:extLst>
      <p:ext uri="{BB962C8B-B14F-4D97-AF65-F5344CB8AC3E}">
        <p14:creationId xmlns:p14="http://schemas.microsoft.com/office/powerpoint/2010/main" val="580492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1D0D0F-1EBF-4CC0-9391-65CC62CEB5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9D531355-22A9-058E-7BAF-0524C5EFA2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491B736B-11D9-CE03-64D8-D7A8BFAF96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EF56A309-BFE1-FBF8-D269-0130AA3018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96F6D89C-E6EA-87C1-C339-BCED63A55D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6BDF6EFC-B601-0E37-669E-A47549964D33}"/>
              </a:ext>
            </a:extLst>
          </p:cNvPr>
          <p:cNvSpPr>
            <a:spLocks noGrp="1"/>
          </p:cNvSpPr>
          <p:nvPr>
            <p:ph type="dt" sz="half" idx="10"/>
          </p:nvPr>
        </p:nvSpPr>
        <p:spPr/>
        <p:txBody>
          <a:bodyPr/>
          <a:lstStyle/>
          <a:p>
            <a:fld id="{CAC0171D-A542-45F4-A09E-3EC974C64062}" type="datetimeFigureOut">
              <a:rPr lang="en-US" smtClean="0"/>
              <a:t>12/25/2024</a:t>
            </a:fld>
            <a:endParaRPr lang="en-US"/>
          </a:p>
        </p:txBody>
      </p:sp>
      <p:sp>
        <p:nvSpPr>
          <p:cNvPr id="8" name="Footer Placeholder 7">
            <a:extLst>
              <a:ext uri="{FF2B5EF4-FFF2-40B4-BE49-F238E27FC236}">
                <a16:creationId xmlns="" xmlns:a16="http://schemas.microsoft.com/office/drawing/2014/main" id="{FCC126E6-E7ED-C9C6-D05B-93D06231931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FEB906C8-B75F-96D2-3928-4AAF574D56BA}"/>
              </a:ext>
            </a:extLst>
          </p:cNvPr>
          <p:cNvSpPr>
            <a:spLocks noGrp="1"/>
          </p:cNvSpPr>
          <p:nvPr>
            <p:ph type="sldNum" sz="quarter" idx="12"/>
          </p:nvPr>
        </p:nvSpPr>
        <p:spPr/>
        <p:txBody>
          <a:bodyPr/>
          <a:lstStyle/>
          <a:p>
            <a:fld id="{37E2B160-25B2-49DB-A59A-A8C8FEBB263D}" type="slidenum">
              <a:rPr lang="en-US" smtClean="0"/>
              <a:t>‹#›</a:t>
            </a:fld>
            <a:endParaRPr lang="en-US"/>
          </a:p>
        </p:txBody>
      </p:sp>
    </p:spTree>
    <p:extLst>
      <p:ext uri="{BB962C8B-B14F-4D97-AF65-F5344CB8AC3E}">
        <p14:creationId xmlns:p14="http://schemas.microsoft.com/office/powerpoint/2010/main" val="1204397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9308956-3CA8-A1EA-8811-DE990A0651A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F112AFA6-F7AB-1AFB-4107-E8632D48E5F9}"/>
              </a:ext>
            </a:extLst>
          </p:cNvPr>
          <p:cNvSpPr>
            <a:spLocks noGrp="1"/>
          </p:cNvSpPr>
          <p:nvPr>
            <p:ph type="dt" sz="half" idx="10"/>
          </p:nvPr>
        </p:nvSpPr>
        <p:spPr/>
        <p:txBody>
          <a:bodyPr/>
          <a:lstStyle/>
          <a:p>
            <a:fld id="{CAC0171D-A542-45F4-A09E-3EC974C64062}" type="datetimeFigureOut">
              <a:rPr lang="en-US" smtClean="0"/>
              <a:t>12/25/2024</a:t>
            </a:fld>
            <a:endParaRPr lang="en-US"/>
          </a:p>
        </p:txBody>
      </p:sp>
      <p:sp>
        <p:nvSpPr>
          <p:cNvPr id="4" name="Footer Placeholder 3">
            <a:extLst>
              <a:ext uri="{FF2B5EF4-FFF2-40B4-BE49-F238E27FC236}">
                <a16:creationId xmlns="" xmlns:a16="http://schemas.microsoft.com/office/drawing/2014/main" id="{C3CB302E-04FC-3DE9-1FAD-2202C88583D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E37E0C0E-40BA-A3A6-C17D-8075F38F4936}"/>
              </a:ext>
            </a:extLst>
          </p:cNvPr>
          <p:cNvSpPr>
            <a:spLocks noGrp="1"/>
          </p:cNvSpPr>
          <p:nvPr>
            <p:ph type="sldNum" sz="quarter" idx="12"/>
          </p:nvPr>
        </p:nvSpPr>
        <p:spPr/>
        <p:txBody>
          <a:bodyPr/>
          <a:lstStyle/>
          <a:p>
            <a:fld id="{37E2B160-25B2-49DB-A59A-A8C8FEBB263D}" type="slidenum">
              <a:rPr lang="en-US" smtClean="0"/>
              <a:t>‹#›</a:t>
            </a:fld>
            <a:endParaRPr lang="en-US"/>
          </a:p>
        </p:txBody>
      </p:sp>
    </p:spTree>
    <p:extLst>
      <p:ext uri="{BB962C8B-B14F-4D97-AF65-F5344CB8AC3E}">
        <p14:creationId xmlns:p14="http://schemas.microsoft.com/office/powerpoint/2010/main" val="34003918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803F012E-14A5-D004-6BE6-51FAA47BB747}"/>
              </a:ext>
            </a:extLst>
          </p:cNvPr>
          <p:cNvSpPr>
            <a:spLocks noGrp="1"/>
          </p:cNvSpPr>
          <p:nvPr>
            <p:ph type="dt" sz="half" idx="10"/>
          </p:nvPr>
        </p:nvSpPr>
        <p:spPr/>
        <p:txBody>
          <a:bodyPr/>
          <a:lstStyle/>
          <a:p>
            <a:fld id="{CAC0171D-A542-45F4-A09E-3EC974C64062}" type="datetimeFigureOut">
              <a:rPr lang="en-US" smtClean="0"/>
              <a:t>12/25/2024</a:t>
            </a:fld>
            <a:endParaRPr lang="en-US"/>
          </a:p>
        </p:txBody>
      </p:sp>
      <p:sp>
        <p:nvSpPr>
          <p:cNvPr id="3" name="Footer Placeholder 2">
            <a:extLst>
              <a:ext uri="{FF2B5EF4-FFF2-40B4-BE49-F238E27FC236}">
                <a16:creationId xmlns="" xmlns:a16="http://schemas.microsoft.com/office/drawing/2014/main" id="{9F407723-322E-B158-3959-20493EE19C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378CD3C0-CBD8-5C45-F718-086080CA6A32}"/>
              </a:ext>
            </a:extLst>
          </p:cNvPr>
          <p:cNvSpPr>
            <a:spLocks noGrp="1"/>
          </p:cNvSpPr>
          <p:nvPr>
            <p:ph type="sldNum" sz="quarter" idx="12"/>
          </p:nvPr>
        </p:nvSpPr>
        <p:spPr/>
        <p:txBody>
          <a:bodyPr/>
          <a:lstStyle/>
          <a:p>
            <a:fld id="{37E2B160-25B2-49DB-A59A-A8C8FEBB263D}" type="slidenum">
              <a:rPr lang="en-US" smtClean="0"/>
              <a:t>‹#›</a:t>
            </a:fld>
            <a:endParaRPr lang="en-US"/>
          </a:p>
        </p:txBody>
      </p:sp>
    </p:spTree>
    <p:extLst>
      <p:ext uri="{BB962C8B-B14F-4D97-AF65-F5344CB8AC3E}">
        <p14:creationId xmlns:p14="http://schemas.microsoft.com/office/powerpoint/2010/main" val="2474369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0A441C-FA2D-CC3C-B59F-FD237B368A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73F3D820-7B3A-74D9-084B-D4E1EBC5EA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2C957A59-E2A8-1778-6790-5A80B3F7DD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B871854B-137B-DB6F-8002-46CACDB2C35B}"/>
              </a:ext>
            </a:extLst>
          </p:cNvPr>
          <p:cNvSpPr>
            <a:spLocks noGrp="1"/>
          </p:cNvSpPr>
          <p:nvPr>
            <p:ph type="dt" sz="half" idx="10"/>
          </p:nvPr>
        </p:nvSpPr>
        <p:spPr/>
        <p:txBody>
          <a:bodyPr/>
          <a:lstStyle/>
          <a:p>
            <a:fld id="{CAC0171D-A542-45F4-A09E-3EC974C64062}" type="datetimeFigureOut">
              <a:rPr lang="en-US" smtClean="0"/>
              <a:t>12/25/2024</a:t>
            </a:fld>
            <a:endParaRPr lang="en-US"/>
          </a:p>
        </p:txBody>
      </p:sp>
      <p:sp>
        <p:nvSpPr>
          <p:cNvPr id="6" name="Footer Placeholder 5">
            <a:extLst>
              <a:ext uri="{FF2B5EF4-FFF2-40B4-BE49-F238E27FC236}">
                <a16:creationId xmlns="" xmlns:a16="http://schemas.microsoft.com/office/drawing/2014/main" id="{8C96DADA-D665-7C3D-C72F-FF70F1BA2C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65550146-0894-256B-BB7C-8A91C552613F}"/>
              </a:ext>
            </a:extLst>
          </p:cNvPr>
          <p:cNvSpPr>
            <a:spLocks noGrp="1"/>
          </p:cNvSpPr>
          <p:nvPr>
            <p:ph type="sldNum" sz="quarter" idx="12"/>
          </p:nvPr>
        </p:nvSpPr>
        <p:spPr/>
        <p:txBody>
          <a:bodyPr/>
          <a:lstStyle/>
          <a:p>
            <a:fld id="{37E2B160-25B2-49DB-A59A-A8C8FEBB263D}" type="slidenum">
              <a:rPr lang="en-US" smtClean="0"/>
              <a:t>‹#›</a:t>
            </a:fld>
            <a:endParaRPr lang="en-US"/>
          </a:p>
        </p:txBody>
      </p:sp>
    </p:spTree>
    <p:extLst>
      <p:ext uri="{BB962C8B-B14F-4D97-AF65-F5344CB8AC3E}">
        <p14:creationId xmlns:p14="http://schemas.microsoft.com/office/powerpoint/2010/main" val="2992518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07DD8CC-32DC-3C54-B312-A0825D4B3E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08EB703F-2088-4ECA-F88B-1580024308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B14133D7-1553-DF7F-0872-7E16EAFF7B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324DB1B0-B4D1-973D-A19C-B3A6873B5056}"/>
              </a:ext>
            </a:extLst>
          </p:cNvPr>
          <p:cNvSpPr>
            <a:spLocks noGrp="1"/>
          </p:cNvSpPr>
          <p:nvPr>
            <p:ph type="dt" sz="half" idx="10"/>
          </p:nvPr>
        </p:nvSpPr>
        <p:spPr/>
        <p:txBody>
          <a:bodyPr/>
          <a:lstStyle/>
          <a:p>
            <a:fld id="{CAC0171D-A542-45F4-A09E-3EC974C64062}" type="datetimeFigureOut">
              <a:rPr lang="en-US" smtClean="0"/>
              <a:t>12/25/2024</a:t>
            </a:fld>
            <a:endParaRPr lang="en-US"/>
          </a:p>
        </p:txBody>
      </p:sp>
      <p:sp>
        <p:nvSpPr>
          <p:cNvPr id="6" name="Footer Placeholder 5">
            <a:extLst>
              <a:ext uri="{FF2B5EF4-FFF2-40B4-BE49-F238E27FC236}">
                <a16:creationId xmlns="" xmlns:a16="http://schemas.microsoft.com/office/drawing/2014/main" id="{9DEF5D26-F46A-906D-9866-835F98EB20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34091B9C-2305-880F-2F21-7811916436B3}"/>
              </a:ext>
            </a:extLst>
          </p:cNvPr>
          <p:cNvSpPr>
            <a:spLocks noGrp="1"/>
          </p:cNvSpPr>
          <p:nvPr>
            <p:ph type="sldNum" sz="quarter" idx="12"/>
          </p:nvPr>
        </p:nvSpPr>
        <p:spPr/>
        <p:txBody>
          <a:bodyPr/>
          <a:lstStyle/>
          <a:p>
            <a:fld id="{37E2B160-25B2-49DB-A59A-A8C8FEBB263D}" type="slidenum">
              <a:rPr lang="en-US" smtClean="0"/>
              <a:t>‹#›</a:t>
            </a:fld>
            <a:endParaRPr lang="en-US"/>
          </a:p>
        </p:txBody>
      </p:sp>
    </p:spTree>
    <p:extLst>
      <p:ext uri="{BB962C8B-B14F-4D97-AF65-F5344CB8AC3E}">
        <p14:creationId xmlns:p14="http://schemas.microsoft.com/office/powerpoint/2010/main" val="2745302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66DF7E1-C9CB-7CC5-CE46-9177978C01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601D36DC-9110-3E89-2435-ADD8F28B3E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5B04B9A5-9E64-3A95-52BF-FB9427940B9C}"/>
              </a:ext>
            </a:extLst>
          </p:cNvPr>
          <p:cNvSpPr>
            <a:spLocks noGrp="1"/>
          </p:cNvSpPr>
          <p:nvPr>
            <p:ph type="dt" sz="half" idx="10"/>
          </p:nvPr>
        </p:nvSpPr>
        <p:spPr/>
        <p:txBody>
          <a:bodyPr/>
          <a:lstStyle/>
          <a:p>
            <a:fld id="{CAC0171D-A542-45F4-A09E-3EC974C64062}" type="datetimeFigureOut">
              <a:rPr lang="en-US" smtClean="0"/>
              <a:t>12/25/2024</a:t>
            </a:fld>
            <a:endParaRPr lang="en-US"/>
          </a:p>
        </p:txBody>
      </p:sp>
      <p:sp>
        <p:nvSpPr>
          <p:cNvPr id="5" name="Footer Placeholder 4">
            <a:extLst>
              <a:ext uri="{FF2B5EF4-FFF2-40B4-BE49-F238E27FC236}">
                <a16:creationId xmlns="" xmlns:a16="http://schemas.microsoft.com/office/drawing/2014/main" id="{B07175B9-8C3B-A1F7-4A24-710EA568C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10B54045-F2B0-5607-750F-13473730527D}"/>
              </a:ext>
            </a:extLst>
          </p:cNvPr>
          <p:cNvSpPr>
            <a:spLocks noGrp="1"/>
          </p:cNvSpPr>
          <p:nvPr>
            <p:ph type="sldNum" sz="quarter" idx="12"/>
          </p:nvPr>
        </p:nvSpPr>
        <p:spPr/>
        <p:txBody>
          <a:bodyPr/>
          <a:lstStyle/>
          <a:p>
            <a:fld id="{37E2B160-25B2-49DB-A59A-A8C8FEBB263D}" type="slidenum">
              <a:rPr lang="en-US" smtClean="0"/>
              <a:t>‹#›</a:t>
            </a:fld>
            <a:endParaRPr lang="en-US"/>
          </a:p>
        </p:txBody>
      </p:sp>
    </p:spTree>
    <p:extLst>
      <p:ext uri="{BB962C8B-B14F-4D97-AF65-F5344CB8AC3E}">
        <p14:creationId xmlns:p14="http://schemas.microsoft.com/office/powerpoint/2010/main" val="1843759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04D83831-B701-5090-DB9B-E6112D2AC60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8080EE6B-4CAB-9ADD-7B04-4BDC486CEBE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F761CEC1-472E-EB49-703E-25BF6C67F4F2}"/>
              </a:ext>
            </a:extLst>
          </p:cNvPr>
          <p:cNvSpPr>
            <a:spLocks noGrp="1"/>
          </p:cNvSpPr>
          <p:nvPr>
            <p:ph type="dt" sz="half" idx="10"/>
          </p:nvPr>
        </p:nvSpPr>
        <p:spPr/>
        <p:txBody>
          <a:bodyPr/>
          <a:lstStyle/>
          <a:p>
            <a:fld id="{CAC0171D-A542-45F4-A09E-3EC974C64062}" type="datetimeFigureOut">
              <a:rPr lang="en-US" smtClean="0"/>
              <a:t>12/25/2024</a:t>
            </a:fld>
            <a:endParaRPr lang="en-US"/>
          </a:p>
        </p:txBody>
      </p:sp>
      <p:sp>
        <p:nvSpPr>
          <p:cNvPr id="5" name="Footer Placeholder 4">
            <a:extLst>
              <a:ext uri="{FF2B5EF4-FFF2-40B4-BE49-F238E27FC236}">
                <a16:creationId xmlns="" xmlns:a16="http://schemas.microsoft.com/office/drawing/2014/main" id="{66DB4F2C-0079-8B1A-8890-0D1744023D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158D32DD-7A56-D721-5E52-B2D87738BF72}"/>
              </a:ext>
            </a:extLst>
          </p:cNvPr>
          <p:cNvSpPr>
            <a:spLocks noGrp="1"/>
          </p:cNvSpPr>
          <p:nvPr>
            <p:ph type="sldNum" sz="quarter" idx="12"/>
          </p:nvPr>
        </p:nvSpPr>
        <p:spPr/>
        <p:txBody>
          <a:bodyPr/>
          <a:lstStyle/>
          <a:p>
            <a:fld id="{37E2B160-25B2-49DB-A59A-A8C8FEBB263D}" type="slidenum">
              <a:rPr lang="en-US" smtClean="0"/>
              <a:t>‹#›</a:t>
            </a:fld>
            <a:endParaRPr lang="en-US"/>
          </a:p>
        </p:txBody>
      </p:sp>
    </p:spTree>
    <p:extLst>
      <p:ext uri="{BB962C8B-B14F-4D97-AF65-F5344CB8AC3E}">
        <p14:creationId xmlns:p14="http://schemas.microsoft.com/office/powerpoint/2010/main" val="3180226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9A6D0C17-5D83-F0E7-9B1F-FE8FE4E35D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D915C849-C122-A13A-41D7-F9B17A1391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249DADB4-16E4-202E-1596-76BB795B54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C0171D-A542-45F4-A09E-3EC974C64062}" type="datetimeFigureOut">
              <a:rPr lang="en-US" smtClean="0"/>
              <a:t>12/25/2024</a:t>
            </a:fld>
            <a:endParaRPr lang="en-US"/>
          </a:p>
        </p:txBody>
      </p:sp>
      <p:sp>
        <p:nvSpPr>
          <p:cNvPr id="5" name="Footer Placeholder 4">
            <a:extLst>
              <a:ext uri="{FF2B5EF4-FFF2-40B4-BE49-F238E27FC236}">
                <a16:creationId xmlns="" xmlns:a16="http://schemas.microsoft.com/office/drawing/2014/main" id="{7A3E67EC-F34E-12D2-0A62-E517553334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AE7EC357-DEE7-EBA9-B7E1-852FA56ACD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E2B160-25B2-49DB-A59A-A8C8FEBB263D}" type="slidenum">
              <a:rPr lang="en-US" smtClean="0"/>
              <a:t>‹#›</a:t>
            </a:fld>
            <a:endParaRPr lang="en-US"/>
          </a:p>
        </p:txBody>
      </p:sp>
    </p:spTree>
    <p:extLst>
      <p:ext uri="{BB962C8B-B14F-4D97-AF65-F5344CB8AC3E}">
        <p14:creationId xmlns:p14="http://schemas.microsoft.com/office/powerpoint/2010/main" val="3872535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hyperlink" Target="https://www.academia.edu/3878415/Zoroastrians%20Their%20Religious%20Beliefs%20and%20Practices%20Mary%20Boyce" TargetMode="External"/><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hyperlink" Target="https://iranicaonline.org/articles/zoroastrianism-i-historical-review" TargetMode="External"/><Relationship Id="rId4" Type="http://schemas.openxmlformats.org/officeDocument/2006/relationships/hyperlink" Target="https://www.bbc.co.uk/sounds/play/w3cswpr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pic>
        <p:nvPicPr>
          <p:cNvPr id="2238" name="Picture 2" descr="C:\Users\Fana\Documents\Untitled-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7115" y="493353"/>
            <a:ext cx="2130885" cy="2130885"/>
          </a:xfrm>
          <a:prstGeom prst="rect">
            <a:avLst/>
          </a:prstGeom>
          <a:noFill/>
          <a:extLst>
            <a:ext uri="{909E8E84-426E-40DD-AFC4-6F175D3DCCD1}">
              <a14:hiddenFill xmlns:a14="http://schemas.microsoft.com/office/drawing/2010/main">
                <a:solidFill>
                  <a:srgbClr val="FFFFFF"/>
                </a:solidFill>
              </a14:hiddenFill>
            </a:ext>
          </a:extLst>
        </p:spPr>
      </p:pic>
      <p:sp>
        <p:nvSpPr>
          <p:cNvPr id="2239" name="Google Shape;208;p25"/>
          <p:cNvSpPr txBox="1">
            <a:spLocks/>
          </p:cNvSpPr>
          <p:nvPr/>
        </p:nvSpPr>
        <p:spPr>
          <a:xfrm>
            <a:off x="2070268" y="2231538"/>
            <a:ext cx="7717500" cy="1014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191919"/>
              </a:buClr>
              <a:buSzPts val="5200"/>
              <a:buFont typeface="Prata"/>
              <a:buNone/>
              <a:defRPr sz="4500" b="0" i="0" u="none" strike="noStrike" cap="none">
                <a:solidFill>
                  <a:schemeClr val="dk1"/>
                </a:solidFill>
                <a:latin typeface="Prata"/>
                <a:ea typeface="Prata"/>
                <a:cs typeface="Prata"/>
                <a:sym typeface="Prata"/>
              </a:defRPr>
            </a:lvl1pPr>
            <a:lvl2pPr marR="0" lvl="1" algn="ctr" rtl="0">
              <a:lnSpc>
                <a:spcPct val="100000"/>
              </a:lnSpc>
              <a:spcBef>
                <a:spcPts val="0"/>
              </a:spcBef>
              <a:spcAft>
                <a:spcPts val="0"/>
              </a:spcAft>
              <a:buClr>
                <a:srgbClr val="191919"/>
              </a:buClr>
              <a:buSzPts val="5200"/>
              <a:buFont typeface="Bebas Neue"/>
              <a:buNone/>
              <a:defRPr sz="5200" b="0" i="0" u="none" strike="noStrike" cap="none">
                <a:solidFill>
                  <a:srgbClr val="191919"/>
                </a:solidFill>
                <a:latin typeface="Bebas Neue"/>
                <a:ea typeface="Bebas Neue"/>
                <a:cs typeface="Bebas Neue"/>
                <a:sym typeface="Bebas Neue"/>
              </a:defRPr>
            </a:lvl2pPr>
            <a:lvl3pPr marR="0" lvl="2" algn="ctr" rtl="0">
              <a:lnSpc>
                <a:spcPct val="100000"/>
              </a:lnSpc>
              <a:spcBef>
                <a:spcPts val="0"/>
              </a:spcBef>
              <a:spcAft>
                <a:spcPts val="0"/>
              </a:spcAft>
              <a:buClr>
                <a:srgbClr val="191919"/>
              </a:buClr>
              <a:buSzPts val="5200"/>
              <a:buFont typeface="Bebas Neue"/>
              <a:buNone/>
              <a:defRPr sz="5200" b="0" i="0" u="none" strike="noStrike" cap="none">
                <a:solidFill>
                  <a:srgbClr val="191919"/>
                </a:solidFill>
                <a:latin typeface="Bebas Neue"/>
                <a:ea typeface="Bebas Neue"/>
                <a:cs typeface="Bebas Neue"/>
                <a:sym typeface="Bebas Neue"/>
              </a:defRPr>
            </a:lvl3pPr>
            <a:lvl4pPr marR="0" lvl="3" algn="ctr" rtl="0">
              <a:lnSpc>
                <a:spcPct val="100000"/>
              </a:lnSpc>
              <a:spcBef>
                <a:spcPts val="0"/>
              </a:spcBef>
              <a:spcAft>
                <a:spcPts val="0"/>
              </a:spcAft>
              <a:buClr>
                <a:srgbClr val="191919"/>
              </a:buClr>
              <a:buSzPts val="5200"/>
              <a:buFont typeface="Bebas Neue"/>
              <a:buNone/>
              <a:defRPr sz="5200" b="0" i="0" u="none" strike="noStrike" cap="none">
                <a:solidFill>
                  <a:srgbClr val="191919"/>
                </a:solidFill>
                <a:latin typeface="Bebas Neue"/>
                <a:ea typeface="Bebas Neue"/>
                <a:cs typeface="Bebas Neue"/>
                <a:sym typeface="Bebas Neue"/>
              </a:defRPr>
            </a:lvl4pPr>
            <a:lvl5pPr marR="0" lvl="4" algn="ctr" rtl="0">
              <a:lnSpc>
                <a:spcPct val="100000"/>
              </a:lnSpc>
              <a:spcBef>
                <a:spcPts val="0"/>
              </a:spcBef>
              <a:spcAft>
                <a:spcPts val="0"/>
              </a:spcAft>
              <a:buClr>
                <a:srgbClr val="191919"/>
              </a:buClr>
              <a:buSzPts val="5200"/>
              <a:buFont typeface="Bebas Neue"/>
              <a:buNone/>
              <a:defRPr sz="5200" b="0" i="0" u="none" strike="noStrike" cap="none">
                <a:solidFill>
                  <a:srgbClr val="191919"/>
                </a:solidFill>
                <a:latin typeface="Bebas Neue"/>
                <a:ea typeface="Bebas Neue"/>
                <a:cs typeface="Bebas Neue"/>
                <a:sym typeface="Bebas Neue"/>
              </a:defRPr>
            </a:lvl5pPr>
            <a:lvl6pPr marR="0" lvl="5" algn="ctr" rtl="0">
              <a:lnSpc>
                <a:spcPct val="100000"/>
              </a:lnSpc>
              <a:spcBef>
                <a:spcPts val="0"/>
              </a:spcBef>
              <a:spcAft>
                <a:spcPts val="0"/>
              </a:spcAft>
              <a:buClr>
                <a:srgbClr val="191919"/>
              </a:buClr>
              <a:buSzPts val="5200"/>
              <a:buFont typeface="Bebas Neue"/>
              <a:buNone/>
              <a:defRPr sz="5200" b="0" i="0" u="none" strike="noStrike" cap="none">
                <a:solidFill>
                  <a:srgbClr val="191919"/>
                </a:solidFill>
                <a:latin typeface="Bebas Neue"/>
                <a:ea typeface="Bebas Neue"/>
                <a:cs typeface="Bebas Neue"/>
                <a:sym typeface="Bebas Neue"/>
              </a:defRPr>
            </a:lvl6pPr>
            <a:lvl7pPr marR="0" lvl="6" algn="ctr" rtl="0">
              <a:lnSpc>
                <a:spcPct val="100000"/>
              </a:lnSpc>
              <a:spcBef>
                <a:spcPts val="0"/>
              </a:spcBef>
              <a:spcAft>
                <a:spcPts val="0"/>
              </a:spcAft>
              <a:buClr>
                <a:srgbClr val="191919"/>
              </a:buClr>
              <a:buSzPts val="5200"/>
              <a:buFont typeface="Bebas Neue"/>
              <a:buNone/>
              <a:defRPr sz="5200" b="0" i="0" u="none" strike="noStrike" cap="none">
                <a:solidFill>
                  <a:srgbClr val="191919"/>
                </a:solidFill>
                <a:latin typeface="Bebas Neue"/>
                <a:ea typeface="Bebas Neue"/>
                <a:cs typeface="Bebas Neue"/>
                <a:sym typeface="Bebas Neue"/>
              </a:defRPr>
            </a:lvl7pPr>
            <a:lvl8pPr marR="0" lvl="7" algn="ctr" rtl="0">
              <a:lnSpc>
                <a:spcPct val="100000"/>
              </a:lnSpc>
              <a:spcBef>
                <a:spcPts val="0"/>
              </a:spcBef>
              <a:spcAft>
                <a:spcPts val="0"/>
              </a:spcAft>
              <a:buClr>
                <a:srgbClr val="191919"/>
              </a:buClr>
              <a:buSzPts val="5200"/>
              <a:buFont typeface="Bebas Neue"/>
              <a:buNone/>
              <a:defRPr sz="5200" b="0" i="0" u="none" strike="noStrike" cap="none">
                <a:solidFill>
                  <a:srgbClr val="191919"/>
                </a:solidFill>
                <a:latin typeface="Bebas Neue"/>
                <a:ea typeface="Bebas Neue"/>
                <a:cs typeface="Bebas Neue"/>
                <a:sym typeface="Bebas Neue"/>
              </a:defRPr>
            </a:lvl8pPr>
            <a:lvl9pPr marR="0" lvl="8" algn="ctr" rtl="0">
              <a:lnSpc>
                <a:spcPct val="100000"/>
              </a:lnSpc>
              <a:spcBef>
                <a:spcPts val="0"/>
              </a:spcBef>
              <a:spcAft>
                <a:spcPts val="0"/>
              </a:spcAft>
              <a:buClr>
                <a:srgbClr val="191919"/>
              </a:buClr>
              <a:buSzPts val="5200"/>
              <a:buFont typeface="Bebas Neue"/>
              <a:buNone/>
              <a:defRPr sz="5200" b="0" i="0" u="none" strike="noStrike" cap="none">
                <a:solidFill>
                  <a:srgbClr val="191919"/>
                </a:solidFill>
                <a:latin typeface="Bebas Neue"/>
                <a:ea typeface="Bebas Neue"/>
                <a:cs typeface="Bebas Neue"/>
                <a:sym typeface="Bebas Neue"/>
              </a:defRPr>
            </a:lvl9pPr>
          </a:lstStyle>
          <a:p>
            <a:pPr>
              <a:lnSpc>
                <a:spcPct val="100000"/>
              </a:lnSpc>
            </a:pPr>
            <a:r>
              <a:rPr lang="en-US" sz="3200" b="1" dirty="0" smtClean="0">
                <a:latin typeface="Times New Roman" pitchFamily="18" charset="0"/>
                <a:cs typeface="Times New Roman" pitchFamily="18" charset="0"/>
              </a:rPr>
              <a:t>Holy Trinity University</a:t>
            </a:r>
            <a:endParaRPr lang="en-US" sz="3200" dirty="0">
              <a:latin typeface="Times New Roman" pitchFamily="18" charset="0"/>
              <a:cs typeface="Times New Roman" pitchFamily="18" charset="0"/>
            </a:endParaRPr>
          </a:p>
        </p:txBody>
      </p:sp>
      <p:sp>
        <p:nvSpPr>
          <p:cNvPr id="2240" name="Google Shape;208;p25"/>
          <p:cNvSpPr txBox="1">
            <a:spLocks/>
          </p:cNvSpPr>
          <p:nvPr/>
        </p:nvSpPr>
        <p:spPr>
          <a:xfrm>
            <a:off x="1933807" y="2738538"/>
            <a:ext cx="7717500" cy="1014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191919"/>
              </a:buClr>
              <a:buSzPts val="5200"/>
              <a:buFont typeface="Prata"/>
              <a:buNone/>
              <a:defRPr sz="4500" b="0" i="0" u="none" strike="noStrike" cap="none">
                <a:solidFill>
                  <a:schemeClr val="dk1"/>
                </a:solidFill>
                <a:latin typeface="Prata"/>
                <a:ea typeface="Prata"/>
                <a:cs typeface="Prata"/>
                <a:sym typeface="Prata"/>
              </a:defRPr>
            </a:lvl1pPr>
            <a:lvl2pPr marR="0" lvl="1" algn="ctr" rtl="0">
              <a:lnSpc>
                <a:spcPct val="100000"/>
              </a:lnSpc>
              <a:spcBef>
                <a:spcPts val="0"/>
              </a:spcBef>
              <a:spcAft>
                <a:spcPts val="0"/>
              </a:spcAft>
              <a:buClr>
                <a:srgbClr val="191919"/>
              </a:buClr>
              <a:buSzPts val="5200"/>
              <a:buFont typeface="Bebas Neue"/>
              <a:buNone/>
              <a:defRPr sz="5200" b="0" i="0" u="none" strike="noStrike" cap="none">
                <a:solidFill>
                  <a:srgbClr val="191919"/>
                </a:solidFill>
                <a:latin typeface="Bebas Neue"/>
                <a:ea typeface="Bebas Neue"/>
                <a:cs typeface="Bebas Neue"/>
                <a:sym typeface="Bebas Neue"/>
              </a:defRPr>
            </a:lvl2pPr>
            <a:lvl3pPr marR="0" lvl="2" algn="ctr" rtl="0">
              <a:lnSpc>
                <a:spcPct val="100000"/>
              </a:lnSpc>
              <a:spcBef>
                <a:spcPts val="0"/>
              </a:spcBef>
              <a:spcAft>
                <a:spcPts val="0"/>
              </a:spcAft>
              <a:buClr>
                <a:srgbClr val="191919"/>
              </a:buClr>
              <a:buSzPts val="5200"/>
              <a:buFont typeface="Bebas Neue"/>
              <a:buNone/>
              <a:defRPr sz="5200" b="0" i="0" u="none" strike="noStrike" cap="none">
                <a:solidFill>
                  <a:srgbClr val="191919"/>
                </a:solidFill>
                <a:latin typeface="Bebas Neue"/>
                <a:ea typeface="Bebas Neue"/>
                <a:cs typeface="Bebas Neue"/>
                <a:sym typeface="Bebas Neue"/>
              </a:defRPr>
            </a:lvl3pPr>
            <a:lvl4pPr marR="0" lvl="3" algn="ctr" rtl="0">
              <a:lnSpc>
                <a:spcPct val="100000"/>
              </a:lnSpc>
              <a:spcBef>
                <a:spcPts val="0"/>
              </a:spcBef>
              <a:spcAft>
                <a:spcPts val="0"/>
              </a:spcAft>
              <a:buClr>
                <a:srgbClr val="191919"/>
              </a:buClr>
              <a:buSzPts val="5200"/>
              <a:buFont typeface="Bebas Neue"/>
              <a:buNone/>
              <a:defRPr sz="5200" b="0" i="0" u="none" strike="noStrike" cap="none">
                <a:solidFill>
                  <a:srgbClr val="191919"/>
                </a:solidFill>
                <a:latin typeface="Bebas Neue"/>
                <a:ea typeface="Bebas Neue"/>
                <a:cs typeface="Bebas Neue"/>
                <a:sym typeface="Bebas Neue"/>
              </a:defRPr>
            </a:lvl4pPr>
            <a:lvl5pPr marR="0" lvl="4" algn="ctr" rtl="0">
              <a:lnSpc>
                <a:spcPct val="100000"/>
              </a:lnSpc>
              <a:spcBef>
                <a:spcPts val="0"/>
              </a:spcBef>
              <a:spcAft>
                <a:spcPts val="0"/>
              </a:spcAft>
              <a:buClr>
                <a:srgbClr val="191919"/>
              </a:buClr>
              <a:buSzPts val="5200"/>
              <a:buFont typeface="Bebas Neue"/>
              <a:buNone/>
              <a:defRPr sz="5200" b="0" i="0" u="none" strike="noStrike" cap="none">
                <a:solidFill>
                  <a:srgbClr val="191919"/>
                </a:solidFill>
                <a:latin typeface="Bebas Neue"/>
                <a:ea typeface="Bebas Neue"/>
                <a:cs typeface="Bebas Neue"/>
                <a:sym typeface="Bebas Neue"/>
              </a:defRPr>
            </a:lvl5pPr>
            <a:lvl6pPr marR="0" lvl="5" algn="ctr" rtl="0">
              <a:lnSpc>
                <a:spcPct val="100000"/>
              </a:lnSpc>
              <a:spcBef>
                <a:spcPts val="0"/>
              </a:spcBef>
              <a:spcAft>
                <a:spcPts val="0"/>
              </a:spcAft>
              <a:buClr>
                <a:srgbClr val="191919"/>
              </a:buClr>
              <a:buSzPts val="5200"/>
              <a:buFont typeface="Bebas Neue"/>
              <a:buNone/>
              <a:defRPr sz="5200" b="0" i="0" u="none" strike="noStrike" cap="none">
                <a:solidFill>
                  <a:srgbClr val="191919"/>
                </a:solidFill>
                <a:latin typeface="Bebas Neue"/>
                <a:ea typeface="Bebas Neue"/>
                <a:cs typeface="Bebas Neue"/>
                <a:sym typeface="Bebas Neue"/>
              </a:defRPr>
            </a:lvl6pPr>
            <a:lvl7pPr marR="0" lvl="6" algn="ctr" rtl="0">
              <a:lnSpc>
                <a:spcPct val="100000"/>
              </a:lnSpc>
              <a:spcBef>
                <a:spcPts val="0"/>
              </a:spcBef>
              <a:spcAft>
                <a:spcPts val="0"/>
              </a:spcAft>
              <a:buClr>
                <a:srgbClr val="191919"/>
              </a:buClr>
              <a:buSzPts val="5200"/>
              <a:buFont typeface="Bebas Neue"/>
              <a:buNone/>
              <a:defRPr sz="5200" b="0" i="0" u="none" strike="noStrike" cap="none">
                <a:solidFill>
                  <a:srgbClr val="191919"/>
                </a:solidFill>
                <a:latin typeface="Bebas Neue"/>
                <a:ea typeface="Bebas Neue"/>
                <a:cs typeface="Bebas Neue"/>
                <a:sym typeface="Bebas Neue"/>
              </a:defRPr>
            </a:lvl7pPr>
            <a:lvl8pPr marR="0" lvl="7" algn="ctr" rtl="0">
              <a:lnSpc>
                <a:spcPct val="100000"/>
              </a:lnSpc>
              <a:spcBef>
                <a:spcPts val="0"/>
              </a:spcBef>
              <a:spcAft>
                <a:spcPts val="0"/>
              </a:spcAft>
              <a:buClr>
                <a:srgbClr val="191919"/>
              </a:buClr>
              <a:buSzPts val="5200"/>
              <a:buFont typeface="Bebas Neue"/>
              <a:buNone/>
              <a:defRPr sz="5200" b="0" i="0" u="none" strike="noStrike" cap="none">
                <a:solidFill>
                  <a:srgbClr val="191919"/>
                </a:solidFill>
                <a:latin typeface="Bebas Neue"/>
                <a:ea typeface="Bebas Neue"/>
                <a:cs typeface="Bebas Neue"/>
                <a:sym typeface="Bebas Neue"/>
              </a:defRPr>
            </a:lvl8pPr>
            <a:lvl9pPr marR="0" lvl="8" algn="ctr" rtl="0">
              <a:lnSpc>
                <a:spcPct val="100000"/>
              </a:lnSpc>
              <a:spcBef>
                <a:spcPts val="0"/>
              </a:spcBef>
              <a:spcAft>
                <a:spcPts val="0"/>
              </a:spcAft>
              <a:buClr>
                <a:srgbClr val="191919"/>
              </a:buClr>
              <a:buSzPts val="5200"/>
              <a:buFont typeface="Bebas Neue"/>
              <a:buNone/>
              <a:defRPr sz="5200" b="0" i="0" u="none" strike="noStrike" cap="none">
                <a:solidFill>
                  <a:srgbClr val="191919"/>
                </a:solidFill>
                <a:latin typeface="Bebas Neue"/>
                <a:ea typeface="Bebas Neue"/>
                <a:cs typeface="Bebas Neue"/>
                <a:sym typeface="Bebas Neue"/>
              </a:defRPr>
            </a:lvl9pPr>
          </a:lstStyle>
          <a:p>
            <a:pPr>
              <a:lnSpc>
                <a:spcPct val="100000"/>
              </a:lnSpc>
            </a:pPr>
            <a:r>
              <a:rPr lang="en-US" sz="2400" b="1" dirty="0" smtClean="0">
                <a:latin typeface="Times New Roman" pitchFamily="18" charset="0"/>
                <a:cs typeface="Times New Roman" pitchFamily="18" charset="0"/>
              </a:rPr>
              <a:t>History Of Religions</a:t>
            </a:r>
            <a:endParaRPr lang="en-US" sz="2400" dirty="0">
              <a:latin typeface="Times New Roman" pitchFamily="18" charset="0"/>
              <a:cs typeface="Times New Roman" pitchFamily="18" charset="0"/>
            </a:endParaRPr>
          </a:p>
        </p:txBody>
      </p:sp>
      <p:sp>
        <p:nvSpPr>
          <p:cNvPr id="2241" name="Google Shape;208;p25"/>
          <p:cNvSpPr txBox="1">
            <a:spLocks/>
          </p:cNvSpPr>
          <p:nvPr/>
        </p:nvSpPr>
        <p:spPr>
          <a:xfrm>
            <a:off x="1933807" y="3245538"/>
            <a:ext cx="7717500" cy="1014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191919"/>
              </a:buClr>
              <a:buSzPts val="5200"/>
              <a:buFont typeface="Prata"/>
              <a:buNone/>
              <a:defRPr sz="4500" b="0" i="0" u="none" strike="noStrike" cap="none">
                <a:solidFill>
                  <a:schemeClr val="dk1"/>
                </a:solidFill>
                <a:latin typeface="Prata"/>
                <a:ea typeface="Prata"/>
                <a:cs typeface="Prata"/>
                <a:sym typeface="Prata"/>
              </a:defRPr>
            </a:lvl1pPr>
            <a:lvl2pPr marR="0" lvl="1" algn="ctr" rtl="0">
              <a:lnSpc>
                <a:spcPct val="100000"/>
              </a:lnSpc>
              <a:spcBef>
                <a:spcPts val="0"/>
              </a:spcBef>
              <a:spcAft>
                <a:spcPts val="0"/>
              </a:spcAft>
              <a:buClr>
                <a:srgbClr val="191919"/>
              </a:buClr>
              <a:buSzPts val="5200"/>
              <a:buFont typeface="Bebas Neue"/>
              <a:buNone/>
              <a:defRPr sz="5200" b="0" i="0" u="none" strike="noStrike" cap="none">
                <a:solidFill>
                  <a:srgbClr val="191919"/>
                </a:solidFill>
                <a:latin typeface="Bebas Neue"/>
                <a:ea typeface="Bebas Neue"/>
                <a:cs typeface="Bebas Neue"/>
                <a:sym typeface="Bebas Neue"/>
              </a:defRPr>
            </a:lvl2pPr>
            <a:lvl3pPr marR="0" lvl="2" algn="ctr" rtl="0">
              <a:lnSpc>
                <a:spcPct val="100000"/>
              </a:lnSpc>
              <a:spcBef>
                <a:spcPts val="0"/>
              </a:spcBef>
              <a:spcAft>
                <a:spcPts val="0"/>
              </a:spcAft>
              <a:buClr>
                <a:srgbClr val="191919"/>
              </a:buClr>
              <a:buSzPts val="5200"/>
              <a:buFont typeface="Bebas Neue"/>
              <a:buNone/>
              <a:defRPr sz="5200" b="0" i="0" u="none" strike="noStrike" cap="none">
                <a:solidFill>
                  <a:srgbClr val="191919"/>
                </a:solidFill>
                <a:latin typeface="Bebas Neue"/>
                <a:ea typeface="Bebas Neue"/>
                <a:cs typeface="Bebas Neue"/>
                <a:sym typeface="Bebas Neue"/>
              </a:defRPr>
            </a:lvl3pPr>
            <a:lvl4pPr marR="0" lvl="3" algn="ctr" rtl="0">
              <a:lnSpc>
                <a:spcPct val="100000"/>
              </a:lnSpc>
              <a:spcBef>
                <a:spcPts val="0"/>
              </a:spcBef>
              <a:spcAft>
                <a:spcPts val="0"/>
              </a:spcAft>
              <a:buClr>
                <a:srgbClr val="191919"/>
              </a:buClr>
              <a:buSzPts val="5200"/>
              <a:buFont typeface="Bebas Neue"/>
              <a:buNone/>
              <a:defRPr sz="5200" b="0" i="0" u="none" strike="noStrike" cap="none">
                <a:solidFill>
                  <a:srgbClr val="191919"/>
                </a:solidFill>
                <a:latin typeface="Bebas Neue"/>
                <a:ea typeface="Bebas Neue"/>
                <a:cs typeface="Bebas Neue"/>
                <a:sym typeface="Bebas Neue"/>
              </a:defRPr>
            </a:lvl4pPr>
            <a:lvl5pPr marR="0" lvl="4" algn="ctr" rtl="0">
              <a:lnSpc>
                <a:spcPct val="100000"/>
              </a:lnSpc>
              <a:spcBef>
                <a:spcPts val="0"/>
              </a:spcBef>
              <a:spcAft>
                <a:spcPts val="0"/>
              </a:spcAft>
              <a:buClr>
                <a:srgbClr val="191919"/>
              </a:buClr>
              <a:buSzPts val="5200"/>
              <a:buFont typeface="Bebas Neue"/>
              <a:buNone/>
              <a:defRPr sz="5200" b="0" i="0" u="none" strike="noStrike" cap="none">
                <a:solidFill>
                  <a:srgbClr val="191919"/>
                </a:solidFill>
                <a:latin typeface="Bebas Neue"/>
                <a:ea typeface="Bebas Neue"/>
                <a:cs typeface="Bebas Neue"/>
                <a:sym typeface="Bebas Neue"/>
              </a:defRPr>
            </a:lvl5pPr>
            <a:lvl6pPr marR="0" lvl="5" algn="ctr" rtl="0">
              <a:lnSpc>
                <a:spcPct val="100000"/>
              </a:lnSpc>
              <a:spcBef>
                <a:spcPts val="0"/>
              </a:spcBef>
              <a:spcAft>
                <a:spcPts val="0"/>
              </a:spcAft>
              <a:buClr>
                <a:srgbClr val="191919"/>
              </a:buClr>
              <a:buSzPts val="5200"/>
              <a:buFont typeface="Bebas Neue"/>
              <a:buNone/>
              <a:defRPr sz="5200" b="0" i="0" u="none" strike="noStrike" cap="none">
                <a:solidFill>
                  <a:srgbClr val="191919"/>
                </a:solidFill>
                <a:latin typeface="Bebas Neue"/>
                <a:ea typeface="Bebas Neue"/>
                <a:cs typeface="Bebas Neue"/>
                <a:sym typeface="Bebas Neue"/>
              </a:defRPr>
            </a:lvl6pPr>
            <a:lvl7pPr marR="0" lvl="6" algn="ctr" rtl="0">
              <a:lnSpc>
                <a:spcPct val="100000"/>
              </a:lnSpc>
              <a:spcBef>
                <a:spcPts val="0"/>
              </a:spcBef>
              <a:spcAft>
                <a:spcPts val="0"/>
              </a:spcAft>
              <a:buClr>
                <a:srgbClr val="191919"/>
              </a:buClr>
              <a:buSzPts val="5200"/>
              <a:buFont typeface="Bebas Neue"/>
              <a:buNone/>
              <a:defRPr sz="5200" b="0" i="0" u="none" strike="noStrike" cap="none">
                <a:solidFill>
                  <a:srgbClr val="191919"/>
                </a:solidFill>
                <a:latin typeface="Bebas Neue"/>
                <a:ea typeface="Bebas Neue"/>
                <a:cs typeface="Bebas Neue"/>
                <a:sym typeface="Bebas Neue"/>
              </a:defRPr>
            </a:lvl7pPr>
            <a:lvl8pPr marR="0" lvl="7" algn="ctr" rtl="0">
              <a:lnSpc>
                <a:spcPct val="100000"/>
              </a:lnSpc>
              <a:spcBef>
                <a:spcPts val="0"/>
              </a:spcBef>
              <a:spcAft>
                <a:spcPts val="0"/>
              </a:spcAft>
              <a:buClr>
                <a:srgbClr val="191919"/>
              </a:buClr>
              <a:buSzPts val="5200"/>
              <a:buFont typeface="Bebas Neue"/>
              <a:buNone/>
              <a:defRPr sz="5200" b="0" i="0" u="none" strike="noStrike" cap="none">
                <a:solidFill>
                  <a:srgbClr val="191919"/>
                </a:solidFill>
                <a:latin typeface="Bebas Neue"/>
                <a:ea typeface="Bebas Neue"/>
                <a:cs typeface="Bebas Neue"/>
                <a:sym typeface="Bebas Neue"/>
              </a:defRPr>
            </a:lvl8pPr>
            <a:lvl9pPr marR="0" lvl="8" algn="ctr" rtl="0">
              <a:lnSpc>
                <a:spcPct val="100000"/>
              </a:lnSpc>
              <a:spcBef>
                <a:spcPts val="0"/>
              </a:spcBef>
              <a:spcAft>
                <a:spcPts val="0"/>
              </a:spcAft>
              <a:buClr>
                <a:srgbClr val="191919"/>
              </a:buClr>
              <a:buSzPts val="5200"/>
              <a:buFont typeface="Bebas Neue"/>
              <a:buNone/>
              <a:defRPr sz="5200" b="0" i="0" u="none" strike="noStrike" cap="none">
                <a:solidFill>
                  <a:srgbClr val="191919"/>
                </a:solidFill>
                <a:latin typeface="Bebas Neue"/>
                <a:ea typeface="Bebas Neue"/>
                <a:cs typeface="Bebas Neue"/>
                <a:sym typeface="Bebas Neue"/>
              </a:defRPr>
            </a:lvl9pPr>
          </a:lstStyle>
          <a:p>
            <a:r>
              <a:rPr lang="en-US" sz="2400" b="1" dirty="0">
                <a:latin typeface="Times New Roman" pitchFamily="18" charset="0"/>
                <a:cs typeface="Times New Roman" pitchFamily="18" charset="0"/>
              </a:rPr>
              <a:t>Zoroastrianism</a:t>
            </a:r>
            <a:endParaRPr lang="en-US" sz="2400" dirty="0">
              <a:latin typeface="Times New Roman" pitchFamily="18" charset="0"/>
              <a:cs typeface="Times New Roman" pitchFamily="18" charset="0"/>
            </a:endParaRPr>
          </a:p>
        </p:txBody>
      </p:sp>
      <p:sp>
        <p:nvSpPr>
          <p:cNvPr id="2243" name="Google Shape;209;p25"/>
          <p:cNvSpPr txBox="1">
            <a:spLocks/>
          </p:cNvSpPr>
          <p:nvPr/>
        </p:nvSpPr>
        <p:spPr>
          <a:xfrm>
            <a:off x="3733360" y="4827124"/>
            <a:ext cx="4725300" cy="607200"/>
          </a:xfrm>
          <a:prstGeom prst="rect">
            <a:avLst/>
          </a:prstGeom>
        </p:spPr>
        <p:txBody>
          <a:bodyPr spcFirstLastPara="1" wrap="square" lIns="91425" tIns="91425" rIns="91425" bIns="91425"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smtClean="0">
                <a:latin typeface="Times New Roman" pitchFamily="18" charset="0"/>
                <a:cs typeface="Times New Roman" pitchFamily="18" charset="0"/>
              </a:rPr>
              <a:t>By: -   Solomon </a:t>
            </a:r>
            <a:r>
              <a:rPr lang="en-US" sz="1800" dirty="0" err="1" smtClean="0">
                <a:latin typeface="Times New Roman" pitchFamily="18" charset="0"/>
                <a:cs typeface="Times New Roman" pitchFamily="18" charset="0"/>
              </a:rPr>
              <a:t>Gebremedhin</a:t>
            </a:r>
            <a:r>
              <a:rPr lang="en-US" sz="1800" dirty="0" smtClean="0">
                <a:latin typeface="Times New Roman" pitchFamily="18" charset="0"/>
                <a:cs typeface="Times New Roman" pitchFamily="18" charset="0"/>
              </a:rPr>
              <a:t> - W- 224/15</a:t>
            </a:r>
          </a:p>
          <a:p>
            <a:pPr marL="0" indent="0">
              <a:buNone/>
            </a:pP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Mitiku</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Kuma</a:t>
            </a:r>
            <a:r>
              <a:rPr lang="en-US" sz="1800" dirty="0" smtClean="0">
                <a:latin typeface="Times New Roman" pitchFamily="18" charset="0"/>
                <a:cs typeface="Times New Roman" pitchFamily="18" charset="0"/>
              </a:rPr>
              <a:t> - W- 196/15</a:t>
            </a:r>
          </a:p>
          <a:p>
            <a:pPr marL="0" indent="0">
              <a:buNone/>
            </a:pP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Biruk</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Tadesse</a:t>
            </a:r>
            <a:r>
              <a:rPr lang="en-US" sz="1800" dirty="0" smtClean="0">
                <a:latin typeface="Times New Roman" pitchFamily="18" charset="0"/>
                <a:cs typeface="Times New Roman" pitchFamily="18" charset="0"/>
              </a:rPr>
              <a:t> - W- 073/15       </a:t>
            </a:r>
          </a:p>
          <a:p>
            <a:pPr marL="0" indent="0">
              <a:buNone/>
            </a:pPr>
            <a:r>
              <a:rPr lang="en-US" sz="1800" dirty="0" smtClean="0">
                <a:latin typeface="Times New Roman" pitchFamily="18" charset="0"/>
                <a:cs typeface="Times New Roman" pitchFamily="18" charset="0"/>
              </a:rPr>
              <a:t>           Hermon </a:t>
            </a:r>
            <a:r>
              <a:rPr lang="en-US" sz="1800" dirty="0" err="1" smtClean="0">
                <a:latin typeface="Times New Roman" pitchFamily="18" charset="0"/>
                <a:cs typeface="Times New Roman" pitchFamily="18" charset="0"/>
              </a:rPr>
              <a:t>Okubay</a:t>
            </a:r>
            <a:r>
              <a:rPr lang="en-US" sz="1800" dirty="0" smtClean="0">
                <a:latin typeface="Times New Roman" pitchFamily="18" charset="0"/>
                <a:cs typeface="Times New Roman" pitchFamily="18" charset="0"/>
              </a:rPr>
              <a:t> - W- 157/15</a:t>
            </a:r>
          </a:p>
          <a:p>
            <a:pPr marL="0" indent="0">
              <a:buNone/>
            </a:pPr>
            <a:r>
              <a:rPr lang="en-US" sz="1800" dirty="0">
                <a:latin typeface="Times New Roman" pitchFamily="18" charset="0"/>
                <a:cs typeface="Times New Roman" pitchFamily="18" charset="0"/>
              </a:rPr>
              <a:t> </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Mikiyas</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Hailu</a:t>
            </a:r>
            <a:r>
              <a:rPr lang="en-US" sz="1800" dirty="0" smtClean="0">
                <a:latin typeface="Times New Roman" pitchFamily="18" charset="0"/>
                <a:cs typeface="Times New Roman" pitchFamily="18" charset="0"/>
              </a:rPr>
              <a:t> – E-192/15</a:t>
            </a:r>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405914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10" name="Google Shape;208;p25"/>
          <p:cNvSpPr txBox="1">
            <a:spLocks/>
          </p:cNvSpPr>
          <p:nvPr/>
        </p:nvSpPr>
        <p:spPr>
          <a:xfrm>
            <a:off x="2237260" y="2064800"/>
            <a:ext cx="7717500" cy="1014000"/>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2400" dirty="0" smtClean="0">
                <a:latin typeface="Times New Roman" pitchFamily="18" charset="0"/>
                <a:cs typeface="Times New Roman" pitchFamily="18" charset="0"/>
              </a:rPr>
              <a:t>Dogmatic Theology - Weekend (Section A)</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Group - 6</a:t>
            </a:r>
            <a:endParaRPr lang="en-US" sz="2400" dirty="0">
              <a:solidFill>
                <a:schemeClr val="accent1"/>
              </a:solidFill>
            </a:endParaRPr>
          </a:p>
        </p:txBody>
      </p:sp>
      <p:sp>
        <p:nvSpPr>
          <p:cNvPr id="11" name="Google Shape;209;p25"/>
          <p:cNvSpPr txBox="1">
            <a:spLocks/>
          </p:cNvSpPr>
          <p:nvPr/>
        </p:nvSpPr>
        <p:spPr>
          <a:xfrm>
            <a:off x="6349525" y="4567975"/>
            <a:ext cx="4725300" cy="607200"/>
          </a:xfrm>
          <a:prstGeom prst="rect">
            <a:avLst/>
          </a:prstGeom>
        </p:spPr>
        <p:txBody>
          <a:bodyPr spcFirstLastPara="1" wrap="square" lIns="91425" tIns="91425" rIns="91425" bIns="91425"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sz="2000" dirty="0" smtClean="0">
                <a:latin typeface="Times New Roman" pitchFamily="18" charset="0"/>
                <a:cs typeface="Times New Roman" pitchFamily="18" charset="0"/>
              </a:rPr>
              <a:t>To:  Senior Lecturer </a:t>
            </a:r>
            <a:r>
              <a:rPr lang="en-US" sz="2000" dirty="0" err="1" smtClean="0">
                <a:latin typeface="Times New Roman" pitchFamily="18" charset="0"/>
                <a:cs typeface="Times New Roman" pitchFamily="18" charset="0"/>
              </a:rPr>
              <a:t>Getachew</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Fekadu</a:t>
            </a:r>
            <a:endParaRPr lang="en-US" sz="2000" dirty="0" smtClean="0">
              <a:latin typeface="Times New Roman" pitchFamily="18" charset="0"/>
              <a:cs typeface="Times New Roman" pitchFamily="18" charset="0"/>
            </a:endParaRPr>
          </a:p>
          <a:p>
            <a:pPr marL="0" indent="0">
              <a:lnSpc>
                <a:spcPct val="150000"/>
              </a:lnSpc>
              <a:buNone/>
            </a:pPr>
            <a:r>
              <a:rPr lang="en-US" sz="2000" dirty="0" smtClean="0">
                <a:latin typeface="Times New Roman" pitchFamily="18" charset="0"/>
                <a:cs typeface="Times New Roman" pitchFamily="18" charset="0"/>
              </a:rPr>
              <a:t>        December, 2017 E.C</a:t>
            </a:r>
          </a:p>
          <a:p>
            <a:pPr marL="0" indent="0">
              <a:lnSpc>
                <a:spcPct val="150000"/>
              </a:lnSpc>
              <a:buNone/>
            </a:pPr>
            <a:r>
              <a:rPr lang="en-US" sz="2000" dirty="0" smtClean="0">
                <a:latin typeface="Times New Roman" pitchFamily="18" charset="0"/>
                <a:cs typeface="Times New Roman" pitchFamily="18" charset="0"/>
              </a:rPr>
              <a:t>        Addis Ababa, ETHIOPIA</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1991894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 xmlns:a16="http://schemas.microsoft.com/office/drawing/2014/main" id="{451E09B4-3AE8-10E0-EA1F-234187E277CC}"/>
              </a:ext>
            </a:extLst>
          </p:cNvPr>
          <p:cNvSpPr txBox="1"/>
          <p:nvPr/>
        </p:nvSpPr>
        <p:spPr>
          <a:xfrm>
            <a:off x="0" y="566524"/>
            <a:ext cx="12188952" cy="707886"/>
          </a:xfrm>
          <a:prstGeom prst="rect">
            <a:avLst/>
          </a:prstGeom>
          <a:noFill/>
        </p:spPr>
        <p:txBody>
          <a:bodyPr wrap="square">
            <a:spAutoFit/>
          </a:bodyPr>
          <a:lstStyle/>
          <a:p>
            <a:pPr lvl="0" algn="ctr"/>
            <a:r>
              <a:rPr lang="en-US" sz="4000" b="1" dirty="0">
                <a:latin typeface="Times New Roman" pitchFamily="18" charset="0"/>
                <a:cs typeface="Times New Roman" pitchFamily="18" charset="0"/>
              </a:rPr>
              <a:t>Introduction</a:t>
            </a:r>
            <a:endParaRPr lang="en-US" sz="4000" dirty="0">
              <a:latin typeface="Times New Roman" pitchFamily="18" charset="0"/>
              <a:cs typeface="Times New Roman" pitchFamily="18" charset="0"/>
            </a:endParaRPr>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2233" name="TextBox 2232">
            <a:extLst>
              <a:ext uri="{FF2B5EF4-FFF2-40B4-BE49-F238E27FC236}">
                <a16:creationId xmlns="" xmlns:a16="http://schemas.microsoft.com/office/drawing/2014/main" id="{22E0D60B-8654-40C5-C7B0-95F1905E3323}"/>
              </a:ext>
            </a:extLst>
          </p:cNvPr>
          <p:cNvSpPr txBox="1"/>
          <p:nvPr/>
        </p:nvSpPr>
        <p:spPr>
          <a:xfrm>
            <a:off x="1435100" y="1274410"/>
            <a:ext cx="8623300" cy="4653646"/>
          </a:xfrm>
          <a:prstGeom prst="rect">
            <a:avLst/>
          </a:prstGeom>
          <a:noFill/>
        </p:spPr>
        <p:txBody>
          <a:bodyPr wrap="square">
            <a:spAutoFit/>
          </a:bodyPr>
          <a:lstStyle/>
          <a:p>
            <a:pPr algn="just">
              <a:lnSpc>
                <a:spcPct val="150000"/>
              </a:lnSpc>
            </a:pPr>
            <a:r>
              <a:rPr lang="en-US" sz="2000" dirty="0" smtClean="0">
                <a:latin typeface="Times New Roman" pitchFamily="18" charset="0"/>
                <a:cs typeface="Times New Roman" pitchFamily="18" charset="0"/>
              </a:rPr>
              <a:t>        Zoroastrianism </a:t>
            </a:r>
            <a:r>
              <a:rPr lang="en-US" sz="2000" dirty="0">
                <a:latin typeface="Times New Roman" pitchFamily="18" charset="0"/>
                <a:cs typeface="Times New Roman" pitchFamily="18" charset="0"/>
              </a:rPr>
              <a:t>is one of the oldest religions in the world, dating back over 3,000 years to ancient Persia, which is now Iran. It was founded by the prophet Zoroaster, who taught that there is one supreme god, </a:t>
            </a:r>
            <a:r>
              <a:rPr lang="en-US" sz="2000" dirty="0" err="1">
                <a:latin typeface="Times New Roman" pitchFamily="18" charset="0"/>
                <a:cs typeface="Times New Roman" pitchFamily="18" charset="0"/>
              </a:rPr>
              <a:t>Ahura</a:t>
            </a:r>
            <a:r>
              <a:rPr lang="en-US" sz="2000" dirty="0">
                <a:latin typeface="Times New Roman" pitchFamily="18" charset="0"/>
                <a:cs typeface="Times New Roman" pitchFamily="18" charset="0"/>
              </a:rPr>
              <a:t> Mazda, representing truth and light. This faith emphasizes the battle between good and evil, encouraging followers to make choices based on good thoughts, words, and deeds, which are key to their moral values. Zoroastrian teachings are mainly found in the </a:t>
            </a:r>
            <a:r>
              <a:rPr lang="en-US" sz="2000" dirty="0" err="1">
                <a:latin typeface="Times New Roman" pitchFamily="18" charset="0"/>
                <a:cs typeface="Times New Roman" pitchFamily="18" charset="0"/>
              </a:rPr>
              <a:t>Avesta</a:t>
            </a:r>
            <a:r>
              <a:rPr lang="en-US" sz="2000" dirty="0">
                <a:latin typeface="Times New Roman" pitchFamily="18" charset="0"/>
                <a:cs typeface="Times New Roman" pitchFamily="18" charset="0"/>
              </a:rPr>
              <a:t>, a sacred text that includes hymns and guidelines for living a good life. The religion also introduces important ideas like the duality of existence, an afterlife, and the ultimate victory of good over evil, which have influenced other religions such as Judaism, Christianity, and Islam</a:t>
            </a:r>
            <a:r>
              <a:rPr lang="en-US" sz="2000" dirty="0" smtClean="0">
                <a:latin typeface="Times New Roman" pitchFamily="18" charset="0"/>
                <a:cs typeface="Times New Roman" pitchFamily="18" charset="0"/>
              </a:rPr>
              <a:t>.</a:t>
            </a:r>
          </a:p>
        </p:txBody>
      </p:sp>
    </p:spTree>
    <p:extLst>
      <p:ext uri="{BB962C8B-B14F-4D97-AF65-F5344CB8AC3E}">
        <p14:creationId xmlns:p14="http://schemas.microsoft.com/office/powerpoint/2010/main" val="2917733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 xmlns:a16="http://schemas.microsoft.com/office/drawing/2014/main" id="{451E09B4-3AE8-10E0-EA1F-234187E277CC}"/>
              </a:ext>
            </a:extLst>
          </p:cNvPr>
          <p:cNvSpPr txBox="1"/>
          <p:nvPr/>
        </p:nvSpPr>
        <p:spPr>
          <a:xfrm>
            <a:off x="0" y="566524"/>
            <a:ext cx="12188952" cy="707886"/>
          </a:xfrm>
          <a:prstGeom prst="rect">
            <a:avLst/>
          </a:prstGeom>
          <a:noFill/>
        </p:spPr>
        <p:txBody>
          <a:bodyPr wrap="square">
            <a:spAutoFit/>
          </a:bodyPr>
          <a:lstStyle/>
          <a:p>
            <a:pPr lvl="0" algn="ctr"/>
            <a:r>
              <a:rPr lang="en-US" sz="4000" b="1" dirty="0">
                <a:latin typeface="Times New Roman" pitchFamily="18" charset="0"/>
                <a:cs typeface="Times New Roman" pitchFamily="18" charset="0"/>
              </a:rPr>
              <a:t>Introduction</a:t>
            </a:r>
            <a:endParaRPr lang="en-US" sz="4000" dirty="0">
              <a:latin typeface="Times New Roman" pitchFamily="18" charset="0"/>
              <a:cs typeface="Times New Roman" pitchFamily="18" charset="0"/>
            </a:endParaRPr>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2233" name="TextBox 2232">
            <a:extLst>
              <a:ext uri="{FF2B5EF4-FFF2-40B4-BE49-F238E27FC236}">
                <a16:creationId xmlns="" xmlns:a16="http://schemas.microsoft.com/office/drawing/2014/main" id="{22E0D60B-8654-40C5-C7B0-95F1905E3323}"/>
              </a:ext>
            </a:extLst>
          </p:cNvPr>
          <p:cNvSpPr txBox="1"/>
          <p:nvPr/>
        </p:nvSpPr>
        <p:spPr>
          <a:xfrm>
            <a:off x="1435100" y="1274410"/>
            <a:ext cx="8623300" cy="4396973"/>
          </a:xfrm>
          <a:prstGeom prst="rect">
            <a:avLst/>
          </a:prstGeom>
          <a:noFill/>
        </p:spPr>
        <p:txBody>
          <a:bodyPr wrap="square">
            <a:spAutoFit/>
          </a:bodyPr>
          <a:lstStyle/>
          <a:p>
            <a:pPr algn="just">
              <a:lnSpc>
                <a:spcPct val="150000"/>
              </a:lnSpc>
            </a:pPr>
            <a:r>
              <a:rPr lang="en-US" sz="2100" dirty="0" smtClean="0">
                <a:latin typeface="Times New Roman" pitchFamily="18" charset="0"/>
                <a:cs typeface="Times New Roman" pitchFamily="18" charset="0"/>
              </a:rPr>
              <a:t>          Zoroastrians </a:t>
            </a:r>
            <a:r>
              <a:rPr lang="en-US" sz="2100" dirty="0">
                <a:latin typeface="Times New Roman" pitchFamily="18" charset="0"/>
                <a:cs typeface="Times New Roman" pitchFamily="18" charset="0"/>
              </a:rPr>
              <a:t>practice their faith through rituals that celebrate life and nature, with fire symbolizing purity and the divine. They gather in fire temples to pray and perform ceremonies, highlighting the importance of community support during significant life events like births, weddings, and funerals. Despite its rich history, Zoroastrianism is facing challenges today, as the number of followers has greatly decreased due to historical events like invasions and migration. Many Zoroastrians now live in India, known as </a:t>
            </a:r>
            <a:r>
              <a:rPr lang="en-US" sz="2100" dirty="0" err="1">
                <a:latin typeface="Times New Roman" pitchFamily="18" charset="0"/>
                <a:cs typeface="Times New Roman" pitchFamily="18" charset="0"/>
              </a:rPr>
              <a:t>Parsis</a:t>
            </a:r>
            <a:r>
              <a:rPr lang="en-US" sz="2100" dirty="0">
                <a:latin typeface="Times New Roman" pitchFamily="18" charset="0"/>
                <a:cs typeface="Times New Roman" pitchFamily="18" charset="0"/>
              </a:rPr>
              <a:t>, as well as in Iran and around the world. This decline raises concerns about keeping their traditions and teachings alive for future generations.</a:t>
            </a:r>
            <a:endParaRPr lang="en-US" sz="21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3056913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 xmlns:a16="http://schemas.microsoft.com/office/drawing/2014/main" id="{451E09B4-3AE8-10E0-EA1F-234187E277CC}"/>
              </a:ext>
            </a:extLst>
          </p:cNvPr>
          <p:cNvSpPr txBox="1"/>
          <p:nvPr/>
        </p:nvSpPr>
        <p:spPr>
          <a:xfrm>
            <a:off x="0" y="566524"/>
            <a:ext cx="12188952" cy="584775"/>
          </a:xfrm>
          <a:prstGeom prst="rect">
            <a:avLst/>
          </a:prstGeom>
          <a:noFill/>
        </p:spPr>
        <p:txBody>
          <a:bodyPr wrap="square">
            <a:spAutoFit/>
          </a:bodyPr>
          <a:lstStyle/>
          <a:p>
            <a:pPr lvl="0" algn="ctr"/>
            <a:r>
              <a:rPr lang="en-US" sz="3200" b="1" dirty="0">
                <a:latin typeface="Times New Roman" pitchFamily="18" charset="0"/>
                <a:cs typeface="Times New Roman" pitchFamily="18" charset="0"/>
              </a:rPr>
              <a:t>Zoroastrianism view of the world </a:t>
            </a:r>
            <a:endParaRPr lang="en-US" sz="3200" dirty="0">
              <a:latin typeface="Times New Roman" pitchFamily="18" charset="0"/>
              <a:cs typeface="Times New Roman" pitchFamily="18" charset="0"/>
            </a:endParaRPr>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2233" name="TextBox 2232">
            <a:extLst>
              <a:ext uri="{FF2B5EF4-FFF2-40B4-BE49-F238E27FC236}">
                <a16:creationId xmlns="" xmlns:a16="http://schemas.microsoft.com/office/drawing/2014/main" id="{22E0D60B-8654-40C5-C7B0-95F1905E3323}"/>
              </a:ext>
            </a:extLst>
          </p:cNvPr>
          <p:cNvSpPr txBox="1"/>
          <p:nvPr/>
        </p:nvSpPr>
        <p:spPr>
          <a:xfrm>
            <a:off x="1179576" y="1675446"/>
            <a:ext cx="9829800" cy="4247317"/>
          </a:xfrm>
          <a:prstGeom prst="rect">
            <a:avLst/>
          </a:prstGeom>
          <a:noFill/>
        </p:spPr>
        <p:txBody>
          <a:bodyPr wrap="square">
            <a:spAutoFit/>
          </a:bodyPr>
          <a:lstStyle/>
          <a:p>
            <a:pPr algn="just">
              <a:lnSpc>
                <a:spcPct val="150000"/>
              </a:lnSpc>
            </a:pPr>
            <a:r>
              <a:rPr lang="en-US" sz="2000" dirty="0" smtClean="0">
                <a:latin typeface="Times New Roman" pitchFamily="18" charset="0"/>
                <a:cs typeface="Times New Roman" pitchFamily="18" charset="0"/>
              </a:rPr>
              <a:t>         In </a:t>
            </a:r>
            <a:r>
              <a:rPr lang="en-US" sz="2000" dirty="0">
                <a:latin typeface="Times New Roman" pitchFamily="18" charset="0"/>
                <a:cs typeface="Times New Roman" pitchFamily="18" charset="0"/>
              </a:rPr>
              <a:t>Zoroastrianism, the main god is </a:t>
            </a:r>
            <a:r>
              <a:rPr lang="en-US" sz="2000" dirty="0" err="1">
                <a:latin typeface="Times New Roman" pitchFamily="18" charset="0"/>
                <a:cs typeface="Times New Roman" pitchFamily="18" charset="0"/>
              </a:rPr>
              <a:t>Ahura</a:t>
            </a:r>
            <a:r>
              <a:rPr lang="en-US" sz="2000" dirty="0">
                <a:latin typeface="Times New Roman" pitchFamily="18" charset="0"/>
                <a:cs typeface="Times New Roman" pitchFamily="18" charset="0"/>
              </a:rPr>
              <a:t> Mazda, who is seen as the supreme deity. He represents everything good, truthful, and just, symbolizing light and wisdom. Zoroastrians believe that </a:t>
            </a:r>
            <a:r>
              <a:rPr lang="en-US" sz="2000" dirty="0" err="1">
                <a:latin typeface="Times New Roman" pitchFamily="18" charset="0"/>
                <a:cs typeface="Times New Roman" pitchFamily="18" charset="0"/>
              </a:rPr>
              <a:t>Ahura</a:t>
            </a:r>
            <a:r>
              <a:rPr lang="en-US" sz="2000" dirty="0">
                <a:latin typeface="Times New Roman" pitchFamily="18" charset="0"/>
                <a:cs typeface="Times New Roman" pitchFamily="18" charset="0"/>
              </a:rPr>
              <a:t> Mazda is all-powerful and knows everything. His name reflects this belief: “</a:t>
            </a:r>
            <a:r>
              <a:rPr lang="en-US" sz="2000" dirty="0" err="1">
                <a:latin typeface="Times New Roman" pitchFamily="18" charset="0"/>
                <a:cs typeface="Times New Roman" pitchFamily="18" charset="0"/>
              </a:rPr>
              <a:t>Ahura</a:t>
            </a:r>
            <a:r>
              <a:rPr lang="en-US" sz="2000" dirty="0">
                <a:latin typeface="Times New Roman" pitchFamily="18" charset="0"/>
                <a:cs typeface="Times New Roman" pitchFamily="18" charset="0"/>
              </a:rPr>
              <a:t>” means “lord” and “Mazda” means “wisdom,” showing that the divine is wise and kind. Alongside </a:t>
            </a:r>
            <a:r>
              <a:rPr lang="en-US" sz="2000" dirty="0" err="1">
                <a:latin typeface="Times New Roman" pitchFamily="18" charset="0"/>
                <a:cs typeface="Times New Roman" pitchFamily="18" charset="0"/>
              </a:rPr>
              <a:t>Ahura</a:t>
            </a:r>
            <a:r>
              <a:rPr lang="en-US" sz="2000" dirty="0">
                <a:latin typeface="Times New Roman" pitchFamily="18" charset="0"/>
                <a:cs typeface="Times New Roman" pitchFamily="18" charset="0"/>
              </a:rPr>
              <a:t> Mazda, there are also lesser divine beings called </a:t>
            </a:r>
            <a:r>
              <a:rPr lang="en-US" sz="2000" dirty="0" err="1">
                <a:latin typeface="Times New Roman" pitchFamily="18" charset="0"/>
                <a:cs typeface="Times New Roman" pitchFamily="18" charset="0"/>
              </a:rPr>
              <a:t>Amesha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Spentas</a:t>
            </a:r>
            <a:r>
              <a:rPr lang="en-US" sz="2000" dirty="0">
                <a:latin typeface="Times New Roman" pitchFamily="18" charset="0"/>
                <a:cs typeface="Times New Roman" pitchFamily="18" charset="0"/>
              </a:rPr>
              <a:t>. These holy spirits help maintain the order of the universe and are linked to different aspects of creation, such as truth and nature. For instance, </a:t>
            </a:r>
            <a:r>
              <a:rPr lang="en-US" sz="2000" dirty="0" err="1">
                <a:latin typeface="Times New Roman" pitchFamily="18" charset="0"/>
                <a:cs typeface="Times New Roman" pitchFamily="18" charset="0"/>
              </a:rPr>
              <a:t>Vohu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Manah</a:t>
            </a:r>
            <a:r>
              <a:rPr lang="en-US" sz="2000" dirty="0">
                <a:latin typeface="Times New Roman" pitchFamily="18" charset="0"/>
                <a:cs typeface="Times New Roman" pitchFamily="18" charset="0"/>
              </a:rPr>
              <a:t> represents the animal kingdom, while </a:t>
            </a:r>
            <a:r>
              <a:rPr lang="en-US" sz="2000" dirty="0" err="1">
                <a:latin typeface="Times New Roman" pitchFamily="18" charset="0"/>
                <a:cs typeface="Times New Roman" pitchFamily="18" charset="0"/>
              </a:rPr>
              <a:t>Asha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Vahishta</a:t>
            </a:r>
            <a:r>
              <a:rPr lang="en-US" sz="2000" dirty="0">
                <a:latin typeface="Times New Roman" pitchFamily="18" charset="0"/>
                <a:cs typeface="Times New Roman" pitchFamily="18" charset="0"/>
              </a:rPr>
              <a:t> symbolizes truth and order. Through these beings, </a:t>
            </a:r>
            <a:r>
              <a:rPr lang="en-US" sz="2000" dirty="0" err="1">
                <a:latin typeface="Times New Roman" pitchFamily="18" charset="0"/>
                <a:cs typeface="Times New Roman" pitchFamily="18" charset="0"/>
              </a:rPr>
              <a:t>Ahura</a:t>
            </a:r>
            <a:r>
              <a:rPr lang="en-US" sz="2000" dirty="0">
                <a:latin typeface="Times New Roman" pitchFamily="18" charset="0"/>
                <a:cs typeface="Times New Roman" pitchFamily="18" charset="0"/>
              </a:rPr>
              <a:t> Mazda's influence guides people toward goodness in their lives.</a:t>
            </a:r>
            <a:endParaRPr lang="en-US" sz="2000" dirty="0" smtClean="0">
              <a:latin typeface="Times New Roman" pitchFamily="18" charset="0"/>
              <a:cs typeface="Times New Roman" pitchFamily="18" charset="0"/>
            </a:endParaRPr>
          </a:p>
        </p:txBody>
      </p:sp>
      <p:sp>
        <p:nvSpPr>
          <p:cNvPr id="7" name="TextBox 6">
            <a:extLst>
              <a:ext uri="{FF2B5EF4-FFF2-40B4-BE49-F238E27FC236}">
                <a16:creationId xmlns="" xmlns:a16="http://schemas.microsoft.com/office/drawing/2014/main" id="{451E09B4-3AE8-10E0-EA1F-234187E277CC}"/>
              </a:ext>
            </a:extLst>
          </p:cNvPr>
          <p:cNvSpPr txBox="1"/>
          <p:nvPr/>
        </p:nvSpPr>
        <p:spPr>
          <a:xfrm>
            <a:off x="152400" y="1172395"/>
            <a:ext cx="12188952" cy="523220"/>
          </a:xfrm>
          <a:prstGeom prst="rect">
            <a:avLst/>
          </a:prstGeom>
          <a:noFill/>
        </p:spPr>
        <p:txBody>
          <a:bodyPr wrap="square">
            <a:spAutoFit/>
          </a:bodyPr>
          <a:lstStyle/>
          <a:p>
            <a:pPr lvl="0" algn="ctr"/>
            <a:r>
              <a:rPr lang="en-US" sz="2800" b="1" dirty="0">
                <a:latin typeface="Times New Roman" pitchFamily="18" charset="0"/>
                <a:cs typeface="Times New Roman" pitchFamily="18" charset="0"/>
              </a:rPr>
              <a:t>Deity</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056913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 xmlns:a16="http://schemas.microsoft.com/office/drawing/2014/main" id="{451E09B4-3AE8-10E0-EA1F-234187E277CC}"/>
              </a:ext>
            </a:extLst>
          </p:cNvPr>
          <p:cNvSpPr txBox="1"/>
          <p:nvPr/>
        </p:nvSpPr>
        <p:spPr>
          <a:xfrm>
            <a:off x="0" y="566524"/>
            <a:ext cx="12188952" cy="584775"/>
          </a:xfrm>
          <a:prstGeom prst="rect">
            <a:avLst/>
          </a:prstGeom>
          <a:noFill/>
        </p:spPr>
        <p:txBody>
          <a:bodyPr wrap="square">
            <a:spAutoFit/>
          </a:bodyPr>
          <a:lstStyle/>
          <a:p>
            <a:pPr lvl="0" algn="ctr"/>
            <a:r>
              <a:rPr lang="en-US" sz="3200" b="1" dirty="0">
                <a:latin typeface="Times New Roman" pitchFamily="18" charset="0"/>
                <a:cs typeface="Times New Roman" pitchFamily="18" charset="0"/>
              </a:rPr>
              <a:t>Zoroastrianism view of the world </a:t>
            </a:r>
            <a:endParaRPr lang="en-US" sz="3200" dirty="0">
              <a:latin typeface="Times New Roman" pitchFamily="18" charset="0"/>
              <a:cs typeface="Times New Roman" pitchFamily="18" charset="0"/>
            </a:endParaRPr>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2233" name="TextBox 2232">
            <a:extLst>
              <a:ext uri="{FF2B5EF4-FFF2-40B4-BE49-F238E27FC236}">
                <a16:creationId xmlns="" xmlns:a16="http://schemas.microsoft.com/office/drawing/2014/main" id="{22E0D60B-8654-40C5-C7B0-95F1905E3323}"/>
              </a:ext>
            </a:extLst>
          </p:cNvPr>
          <p:cNvSpPr txBox="1"/>
          <p:nvPr/>
        </p:nvSpPr>
        <p:spPr>
          <a:xfrm>
            <a:off x="1181110" y="1997839"/>
            <a:ext cx="9829800" cy="3078535"/>
          </a:xfrm>
          <a:prstGeom prst="rect">
            <a:avLst/>
          </a:prstGeom>
          <a:noFill/>
        </p:spPr>
        <p:txBody>
          <a:bodyPr wrap="square">
            <a:spAutoFit/>
          </a:bodyPr>
          <a:lstStyle/>
          <a:p>
            <a:pPr algn="just">
              <a:lnSpc>
                <a:spcPct val="150000"/>
              </a:lnSpc>
            </a:pPr>
            <a:r>
              <a:rPr lang="en-US" sz="2200" dirty="0">
                <a:latin typeface="Times New Roman" pitchFamily="18" charset="0"/>
                <a:cs typeface="Times New Roman" pitchFamily="18" charset="0"/>
              </a:rPr>
              <a:t>         A key idea in Zoroastrianism is dualism, which involves the opposing force known as </a:t>
            </a:r>
            <a:r>
              <a:rPr lang="en-US" sz="2200" dirty="0" err="1">
                <a:latin typeface="Times New Roman" pitchFamily="18" charset="0"/>
                <a:cs typeface="Times New Roman" pitchFamily="18" charset="0"/>
              </a:rPr>
              <a:t>Angra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Mainyu</a:t>
            </a:r>
            <a:r>
              <a:rPr lang="en-US" sz="2200" dirty="0">
                <a:latin typeface="Times New Roman" pitchFamily="18" charset="0"/>
                <a:cs typeface="Times New Roman" pitchFamily="18" charset="0"/>
              </a:rPr>
              <a:t>, or </a:t>
            </a:r>
            <a:r>
              <a:rPr lang="en-US" sz="2200" dirty="0" err="1">
                <a:latin typeface="Times New Roman" pitchFamily="18" charset="0"/>
                <a:cs typeface="Times New Roman" pitchFamily="18" charset="0"/>
              </a:rPr>
              <a:t>Ahriman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Angra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Mainyu</a:t>
            </a:r>
            <a:r>
              <a:rPr lang="en-US" sz="2200" dirty="0">
                <a:latin typeface="Times New Roman" pitchFamily="18" charset="0"/>
                <a:cs typeface="Times New Roman" pitchFamily="18" charset="0"/>
              </a:rPr>
              <a:t> represents chaos, deceit, and evil, standing against the goodness of </a:t>
            </a:r>
            <a:r>
              <a:rPr lang="en-US" sz="2200" dirty="0" err="1">
                <a:latin typeface="Times New Roman" pitchFamily="18" charset="0"/>
                <a:cs typeface="Times New Roman" pitchFamily="18" charset="0"/>
              </a:rPr>
              <a:t>Ahura</a:t>
            </a:r>
            <a:r>
              <a:rPr lang="en-US" sz="2200" dirty="0">
                <a:latin typeface="Times New Roman" pitchFamily="18" charset="0"/>
                <a:cs typeface="Times New Roman" pitchFamily="18" charset="0"/>
              </a:rPr>
              <a:t> Mazda. This ongoing battle between good and evil shapes Zoroastrian beliefs, encouraging followers to choose good thoughts, words, and actions to support </a:t>
            </a:r>
            <a:r>
              <a:rPr lang="en-US" sz="2200" dirty="0" err="1">
                <a:latin typeface="Times New Roman" pitchFamily="18" charset="0"/>
                <a:cs typeface="Times New Roman" pitchFamily="18" charset="0"/>
              </a:rPr>
              <a:t>Ahura</a:t>
            </a:r>
            <a:r>
              <a:rPr lang="en-US" sz="2200" dirty="0">
                <a:latin typeface="Times New Roman" pitchFamily="18" charset="0"/>
                <a:cs typeface="Times New Roman" pitchFamily="18" charset="0"/>
              </a:rPr>
              <a:t> Mazda's cause. Ultimately, Zoroastrians believe that good will prevail, leading to a peaceful and righteous world.</a:t>
            </a:r>
            <a:endParaRPr lang="en-US" sz="2200" dirty="0" smtClean="0">
              <a:latin typeface="Times New Roman" pitchFamily="18" charset="0"/>
              <a:cs typeface="Times New Roman" pitchFamily="18" charset="0"/>
            </a:endParaRPr>
          </a:p>
        </p:txBody>
      </p:sp>
      <p:sp>
        <p:nvSpPr>
          <p:cNvPr id="7" name="TextBox 6">
            <a:extLst>
              <a:ext uri="{FF2B5EF4-FFF2-40B4-BE49-F238E27FC236}">
                <a16:creationId xmlns="" xmlns:a16="http://schemas.microsoft.com/office/drawing/2014/main" id="{451E09B4-3AE8-10E0-EA1F-234187E277CC}"/>
              </a:ext>
            </a:extLst>
          </p:cNvPr>
          <p:cNvSpPr txBox="1"/>
          <p:nvPr/>
        </p:nvSpPr>
        <p:spPr>
          <a:xfrm>
            <a:off x="152400" y="1172395"/>
            <a:ext cx="12188952" cy="523220"/>
          </a:xfrm>
          <a:prstGeom prst="rect">
            <a:avLst/>
          </a:prstGeom>
          <a:noFill/>
        </p:spPr>
        <p:txBody>
          <a:bodyPr wrap="square">
            <a:spAutoFit/>
          </a:bodyPr>
          <a:lstStyle/>
          <a:p>
            <a:pPr lvl="0" algn="ctr"/>
            <a:r>
              <a:rPr lang="en-US" sz="2800" b="1" dirty="0">
                <a:latin typeface="Times New Roman" pitchFamily="18" charset="0"/>
                <a:cs typeface="Times New Roman" pitchFamily="18" charset="0"/>
              </a:rPr>
              <a:t>Deity</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851805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 xmlns:a16="http://schemas.microsoft.com/office/drawing/2014/main" id="{451E09B4-3AE8-10E0-EA1F-234187E277CC}"/>
              </a:ext>
            </a:extLst>
          </p:cNvPr>
          <p:cNvSpPr txBox="1"/>
          <p:nvPr/>
        </p:nvSpPr>
        <p:spPr>
          <a:xfrm>
            <a:off x="0" y="566524"/>
            <a:ext cx="12188952" cy="584775"/>
          </a:xfrm>
          <a:prstGeom prst="rect">
            <a:avLst/>
          </a:prstGeom>
          <a:noFill/>
        </p:spPr>
        <p:txBody>
          <a:bodyPr wrap="square">
            <a:spAutoFit/>
          </a:bodyPr>
          <a:lstStyle/>
          <a:p>
            <a:pPr lvl="0" algn="ctr"/>
            <a:r>
              <a:rPr lang="en-US" sz="3200" b="1" dirty="0">
                <a:latin typeface="Times New Roman" pitchFamily="18" charset="0"/>
                <a:cs typeface="Times New Roman" pitchFamily="18" charset="0"/>
              </a:rPr>
              <a:t>Zoroastrianism view of the world </a:t>
            </a:r>
            <a:endParaRPr lang="en-US" sz="3200" dirty="0">
              <a:latin typeface="Times New Roman" pitchFamily="18" charset="0"/>
              <a:cs typeface="Times New Roman" pitchFamily="18" charset="0"/>
            </a:endParaRPr>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2233" name="TextBox 2232">
            <a:extLst>
              <a:ext uri="{FF2B5EF4-FFF2-40B4-BE49-F238E27FC236}">
                <a16:creationId xmlns="" xmlns:a16="http://schemas.microsoft.com/office/drawing/2014/main" id="{22E0D60B-8654-40C5-C7B0-95F1905E3323}"/>
              </a:ext>
            </a:extLst>
          </p:cNvPr>
          <p:cNvSpPr txBox="1"/>
          <p:nvPr/>
        </p:nvSpPr>
        <p:spPr>
          <a:xfrm>
            <a:off x="1179576" y="1680212"/>
            <a:ext cx="9829800" cy="4247317"/>
          </a:xfrm>
          <a:prstGeom prst="rect">
            <a:avLst/>
          </a:prstGeom>
          <a:noFill/>
        </p:spPr>
        <p:txBody>
          <a:bodyPr wrap="square">
            <a:spAutoFit/>
          </a:bodyPr>
          <a:lstStyle/>
          <a:p>
            <a:pPr algn="just">
              <a:lnSpc>
                <a:spcPct val="150000"/>
              </a:lnSpc>
            </a:pP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Zoroastrianism </a:t>
            </a:r>
            <a:r>
              <a:rPr lang="en-US" sz="2000" dirty="0">
                <a:latin typeface="Times New Roman" pitchFamily="18" charset="0"/>
                <a:cs typeface="Times New Roman" pitchFamily="18" charset="0"/>
              </a:rPr>
              <a:t>belief, the universe was created by </a:t>
            </a:r>
            <a:r>
              <a:rPr lang="en-US" sz="2000" dirty="0" err="1">
                <a:latin typeface="Times New Roman" pitchFamily="18" charset="0"/>
                <a:cs typeface="Times New Roman" pitchFamily="18" charset="0"/>
              </a:rPr>
              <a:t>Ahura</a:t>
            </a:r>
            <a:r>
              <a:rPr lang="en-US" sz="2000" dirty="0">
                <a:latin typeface="Times New Roman" pitchFamily="18" charset="0"/>
                <a:cs typeface="Times New Roman" pitchFamily="18" charset="0"/>
              </a:rPr>
              <a:t> Mazda, the supreme god, who embodies truth and goodness. This creation story emphasizes the duality of existence, highlighting the ongoing struggle between good and evil. </a:t>
            </a:r>
            <a:r>
              <a:rPr lang="en-US" sz="2000" dirty="0" err="1">
                <a:latin typeface="Times New Roman" pitchFamily="18" charset="0"/>
                <a:cs typeface="Times New Roman" pitchFamily="18" charset="0"/>
              </a:rPr>
              <a:t>Ahura</a:t>
            </a:r>
            <a:r>
              <a:rPr lang="en-US" sz="2000" dirty="0">
                <a:latin typeface="Times New Roman" pitchFamily="18" charset="0"/>
                <a:cs typeface="Times New Roman" pitchFamily="18" charset="0"/>
              </a:rPr>
              <a:t> Mazda, in his desire to create a perfect world, brought forth the cosmos from a state of chaos</a:t>
            </a:r>
            <a:r>
              <a:rPr lang="en-US" sz="2000" dirty="0" smtClean="0">
                <a:latin typeface="Times New Roman" pitchFamily="18" charset="0"/>
                <a:cs typeface="Times New Roman" pitchFamily="18" charset="0"/>
              </a:rPr>
              <a:t>.</a:t>
            </a:r>
          </a:p>
          <a:p>
            <a:pPr algn="just">
              <a:lnSpc>
                <a:spcPct val="150000"/>
              </a:lnSpc>
            </a:pPr>
            <a:endParaRPr lang="en-US" sz="2000" dirty="0">
              <a:latin typeface="Times New Roman" pitchFamily="18" charset="0"/>
              <a:cs typeface="Times New Roman" pitchFamily="18" charset="0"/>
            </a:endParaRPr>
          </a:p>
          <a:p>
            <a:pPr algn="just">
              <a:lnSpc>
                <a:spcPct val="150000"/>
              </a:lnSpc>
            </a:pPr>
            <a:r>
              <a:rPr lang="en-US" sz="2000" dirty="0">
                <a:latin typeface="Times New Roman" pitchFamily="18" charset="0"/>
                <a:cs typeface="Times New Roman" pitchFamily="18" charset="0"/>
              </a:rPr>
              <a:t>            The process of creation unfolds in several stages. Initially, </a:t>
            </a:r>
            <a:r>
              <a:rPr lang="en-US" sz="2000" dirty="0" err="1">
                <a:latin typeface="Times New Roman" pitchFamily="18" charset="0"/>
                <a:cs typeface="Times New Roman" pitchFamily="18" charset="0"/>
              </a:rPr>
              <a:t>Ahura</a:t>
            </a:r>
            <a:r>
              <a:rPr lang="en-US" sz="2000" dirty="0">
                <a:latin typeface="Times New Roman" pitchFamily="18" charset="0"/>
                <a:cs typeface="Times New Roman" pitchFamily="18" charset="0"/>
              </a:rPr>
              <a:t> Mazda created the spiritual realm and then moved on to the physical world. He created light, which symbolizes goodness, and then formed the heavens, the earth, and all living beings. Each element of creation is designed to support life and promote order. </a:t>
            </a:r>
            <a:endParaRPr lang="en-US" sz="2000" dirty="0" smtClean="0">
              <a:latin typeface="Times New Roman" pitchFamily="18" charset="0"/>
              <a:cs typeface="Times New Roman" pitchFamily="18" charset="0"/>
            </a:endParaRPr>
          </a:p>
        </p:txBody>
      </p:sp>
      <p:sp>
        <p:nvSpPr>
          <p:cNvPr id="7" name="TextBox 6">
            <a:extLst>
              <a:ext uri="{FF2B5EF4-FFF2-40B4-BE49-F238E27FC236}">
                <a16:creationId xmlns="" xmlns:a16="http://schemas.microsoft.com/office/drawing/2014/main" id="{451E09B4-3AE8-10E0-EA1F-234187E277CC}"/>
              </a:ext>
            </a:extLst>
          </p:cNvPr>
          <p:cNvSpPr txBox="1"/>
          <p:nvPr/>
        </p:nvSpPr>
        <p:spPr>
          <a:xfrm>
            <a:off x="152400" y="1172395"/>
            <a:ext cx="12188952" cy="461665"/>
          </a:xfrm>
          <a:prstGeom prst="rect">
            <a:avLst/>
          </a:prstGeom>
          <a:noFill/>
        </p:spPr>
        <p:txBody>
          <a:bodyPr wrap="square">
            <a:spAutoFit/>
          </a:bodyPr>
          <a:lstStyle/>
          <a:p>
            <a:pPr lvl="0" algn="ctr"/>
            <a:r>
              <a:rPr lang="en-US" sz="2400" b="1" dirty="0">
                <a:latin typeface="Times New Roman" pitchFamily="18" charset="0"/>
                <a:cs typeface="Times New Roman" pitchFamily="18" charset="0"/>
              </a:rPr>
              <a:t>Cosmos / Universe Creation</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882173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 xmlns:a16="http://schemas.microsoft.com/office/drawing/2014/main" id="{451E09B4-3AE8-10E0-EA1F-234187E277CC}"/>
              </a:ext>
            </a:extLst>
          </p:cNvPr>
          <p:cNvSpPr txBox="1"/>
          <p:nvPr/>
        </p:nvSpPr>
        <p:spPr>
          <a:xfrm>
            <a:off x="0" y="566524"/>
            <a:ext cx="12188952" cy="584775"/>
          </a:xfrm>
          <a:prstGeom prst="rect">
            <a:avLst/>
          </a:prstGeom>
          <a:noFill/>
        </p:spPr>
        <p:txBody>
          <a:bodyPr wrap="square">
            <a:spAutoFit/>
          </a:bodyPr>
          <a:lstStyle/>
          <a:p>
            <a:pPr lvl="0" algn="ctr"/>
            <a:r>
              <a:rPr lang="en-US" sz="3200" b="1" dirty="0">
                <a:latin typeface="Times New Roman" pitchFamily="18" charset="0"/>
                <a:cs typeface="Times New Roman" pitchFamily="18" charset="0"/>
              </a:rPr>
              <a:t>Zoroastrianism view of the world </a:t>
            </a:r>
            <a:endParaRPr lang="en-US" sz="3200" dirty="0">
              <a:latin typeface="Times New Roman" pitchFamily="18" charset="0"/>
              <a:cs typeface="Times New Roman" pitchFamily="18" charset="0"/>
            </a:endParaRPr>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2233" name="TextBox 2232">
            <a:extLst>
              <a:ext uri="{FF2B5EF4-FFF2-40B4-BE49-F238E27FC236}">
                <a16:creationId xmlns="" xmlns:a16="http://schemas.microsoft.com/office/drawing/2014/main" id="{22E0D60B-8654-40C5-C7B0-95F1905E3323}"/>
              </a:ext>
            </a:extLst>
          </p:cNvPr>
          <p:cNvSpPr txBox="1"/>
          <p:nvPr/>
        </p:nvSpPr>
        <p:spPr>
          <a:xfrm>
            <a:off x="1179576" y="1900114"/>
            <a:ext cx="9829800" cy="2631490"/>
          </a:xfrm>
          <a:prstGeom prst="rect">
            <a:avLst/>
          </a:prstGeom>
          <a:noFill/>
        </p:spPr>
        <p:txBody>
          <a:bodyPr wrap="square">
            <a:spAutoFit/>
          </a:bodyPr>
          <a:lstStyle/>
          <a:p>
            <a:pPr algn="just">
              <a:lnSpc>
                <a:spcPct val="150000"/>
              </a:lnSpc>
            </a:pPr>
            <a:r>
              <a:rPr lang="en-US" sz="2200" dirty="0" smtClean="0">
                <a:latin typeface="Times New Roman" pitchFamily="18" charset="0"/>
                <a:cs typeface="Times New Roman" pitchFamily="18" charset="0"/>
              </a:rPr>
              <a:t>       Central </a:t>
            </a:r>
            <a:r>
              <a:rPr lang="en-US" sz="2200" dirty="0">
                <a:latin typeface="Times New Roman" pitchFamily="18" charset="0"/>
                <a:cs typeface="Times New Roman" pitchFamily="18" charset="0"/>
              </a:rPr>
              <a:t>to the Zoroastrian creation story is the concept of </a:t>
            </a:r>
            <a:r>
              <a:rPr lang="en-US" sz="2200" dirty="0" err="1">
                <a:latin typeface="Times New Roman" pitchFamily="18" charset="0"/>
                <a:cs typeface="Times New Roman" pitchFamily="18" charset="0"/>
              </a:rPr>
              <a:t>Angra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Mainyu</a:t>
            </a:r>
            <a:r>
              <a:rPr lang="en-US" sz="2200" dirty="0">
                <a:latin typeface="Times New Roman" pitchFamily="18" charset="0"/>
                <a:cs typeface="Times New Roman" pitchFamily="18" charset="0"/>
              </a:rPr>
              <a:t>, or </a:t>
            </a:r>
            <a:r>
              <a:rPr lang="en-US" sz="2200" dirty="0" err="1">
                <a:latin typeface="Times New Roman" pitchFamily="18" charset="0"/>
                <a:cs typeface="Times New Roman" pitchFamily="18" charset="0"/>
              </a:rPr>
              <a:t>Ahriman</a:t>
            </a:r>
            <a:r>
              <a:rPr lang="en-US" sz="2200" dirty="0">
                <a:latin typeface="Times New Roman" pitchFamily="18" charset="0"/>
                <a:cs typeface="Times New Roman" pitchFamily="18" charset="0"/>
              </a:rPr>
              <a:t>, who represents chaos and evil. As </a:t>
            </a:r>
            <a:r>
              <a:rPr lang="en-US" sz="2200" dirty="0" err="1">
                <a:latin typeface="Times New Roman" pitchFamily="18" charset="0"/>
                <a:cs typeface="Times New Roman" pitchFamily="18" charset="0"/>
              </a:rPr>
              <a:t>Ahura</a:t>
            </a:r>
            <a:r>
              <a:rPr lang="en-US" sz="2200" dirty="0">
                <a:latin typeface="Times New Roman" pitchFamily="18" charset="0"/>
                <a:cs typeface="Times New Roman" pitchFamily="18" charset="0"/>
              </a:rPr>
              <a:t> Mazda creates the world, </a:t>
            </a:r>
            <a:r>
              <a:rPr lang="en-US" sz="2200" dirty="0" err="1">
                <a:latin typeface="Times New Roman" pitchFamily="18" charset="0"/>
                <a:cs typeface="Times New Roman" pitchFamily="18" charset="0"/>
              </a:rPr>
              <a:t>Angra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Mainyu</a:t>
            </a:r>
            <a:r>
              <a:rPr lang="en-US" sz="2200" dirty="0">
                <a:latin typeface="Times New Roman" pitchFamily="18" charset="0"/>
                <a:cs typeface="Times New Roman" pitchFamily="18" charset="0"/>
              </a:rPr>
              <a:t> opposes him, attempting to disrupt the order established by the divine. This duality is fundamental to Zoroastrian theology, illustrating the constant battle between good and evil forces in the universe. </a:t>
            </a:r>
            <a:endParaRPr lang="en-US" sz="2200" dirty="0">
              <a:effectLst/>
              <a:latin typeface="Times New Roman" pitchFamily="18" charset="0"/>
              <a:cs typeface="Times New Roman" pitchFamily="18" charset="0"/>
            </a:endParaRPr>
          </a:p>
        </p:txBody>
      </p:sp>
      <p:sp>
        <p:nvSpPr>
          <p:cNvPr id="7" name="TextBox 6">
            <a:extLst>
              <a:ext uri="{FF2B5EF4-FFF2-40B4-BE49-F238E27FC236}">
                <a16:creationId xmlns="" xmlns:a16="http://schemas.microsoft.com/office/drawing/2014/main" id="{451E09B4-3AE8-10E0-EA1F-234187E277CC}"/>
              </a:ext>
            </a:extLst>
          </p:cNvPr>
          <p:cNvSpPr txBox="1"/>
          <p:nvPr/>
        </p:nvSpPr>
        <p:spPr>
          <a:xfrm>
            <a:off x="152400" y="1172395"/>
            <a:ext cx="12188952" cy="461665"/>
          </a:xfrm>
          <a:prstGeom prst="rect">
            <a:avLst/>
          </a:prstGeom>
          <a:noFill/>
        </p:spPr>
        <p:txBody>
          <a:bodyPr wrap="square">
            <a:spAutoFit/>
          </a:bodyPr>
          <a:lstStyle/>
          <a:p>
            <a:pPr lvl="0" algn="ctr"/>
            <a:r>
              <a:rPr lang="en-US" sz="2400" b="1" dirty="0">
                <a:latin typeface="Times New Roman" pitchFamily="18" charset="0"/>
                <a:cs typeface="Times New Roman" pitchFamily="18" charset="0"/>
              </a:rPr>
              <a:t>Cosmos / Universe Creation</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906303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 xmlns:a16="http://schemas.microsoft.com/office/drawing/2014/main" id="{451E09B4-3AE8-10E0-EA1F-234187E277CC}"/>
              </a:ext>
            </a:extLst>
          </p:cNvPr>
          <p:cNvSpPr txBox="1"/>
          <p:nvPr/>
        </p:nvSpPr>
        <p:spPr>
          <a:xfrm>
            <a:off x="0" y="566524"/>
            <a:ext cx="12188952" cy="584775"/>
          </a:xfrm>
          <a:prstGeom prst="rect">
            <a:avLst/>
          </a:prstGeom>
          <a:noFill/>
        </p:spPr>
        <p:txBody>
          <a:bodyPr wrap="square">
            <a:spAutoFit/>
          </a:bodyPr>
          <a:lstStyle/>
          <a:p>
            <a:pPr lvl="0" algn="ctr"/>
            <a:r>
              <a:rPr lang="en-US" sz="3200" b="1" dirty="0">
                <a:latin typeface="Times New Roman" pitchFamily="18" charset="0"/>
                <a:cs typeface="Times New Roman" pitchFamily="18" charset="0"/>
              </a:rPr>
              <a:t>Zoroastrianism view of the world </a:t>
            </a:r>
            <a:endParaRPr lang="en-US" sz="3200" dirty="0">
              <a:latin typeface="Times New Roman" pitchFamily="18" charset="0"/>
              <a:cs typeface="Times New Roman" pitchFamily="18" charset="0"/>
            </a:endParaRPr>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2233" name="TextBox 2232">
            <a:extLst>
              <a:ext uri="{FF2B5EF4-FFF2-40B4-BE49-F238E27FC236}">
                <a16:creationId xmlns="" xmlns:a16="http://schemas.microsoft.com/office/drawing/2014/main" id="{22E0D60B-8654-40C5-C7B0-95F1905E3323}"/>
              </a:ext>
            </a:extLst>
          </p:cNvPr>
          <p:cNvSpPr txBox="1"/>
          <p:nvPr/>
        </p:nvSpPr>
        <p:spPr>
          <a:xfrm>
            <a:off x="1179576" y="1900114"/>
            <a:ext cx="9829800" cy="3586366"/>
          </a:xfrm>
          <a:prstGeom prst="rect">
            <a:avLst/>
          </a:prstGeom>
          <a:noFill/>
        </p:spPr>
        <p:txBody>
          <a:bodyPr wrap="square">
            <a:spAutoFit/>
          </a:bodyPr>
          <a:lstStyle/>
          <a:p>
            <a:pPr algn="just">
              <a:lnSpc>
                <a:spcPct val="150000"/>
              </a:lnSpc>
            </a:pP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In Zoroastrianism, the creation of humanity is a significant aspect of the divine plan established by </a:t>
            </a:r>
            <a:r>
              <a:rPr lang="en-US" sz="2200" dirty="0" err="1">
                <a:latin typeface="Times New Roman" pitchFamily="18" charset="0"/>
                <a:cs typeface="Times New Roman" pitchFamily="18" charset="0"/>
              </a:rPr>
              <a:t>Ahura</a:t>
            </a:r>
            <a:r>
              <a:rPr lang="en-US" sz="2200" dirty="0">
                <a:latin typeface="Times New Roman" pitchFamily="18" charset="0"/>
                <a:cs typeface="Times New Roman" pitchFamily="18" charset="0"/>
              </a:rPr>
              <a:t> Mazda, the supreme god. According to Zoroastrian beliefs, humans were created on the sixth day of creation, following the formation of the earth and other living beings. </a:t>
            </a:r>
            <a:r>
              <a:rPr lang="en-US" sz="2200" dirty="0" err="1">
                <a:latin typeface="Times New Roman" pitchFamily="18" charset="0"/>
                <a:cs typeface="Times New Roman" pitchFamily="18" charset="0"/>
              </a:rPr>
              <a:t>Ahura</a:t>
            </a:r>
            <a:r>
              <a:rPr lang="en-US" sz="2200" dirty="0">
                <a:latin typeface="Times New Roman" pitchFamily="18" charset="0"/>
                <a:cs typeface="Times New Roman" pitchFamily="18" charset="0"/>
              </a:rPr>
              <a:t> Mazda shaped the first human, named Gaya </a:t>
            </a:r>
            <a:r>
              <a:rPr lang="en-US" sz="2200" dirty="0" err="1">
                <a:latin typeface="Times New Roman" pitchFamily="18" charset="0"/>
                <a:cs typeface="Times New Roman" pitchFamily="18" charset="0"/>
              </a:rPr>
              <a:t>Maretan</a:t>
            </a:r>
            <a:r>
              <a:rPr lang="en-US" sz="2200" dirty="0">
                <a:latin typeface="Times New Roman" pitchFamily="18" charset="0"/>
                <a:cs typeface="Times New Roman" pitchFamily="18" charset="0"/>
              </a:rPr>
              <a:t>, from clay and breathed life into him, symbolizing that humans are a vital part of the natural world. This act also signifies that humans carry both physical and spiritual qualities, reflecting the divine essence.</a:t>
            </a:r>
            <a:endParaRPr lang="en-US" sz="2200" dirty="0">
              <a:effectLst/>
              <a:latin typeface="Times New Roman" pitchFamily="18" charset="0"/>
              <a:cs typeface="Times New Roman" pitchFamily="18" charset="0"/>
            </a:endParaRPr>
          </a:p>
        </p:txBody>
      </p:sp>
      <p:sp>
        <p:nvSpPr>
          <p:cNvPr id="7" name="TextBox 6">
            <a:extLst>
              <a:ext uri="{FF2B5EF4-FFF2-40B4-BE49-F238E27FC236}">
                <a16:creationId xmlns="" xmlns:a16="http://schemas.microsoft.com/office/drawing/2014/main" id="{451E09B4-3AE8-10E0-EA1F-234187E277CC}"/>
              </a:ext>
            </a:extLst>
          </p:cNvPr>
          <p:cNvSpPr txBox="1"/>
          <p:nvPr/>
        </p:nvSpPr>
        <p:spPr>
          <a:xfrm>
            <a:off x="152400" y="1172395"/>
            <a:ext cx="12188952" cy="461665"/>
          </a:xfrm>
          <a:prstGeom prst="rect">
            <a:avLst/>
          </a:prstGeom>
          <a:noFill/>
        </p:spPr>
        <p:txBody>
          <a:bodyPr wrap="square">
            <a:spAutoFit/>
          </a:bodyPr>
          <a:lstStyle/>
          <a:p>
            <a:pPr lvl="0" algn="ctr"/>
            <a:r>
              <a:rPr lang="en-US" sz="2400" b="1" dirty="0">
                <a:latin typeface="Times New Roman" pitchFamily="18" charset="0"/>
                <a:cs typeface="Times New Roman" pitchFamily="18" charset="0"/>
              </a:rPr>
              <a:t>Man</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37491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 xmlns:a16="http://schemas.microsoft.com/office/drawing/2014/main" id="{451E09B4-3AE8-10E0-EA1F-234187E277CC}"/>
              </a:ext>
            </a:extLst>
          </p:cNvPr>
          <p:cNvSpPr txBox="1"/>
          <p:nvPr/>
        </p:nvSpPr>
        <p:spPr>
          <a:xfrm>
            <a:off x="0" y="566524"/>
            <a:ext cx="12188952" cy="584775"/>
          </a:xfrm>
          <a:prstGeom prst="rect">
            <a:avLst/>
          </a:prstGeom>
          <a:noFill/>
        </p:spPr>
        <p:txBody>
          <a:bodyPr wrap="square">
            <a:spAutoFit/>
          </a:bodyPr>
          <a:lstStyle/>
          <a:p>
            <a:pPr lvl="0" algn="ctr"/>
            <a:r>
              <a:rPr lang="en-US" sz="3200" b="1" dirty="0">
                <a:latin typeface="Times New Roman" pitchFamily="18" charset="0"/>
                <a:cs typeface="Times New Roman" pitchFamily="18" charset="0"/>
              </a:rPr>
              <a:t>Zoroastrianism view of the world </a:t>
            </a:r>
            <a:endParaRPr lang="en-US" sz="3200" dirty="0">
              <a:latin typeface="Times New Roman" pitchFamily="18" charset="0"/>
              <a:cs typeface="Times New Roman" pitchFamily="18" charset="0"/>
            </a:endParaRPr>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2233" name="TextBox 2232">
            <a:extLst>
              <a:ext uri="{FF2B5EF4-FFF2-40B4-BE49-F238E27FC236}">
                <a16:creationId xmlns="" xmlns:a16="http://schemas.microsoft.com/office/drawing/2014/main" id="{22E0D60B-8654-40C5-C7B0-95F1905E3323}"/>
              </a:ext>
            </a:extLst>
          </p:cNvPr>
          <p:cNvSpPr txBox="1"/>
          <p:nvPr/>
        </p:nvSpPr>
        <p:spPr>
          <a:xfrm>
            <a:off x="1179576" y="1634060"/>
            <a:ext cx="9829800" cy="4362733"/>
          </a:xfrm>
          <a:prstGeom prst="rect">
            <a:avLst/>
          </a:prstGeom>
          <a:noFill/>
        </p:spPr>
        <p:txBody>
          <a:bodyPr wrap="square">
            <a:spAutoFit/>
          </a:bodyPr>
          <a:lstStyle/>
          <a:p>
            <a:pPr algn="just">
              <a:lnSpc>
                <a:spcPct val="150000"/>
              </a:lnSpc>
            </a:pPr>
            <a:r>
              <a:rPr lang="en-US" sz="2000" dirty="0" smtClean="0">
                <a:latin typeface="Times New Roman" pitchFamily="18" charset="0"/>
                <a:cs typeface="Times New Roman" pitchFamily="18" charset="0"/>
              </a:rPr>
              <a:t>      Zoroastrianism </a:t>
            </a:r>
            <a:r>
              <a:rPr lang="en-US" sz="2000" dirty="0">
                <a:latin typeface="Times New Roman" pitchFamily="18" charset="0"/>
                <a:cs typeface="Times New Roman" pitchFamily="18" charset="0"/>
              </a:rPr>
              <a:t>teaches that humans are endowed with free will, which allows them to choose between good and evil. This ability is crucial because it places the responsibility for moral choices on individuals. Zoroastrians believe that every person has the potential to contribute positively to the world through their thoughts, words, and deeds. By making righteous choices, individuals align themselves with the good, supporting the cosmic struggle between </a:t>
            </a:r>
            <a:r>
              <a:rPr lang="en-US" sz="2000" dirty="0" err="1">
                <a:latin typeface="Times New Roman" pitchFamily="18" charset="0"/>
                <a:cs typeface="Times New Roman" pitchFamily="18" charset="0"/>
              </a:rPr>
              <a:t>Ahura</a:t>
            </a:r>
            <a:r>
              <a:rPr lang="en-US" sz="2000" dirty="0">
                <a:latin typeface="Times New Roman" pitchFamily="18" charset="0"/>
                <a:cs typeface="Times New Roman" pitchFamily="18" charset="0"/>
              </a:rPr>
              <a:t> Mazda and </a:t>
            </a:r>
            <a:r>
              <a:rPr lang="en-US" sz="2000" dirty="0" err="1">
                <a:latin typeface="Times New Roman" pitchFamily="18" charset="0"/>
                <a:cs typeface="Times New Roman" pitchFamily="18" charset="0"/>
              </a:rPr>
              <a:t>Angra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Mainyu</a:t>
            </a:r>
            <a:r>
              <a:rPr lang="en-US" sz="2000" dirty="0">
                <a:latin typeface="Times New Roman" pitchFamily="18" charset="0"/>
                <a:cs typeface="Times New Roman" pitchFamily="18" charset="0"/>
              </a:rPr>
              <a:t>, the spirit of chaos and deceit</a:t>
            </a:r>
            <a:r>
              <a:rPr lang="en-US" sz="2000" dirty="0" smtClean="0">
                <a:latin typeface="Times New Roman" pitchFamily="18" charset="0"/>
                <a:cs typeface="Times New Roman" pitchFamily="18" charset="0"/>
              </a:rPr>
              <a:t>.</a:t>
            </a:r>
          </a:p>
          <a:p>
            <a:pPr algn="just">
              <a:lnSpc>
                <a:spcPct val="150000"/>
              </a:lnSpc>
            </a:pPr>
            <a:endParaRPr lang="en-US" sz="500" dirty="0">
              <a:latin typeface="Times New Roman" pitchFamily="18" charset="0"/>
              <a:cs typeface="Times New Roman" pitchFamily="18" charset="0"/>
            </a:endParaRPr>
          </a:p>
          <a:p>
            <a:pPr algn="just">
              <a:lnSpc>
                <a:spcPct val="150000"/>
              </a:lnSpc>
            </a:pPr>
            <a:r>
              <a:rPr lang="en-US" sz="2000" dirty="0">
                <a:latin typeface="Times New Roman" pitchFamily="18" charset="0"/>
                <a:cs typeface="Times New Roman" pitchFamily="18" charset="0"/>
              </a:rPr>
              <a:t>             Moreover, humans are seen as guardians of creation, tasked with protecting the earth and all its creatures. Zoroastrians believe that by living a life of virtue and caring for the environment, they honor the intentions of </a:t>
            </a:r>
            <a:r>
              <a:rPr lang="en-US" sz="2000" dirty="0" err="1">
                <a:latin typeface="Times New Roman" pitchFamily="18" charset="0"/>
                <a:cs typeface="Times New Roman" pitchFamily="18" charset="0"/>
              </a:rPr>
              <a:t>Ahura</a:t>
            </a:r>
            <a:r>
              <a:rPr lang="en-US" sz="2000" dirty="0">
                <a:latin typeface="Times New Roman" pitchFamily="18" charset="0"/>
                <a:cs typeface="Times New Roman" pitchFamily="18" charset="0"/>
              </a:rPr>
              <a:t> Mazda. </a:t>
            </a:r>
            <a:endParaRPr lang="en-US" sz="2000" dirty="0">
              <a:effectLst/>
              <a:latin typeface="Times New Roman" pitchFamily="18" charset="0"/>
              <a:cs typeface="Times New Roman" pitchFamily="18" charset="0"/>
            </a:endParaRPr>
          </a:p>
        </p:txBody>
      </p:sp>
      <p:sp>
        <p:nvSpPr>
          <p:cNvPr id="7" name="TextBox 6">
            <a:extLst>
              <a:ext uri="{FF2B5EF4-FFF2-40B4-BE49-F238E27FC236}">
                <a16:creationId xmlns="" xmlns:a16="http://schemas.microsoft.com/office/drawing/2014/main" id="{451E09B4-3AE8-10E0-EA1F-234187E277CC}"/>
              </a:ext>
            </a:extLst>
          </p:cNvPr>
          <p:cNvSpPr txBox="1"/>
          <p:nvPr/>
        </p:nvSpPr>
        <p:spPr>
          <a:xfrm>
            <a:off x="152400" y="1172395"/>
            <a:ext cx="12188952" cy="461665"/>
          </a:xfrm>
          <a:prstGeom prst="rect">
            <a:avLst/>
          </a:prstGeom>
          <a:noFill/>
        </p:spPr>
        <p:txBody>
          <a:bodyPr wrap="square">
            <a:spAutoFit/>
          </a:bodyPr>
          <a:lstStyle/>
          <a:p>
            <a:pPr lvl="0" algn="ctr"/>
            <a:r>
              <a:rPr lang="en-US" sz="2400" b="1" dirty="0">
                <a:latin typeface="Times New Roman" pitchFamily="18" charset="0"/>
                <a:cs typeface="Times New Roman" pitchFamily="18" charset="0"/>
              </a:rPr>
              <a:t>Man</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337673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 xmlns:a16="http://schemas.microsoft.com/office/drawing/2014/main" id="{451E09B4-3AE8-10E0-EA1F-234187E277CC}"/>
              </a:ext>
            </a:extLst>
          </p:cNvPr>
          <p:cNvSpPr txBox="1"/>
          <p:nvPr/>
        </p:nvSpPr>
        <p:spPr>
          <a:xfrm>
            <a:off x="0" y="566524"/>
            <a:ext cx="12188952" cy="584775"/>
          </a:xfrm>
          <a:prstGeom prst="rect">
            <a:avLst/>
          </a:prstGeom>
          <a:noFill/>
        </p:spPr>
        <p:txBody>
          <a:bodyPr wrap="square">
            <a:spAutoFit/>
          </a:bodyPr>
          <a:lstStyle/>
          <a:p>
            <a:pPr lvl="0" algn="ctr"/>
            <a:r>
              <a:rPr lang="en-US" sz="3200" b="1" dirty="0">
                <a:latin typeface="Times New Roman" pitchFamily="18" charset="0"/>
                <a:cs typeface="Times New Roman" pitchFamily="18" charset="0"/>
              </a:rPr>
              <a:t>Zoroastrianism view of the world </a:t>
            </a:r>
            <a:endParaRPr lang="en-US" sz="3200" dirty="0">
              <a:latin typeface="Times New Roman" pitchFamily="18" charset="0"/>
              <a:cs typeface="Times New Roman" pitchFamily="18" charset="0"/>
            </a:endParaRPr>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2233" name="TextBox 2232">
            <a:extLst>
              <a:ext uri="{FF2B5EF4-FFF2-40B4-BE49-F238E27FC236}">
                <a16:creationId xmlns="" xmlns:a16="http://schemas.microsoft.com/office/drawing/2014/main" id="{22E0D60B-8654-40C5-C7B0-95F1905E3323}"/>
              </a:ext>
            </a:extLst>
          </p:cNvPr>
          <p:cNvSpPr txBox="1"/>
          <p:nvPr/>
        </p:nvSpPr>
        <p:spPr>
          <a:xfrm>
            <a:off x="1179576" y="1907015"/>
            <a:ext cx="9829800" cy="3586366"/>
          </a:xfrm>
          <a:prstGeom prst="rect">
            <a:avLst/>
          </a:prstGeom>
          <a:noFill/>
        </p:spPr>
        <p:txBody>
          <a:bodyPr wrap="square">
            <a:spAutoFit/>
          </a:bodyPr>
          <a:lstStyle/>
          <a:p>
            <a:pPr algn="just">
              <a:lnSpc>
                <a:spcPct val="150000"/>
              </a:lnSpc>
            </a:pP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       In </a:t>
            </a:r>
            <a:r>
              <a:rPr lang="en-US" sz="2200" dirty="0">
                <a:latin typeface="Times New Roman" pitchFamily="18" charset="0"/>
                <a:cs typeface="Times New Roman" pitchFamily="18" charset="0"/>
              </a:rPr>
              <a:t>Zoroastrianism, the plight of humanity is viewed through the lens of the ongoing struggle between good and evil. Humans are seen as caught in the middle of this cosmic battle, where they must navigate the challenges of life while making moral choices. According to Zoroastrian beliefs, every person has the ability to choose between the path of truth, represented by </a:t>
            </a:r>
            <a:r>
              <a:rPr lang="en-US" sz="2200" dirty="0" err="1">
                <a:latin typeface="Times New Roman" pitchFamily="18" charset="0"/>
                <a:cs typeface="Times New Roman" pitchFamily="18" charset="0"/>
              </a:rPr>
              <a:t>Ahura</a:t>
            </a:r>
            <a:r>
              <a:rPr lang="en-US" sz="2200" dirty="0">
                <a:latin typeface="Times New Roman" pitchFamily="18" charset="0"/>
                <a:cs typeface="Times New Roman" pitchFamily="18" charset="0"/>
              </a:rPr>
              <a:t> Mazda, and the path of deceit and chaos, represented by </a:t>
            </a:r>
            <a:r>
              <a:rPr lang="en-US" sz="2200" dirty="0" err="1">
                <a:latin typeface="Times New Roman" pitchFamily="18" charset="0"/>
                <a:cs typeface="Times New Roman" pitchFamily="18" charset="0"/>
              </a:rPr>
              <a:t>Angra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Mainyu</a:t>
            </a:r>
            <a:r>
              <a:rPr lang="en-US" sz="2200" dirty="0">
                <a:latin typeface="Times New Roman" pitchFamily="18" charset="0"/>
                <a:cs typeface="Times New Roman" pitchFamily="18" charset="0"/>
              </a:rPr>
              <a:t>. This duality creates a sense of urgency and importance in the choices individuals make throughout their lives.</a:t>
            </a:r>
            <a:endParaRPr lang="en-US" sz="2200" dirty="0">
              <a:effectLst/>
              <a:latin typeface="Times New Roman" pitchFamily="18" charset="0"/>
              <a:cs typeface="Times New Roman" pitchFamily="18" charset="0"/>
            </a:endParaRPr>
          </a:p>
        </p:txBody>
      </p:sp>
      <p:sp>
        <p:nvSpPr>
          <p:cNvPr id="7" name="TextBox 6">
            <a:extLst>
              <a:ext uri="{FF2B5EF4-FFF2-40B4-BE49-F238E27FC236}">
                <a16:creationId xmlns="" xmlns:a16="http://schemas.microsoft.com/office/drawing/2014/main" id="{451E09B4-3AE8-10E0-EA1F-234187E277CC}"/>
              </a:ext>
            </a:extLst>
          </p:cNvPr>
          <p:cNvSpPr txBox="1"/>
          <p:nvPr/>
        </p:nvSpPr>
        <p:spPr>
          <a:xfrm>
            <a:off x="152400" y="1172395"/>
            <a:ext cx="12188952" cy="461665"/>
          </a:xfrm>
          <a:prstGeom prst="rect">
            <a:avLst/>
          </a:prstGeom>
          <a:noFill/>
        </p:spPr>
        <p:txBody>
          <a:bodyPr wrap="square">
            <a:spAutoFit/>
          </a:bodyPr>
          <a:lstStyle/>
          <a:p>
            <a:pPr lvl="0" algn="ctr"/>
            <a:r>
              <a:rPr lang="en-US" sz="2400" b="1" dirty="0">
                <a:latin typeface="Times New Roman" pitchFamily="18" charset="0"/>
                <a:cs typeface="Times New Roman" pitchFamily="18" charset="0"/>
              </a:rPr>
              <a:t>Man’s Plight</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739732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 xmlns:a16="http://schemas.microsoft.com/office/drawing/2014/main" id="{451E09B4-3AE8-10E0-EA1F-234187E277CC}"/>
              </a:ext>
            </a:extLst>
          </p:cNvPr>
          <p:cNvSpPr txBox="1"/>
          <p:nvPr/>
        </p:nvSpPr>
        <p:spPr>
          <a:xfrm>
            <a:off x="0" y="566524"/>
            <a:ext cx="12188952" cy="584775"/>
          </a:xfrm>
          <a:prstGeom prst="rect">
            <a:avLst/>
          </a:prstGeom>
          <a:noFill/>
        </p:spPr>
        <p:txBody>
          <a:bodyPr wrap="square">
            <a:spAutoFit/>
          </a:bodyPr>
          <a:lstStyle/>
          <a:p>
            <a:pPr lvl="0" algn="ctr"/>
            <a:r>
              <a:rPr lang="en-US" sz="3200" b="1" dirty="0">
                <a:latin typeface="Times New Roman" pitchFamily="18" charset="0"/>
                <a:cs typeface="Times New Roman" pitchFamily="18" charset="0"/>
              </a:rPr>
              <a:t>Zoroastrianism view of the world </a:t>
            </a:r>
            <a:endParaRPr lang="en-US" sz="3200" dirty="0">
              <a:latin typeface="Times New Roman" pitchFamily="18" charset="0"/>
              <a:cs typeface="Times New Roman" pitchFamily="18" charset="0"/>
            </a:endParaRPr>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2233" name="TextBox 2232">
            <a:extLst>
              <a:ext uri="{FF2B5EF4-FFF2-40B4-BE49-F238E27FC236}">
                <a16:creationId xmlns="" xmlns:a16="http://schemas.microsoft.com/office/drawing/2014/main" id="{22E0D60B-8654-40C5-C7B0-95F1905E3323}"/>
              </a:ext>
            </a:extLst>
          </p:cNvPr>
          <p:cNvSpPr txBox="1"/>
          <p:nvPr/>
        </p:nvSpPr>
        <p:spPr>
          <a:xfrm>
            <a:off x="1179576" y="1907015"/>
            <a:ext cx="9829800" cy="3586366"/>
          </a:xfrm>
          <a:prstGeom prst="rect">
            <a:avLst/>
          </a:prstGeom>
          <a:noFill/>
        </p:spPr>
        <p:txBody>
          <a:bodyPr wrap="square">
            <a:spAutoFit/>
          </a:bodyPr>
          <a:lstStyle/>
          <a:p>
            <a:pPr algn="just">
              <a:lnSpc>
                <a:spcPct val="150000"/>
              </a:lnSpc>
            </a:pP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         Zoroastrians </a:t>
            </a:r>
            <a:r>
              <a:rPr lang="en-US" sz="2200" dirty="0">
                <a:latin typeface="Times New Roman" pitchFamily="18" charset="0"/>
                <a:cs typeface="Times New Roman" pitchFamily="18" charset="0"/>
              </a:rPr>
              <a:t>believe that the world is filled with temptations and difficulties that can lead people away from righteousness. </a:t>
            </a:r>
            <a:r>
              <a:rPr lang="en-US" sz="2200" dirty="0" err="1">
                <a:latin typeface="Times New Roman" pitchFamily="18" charset="0"/>
                <a:cs typeface="Times New Roman" pitchFamily="18" charset="0"/>
              </a:rPr>
              <a:t>Angra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Mainyu</a:t>
            </a:r>
            <a:r>
              <a:rPr lang="en-US" sz="2200" dirty="0">
                <a:latin typeface="Times New Roman" pitchFamily="18" charset="0"/>
                <a:cs typeface="Times New Roman" pitchFamily="18" charset="0"/>
              </a:rPr>
              <a:t> constantly seeks to undermine the goodness in the world, creating suffering, conflict, and despair. This means that humans must remain vigilant and committed to their moral responsibilities. Zoroastrian teachings emphasize that life is a test, where individuals must demonstrate their commitment to truth and good deeds. Failure to do so can result in spiritual consequences, both in this life and in the afterlife.</a:t>
            </a:r>
            <a:endParaRPr lang="en-US" sz="2200" dirty="0">
              <a:effectLst/>
              <a:latin typeface="Times New Roman" pitchFamily="18" charset="0"/>
              <a:cs typeface="Times New Roman" pitchFamily="18" charset="0"/>
            </a:endParaRPr>
          </a:p>
        </p:txBody>
      </p:sp>
      <p:sp>
        <p:nvSpPr>
          <p:cNvPr id="7" name="TextBox 6">
            <a:extLst>
              <a:ext uri="{FF2B5EF4-FFF2-40B4-BE49-F238E27FC236}">
                <a16:creationId xmlns="" xmlns:a16="http://schemas.microsoft.com/office/drawing/2014/main" id="{451E09B4-3AE8-10E0-EA1F-234187E277CC}"/>
              </a:ext>
            </a:extLst>
          </p:cNvPr>
          <p:cNvSpPr txBox="1"/>
          <p:nvPr/>
        </p:nvSpPr>
        <p:spPr>
          <a:xfrm>
            <a:off x="152400" y="1172395"/>
            <a:ext cx="12188952" cy="461665"/>
          </a:xfrm>
          <a:prstGeom prst="rect">
            <a:avLst/>
          </a:prstGeom>
          <a:noFill/>
        </p:spPr>
        <p:txBody>
          <a:bodyPr wrap="square">
            <a:spAutoFit/>
          </a:bodyPr>
          <a:lstStyle/>
          <a:p>
            <a:pPr lvl="0" algn="ctr"/>
            <a:r>
              <a:rPr lang="en-US" sz="2400" b="1" dirty="0">
                <a:latin typeface="Times New Roman" pitchFamily="18" charset="0"/>
                <a:cs typeface="Times New Roman" pitchFamily="18" charset="0"/>
              </a:rPr>
              <a:t>Man’s Plight</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406638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 xmlns:a16="http://schemas.microsoft.com/office/drawing/2014/main" id="{451E09B4-3AE8-10E0-EA1F-234187E277CC}"/>
              </a:ext>
            </a:extLst>
          </p:cNvPr>
          <p:cNvSpPr txBox="1"/>
          <p:nvPr/>
        </p:nvSpPr>
        <p:spPr>
          <a:xfrm>
            <a:off x="0" y="566524"/>
            <a:ext cx="12188952" cy="584775"/>
          </a:xfrm>
          <a:prstGeom prst="rect">
            <a:avLst/>
          </a:prstGeom>
          <a:noFill/>
        </p:spPr>
        <p:txBody>
          <a:bodyPr wrap="square">
            <a:spAutoFit/>
          </a:bodyPr>
          <a:lstStyle/>
          <a:p>
            <a:pPr lvl="0" algn="ctr"/>
            <a:r>
              <a:rPr lang="en-US" sz="3200" b="1" dirty="0">
                <a:latin typeface="Times New Roman" pitchFamily="18" charset="0"/>
                <a:cs typeface="Times New Roman" pitchFamily="18" charset="0"/>
              </a:rPr>
              <a:t>Zoroastrianism view of the world </a:t>
            </a:r>
            <a:endParaRPr lang="en-US" sz="3200" dirty="0">
              <a:latin typeface="Times New Roman" pitchFamily="18" charset="0"/>
              <a:cs typeface="Times New Roman" pitchFamily="18" charset="0"/>
            </a:endParaRPr>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2233" name="TextBox 2232">
            <a:extLst>
              <a:ext uri="{FF2B5EF4-FFF2-40B4-BE49-F238E27FC236}">
                <a16:creationId xmlns="" xmlns:a16="http://schemas.microsoft.com/office/drawing/2014/main" id="{22E0D60B-8654-40C5-C7B0-95F1905E3323}"/>
              </a:ext>
            </a:extLst>
          </p:cNvPr>
          <p:cNvSpPr txBox="1"/>
          <p:nvPr/>
        </p:nvSpPr>
        <p:spPr>
          <a:xfrm>
            <a:off x="1179576" y="1907015"/>
            <a:ext cx="9829800" cy="4094198"/>
          </a:xfrm>
          <a:prstGeom prst="rect">
            <a:avLst/>
          </a:prstGeom>
          <a:noFill/>
        </p:spPr>
        <p:txBody>
          <a:bodyPr wrap="square">
            <a:spAutoFit/>
          </a:bodyPr>
          <a:lstStyle/>
          <a:p>
            <a:pPr algn="just">
              <a:lnSpc>
                <a:spcPct val="150000"/>
              </a:lnSpc>
            </a:pP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       Despite </a:t>
            </a:r>
            <a:r>
              <a:rPr lang="en-US" sz="2200" dirty="0">
                <a:latin typeface="Times New Roman" pitchFamily="18" charset="0"/>
                <a:cs typeface="Times New Roman" pitchFamily="18" charset="0"/>
              </a:rPr>
              <a:t>the challenges, Zoroastrianism also offers hope. The faith teaches that good will ultimately triumph over evil, and that individuals who choose the path of righteousness will be rewarded. Zoroastrians believe in a final judgment, where each person's actions will be evaluated. Those who have lived virtuous lives will be welcomed into a renewed world, while those who have strayed from the path of good will face consequences. This belief instills a sense of purpose and resilience, encouraging followers to strive for goodness in their daily lives, despite the adversities they may face.</a:t>
            </a:r>
            <a:endParaRPr lang="en-US" sz="2200" dirty="0">
              <a:effectLst/>
              <a:latin typeface="Times New Roman" pitchFamily="18" charset="0"/>
              <a:cs typeface="Times New Roman" pitchFamily="18" charset="0"/>
            </a:endParaRPr>
          </a:p>
        </p:txBody>
      </p:sp>
      <p:sp>
        <p:nvSpPr>
          <p:cNvPr id="7" name="TextBox 6">
            <a:extLst>
              <a:ext uri="{FF2B5EF4-FFF2-40B4-BE49-F238E27FC236}">
                <a16:creationId xmlns="" xmlns:a16="http://schemas.microsoft.com/office/drawing/2014/main" id="{451E09B4-3AE8-10E0-EA1F-234187E277CC}"/>
              </a:ext>
            </a:extLst>
          </p:cNvPr>
          <p:cNvSpPr txBox="1"/>
          <p:nvPr/>
        </p:nvSpPr>
        <p:spPr>
          <a:xfrm>
            <a:off x="152400" y="1172395"/>
            <a:ext cx="12188952" cy="461665"/>
          </a:xfrm>
          <a:prstGeom prst="rect">
            <a:avLst/>
          </a:prstGeom>
          <a:noFill/>
        </p:spPr>
        <p:txBody>
          <a:bodyPr wrap="square">
            <a:spAutoFit/>
          </a:bodyPr>
          <a:lstStyle/>
          <a:p>
            <a:pPr lvl="0" algn="ctr"/>
            <a:r>
              <a:rPr lang="en-US" sz="2400" b="1" dirty="0">
                <a:latin typeface="Times New Roman" pitchFamily="18" charset="0"/>
                <a:cs typeface="Times New Roman" pitchFamily="18" charset="0"/>
              </a:rPr>
              <a:t>Man’s Plight</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7917187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 xmlns:a16="http://schemas.microsoft.com/office/drawing/2014/main" id="{451E09B4-3AE8-10E0-EA1F-234187E277CC}"/>
              </a:ext>
            </a:extLst>
          </p:cNvPr>
          <p:cNvSpPr txBox="1"/>
          <p:nvPr/>
        </p:nvSpPr>
        <p:spPr>
          <a:xfrm>
            <a:off x="0" y="566524"/>
            <a:ext cx="12188952" cy="584775"/>
          </a:xfrm>
          <a:prstGeom prst="rect">
            <a:avLst/>
          </a:prstGeom>
          <a:noFill/>
        </p:spPr>
        <p:txBody>
          <a:bodyPr wrap="square">
            <a:spAutoFit/>
          </a:bodyPr>
          <a:lstStyle/>
          <a:p>
            <a:pPr lvl="0" algn="ctr"/>
            <a:r>
              <a:rPr lang="en-US" sz="3200" b="1" dirty="0">
                <a:latin typeface="Times New Roman" pitchFamily="18" charset="0"/>
                <a:cs typeface="Times New Roman" pitchFamily="18" charset="0"/>
              </a:rPr>
              <a:t>Zoroastrianism view of the world </a:t>
            </a:r>
            <a:endParaRPr lang="en-US" sz="3200" dirty="0">
              <a:latin typeface="Times New Roman" pitchFamily="18" charset="0"/>
              <a:cs typeface="Times New Roman" pitchFamily="18" charset="0"/>
            </a:endParaRPr>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2233" name="TextBox 2232">
            <a:extLst>
              <a:ext uri="{FF2B5EF4-FFF2-40B4-BE49-F238E27FC236}">
                <a16:creationId xmlns="" xmlns:a16="http://schemas.microsoft.com/office/drawing/2014/main" id="{22E0D60B-8654-40C5-C7B0-95F1905E3323}"/>
              </a:ext>
            </a:extLst>
          </p:cNvPr>
          <p:cNvSpPr txBox="1"/>
          <p:nvPr/>
        </p:nvSpPr>
        <p:spPr>
          <a:xfrm>
            <a:off x="1179576" y="1907015"/>
            <a:ext cx="9829800" cy="3745128"/>
          </a:xfrm>
          <a:prstGeom prst="rect">
            <a:avLst/>
          </a:prstGeom>
          <a:noFill/>
        </p:spPr>
        <p:txBody>
          <a:bodyPr wrap="square">
            <a:spAutoFit/>
          </a:bodyPr>
          <a:lstStyle/>
          <a:p>
            <a:pPr algn="just">
              <a:lnSpc>
                <a:spcPct val="150000"/>
              </a:lnSpc>
            </a:pPr>
            <a:r>
              <a:rPr lang="en-US" sz="2300" dirty="0">
                <a:latin typeface="Times New Roman" pitchFamily="18" charset="0"/>
                <a:cs typeface="Times New Roman" pitchFamily="18" charset="0"/>
              </a:rPr>
              <a:t> </a:t>
            </a:r>
            <a:r>
              <a:rPr lang="en-US" sz="2300" dirty="0" smtClean="0">
                <a:latin typeface="Times New Roman" pitchFamily="18" charset="0"/>
                <a:cs typeface="Times New Roman" pitchFamily="18" charset="0"/>
              </a:rPr>
              <a:t>         In </a:t>
            </a:r>
            <a:r>
              <a:rPr lang="en-US" sz="2300" dirty="0">
                <a:latin typeface="Times New Roman" pitchFamily="18" charset="0"/>
                <a:cs typeface="Times New Roman" pitchFamily="18" charset="0"/>
              </a:rPr>
              <a:t>Zoroastrianism, conduct is a fundamental aspect of the faith, emphasizing the importance of living a life guided by moral principles. Zoroastrians believe that individuals should strive to embody the core values of good thoughts, good words, and good deeds. These three guiding principles serve as a framework for ethical behavior, encouraging followers to think positively, speak truthfully, and act justly in all aspects of their lives. This focus on virtuous conduct is seen as a way to align with the will of </a:t>
            </a:r>
            <a:r>
              <a:rPr lang="en-US" sz="2300" dirty="0" err="1">
                <a:latin typeface="Times New Roman" pitchFamily="18" charset="0"/>
                <a:cs typeface="Times New Roman" pitchFamily="18" charset="0"/>
              </a:rPr>
              <a:t>Ahura</a:t>
            </a:r>
            <a:r>
              <a:rPr lang="en-US" sz="2300" dirty="0">
                <a:latin typeface="Times New Roman" pitchFamily="18" charset="0"/>
                <a:cs typeface="Times New Roman" pitchFamily="18" charset="0"/>
              </a:rPr>
              <a:t> Mazda, the supreme god.</a:t>
            </a:r>
            <a:endParaRPr lang="en-US" sz="2300" dirty="0">
              <a:effectLst/>
              <a:latin typeface="Times New Roman" pitchFamily="18" charset="0"/>
              <a:cs typeface="Times New Roman" pitchFamily="18" charset="0"/>
            </a:endParaRPr>
          </a:p>
        </p:txBody>
      </p:sp>
      <p:sp>
        <p:nvSpPr>
          <p:cNvPr id="7" name="TextBox 6">
            <a:extLst>
              <a:ext uri="{FF2B5EF4-FFF2-40B4-BE49-F238E27FC236}">
                <a16:creationId xmlns="" xmlns:a16="http://schemas.microsoft.com/office/drawing/2014/main" id="{451E09B4-3AE8-10E0-EA1F-234187E277CC}"/>
              </a:ext>
            </a:extLst>
          </p:cNvPr>
          <p:cNvSpPr txBox="1"/>
          <p:nvPr/>
        </p:nvSpPr>
        <p:spPr>
          <a:xfrm>
            <a:off x="152400" y="1172395"/>
            <a:ext cx="12188952" cy="461665"/>
          </a:xfrm>
          <a:prstGeom prst="rect">
            <a:avLst/>
          </a:prstGeom>
          <a:noFill/>
        </p:spPr>
        <p:txBody>
          <a:bodyPr wrap="square">
            <a:spAutoFit/>
          </a:bodyPr>
          <a:lstStyle/>
          <a:p>
            <a:pPr lvl="0" algn="ctr"/>
            <a:r>
              <a:rPr lang="en-US" sz="2400" b="1" dirty="0">
                <a:latin typeface="Times New Roman" pitchFamily="18" charset="0"/>
                <a:cs typeface="Times New Roman" pitchFamily="18" charset="0"/>
              </a:rPr>
              <a:t>Conduct</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932003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 xmlns:a16="http://schemas.microsoft.com/office/drawing/2014/main" id="{451E09B4-3AE8-10E0-EA1F-234187E277CC}"/>
              </a:ext>
            </a:extLst>
          </p:cNvPr>
          <p:cNvSpPr txBox="1"/>
          <p:nvPr/>
        </p:nvSpPr>
        <p:spPr>
          <a:xfrm>
            <a:off x="0" y="566524"/>
            <a:ext cx="12188952" cy="584775"/>
          </a:xfrm>
          <a:prstGeom prst="rect">
            <a:avLst/>
          </a:prstGeom>
          <a:noFill/>
        </p:spPr>
        <p:txBody>
          <a:bodyPr wrap="square">
            <a:spAutoFit/>
          </a:bodyPr>
          <a:lstStyle/>
          <a:p>
            <a:pPr lvl="0" algn="ctr"/>
            <a:r>
              <a:rPr lang="en-US" sz="3200" b="1" dirty="0">
                <a:latin typeface="Times New Roman" pitchFamily="18" charset="0"/>
                <a:cs typeface="Times New Roman" pitchFamily="18" charset="0"/>
              </a:rPr>
              <a:t>Zoroastrianism view of the world </a:t>
            </a:r>
            <a:endParaRPr lang="en-US" sz="3200" dirty="0">
              <a:latin typeface="Times New Roman" pitchFamily="18" charset="0"/>
              <a:cs typeface="Times New Roman" pitchFamily="18" charset="0"/>
            </a:endParaRPr>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2233" name="TextBox 2232">
            <a:extLst>
              <a:ext uri="{FF2B5EF4-FFF2-40B4-BE49-F238E27FC236}">
                <a16:creationId xmlns="" xmlns:a16="http://schemas.microsoft.com/office/drawing/2014/main" id="{22E0D60B-8654-40C5-C7B0-95F1905E3323}"/>
              </a:ext>
            </a:extLst>
          </p:cNvPr>
          <p:cNvSpPr txBox="1"/>
          <p:nvPr/>
        </p:nvSpPr>
        <p:spPr>
          <a:xfrm>
            <a:off x="1181110" y="1684978"/>
            <a:ext cx="9829800" cy="4602029"/>
          </a:xfrm>
          <a:prstGeom prst="rect">
            <a:avLst/>
          </a:prstGeom>
          <a:noFill/>
        </p:spPr>
        <p:txBody>
          <a:bodyPr wrap="square">
            <a:spAutoFit/>
          </a:bodyPr>
          <a:lstStyle/>
          <a:p>
            <a:pPr algn="just">
              <a:lnSpc>
                <a:spcPct val="150000"/>
              </a:lnSpc>
            </a:pPr>
            <a:r>
              <a:rPr lang="en-US" sz="2200" dirty="0" smtClean="0">
                <a:latin typeface="Times New Roman" pitchFamily="18" charset="0"/>
                <a:cs typeface="Times New Roman" pitchFamily="18" charset="0"/>
              </a:rPr>
              <a:t>         Zoroastrian </a:t>
            </a:r>
            <a:r>
              <a:rPr lang="en-US" sz="2200" dirty="0">
                <a:latin typeface="Times New Roman" pitchFamily="18" charset="0"/>
                <a:cs typeface="Times New Roman" pitchFamily="18" charset="0"/>
              </a:rPr>
              <a:t>teachings stress the importance of personal responsibility and the impact of one’s actions on both the individual and the wider community. Followers are encouraged to engage in activities that promote harmony, respect for nature, and support for others. For example, caring for the environment is a vital part of Zoroastrian conduct, as they believe that nature is a manifestation of divine creation. By acting as responsible stewards of the earth, Zoroastrians fulfill their duty to uphold the principles of truth and goodness.   Additionally, the concept of </a:t>
            </a:r>
            <a:r>
              <a:rPr lang="en-US" sz="2200" dirty="0" err="1">
                <a:latin typeface="Times New Roman" pitchFamily="18" charset="0"/>
                <a:cs typeface="Times New Roman" pitchFamily="18" charset="0"/>
              </a:rPr>
              <a:t>asha</a:t>
            </a:r>
            <a:r>
              <a:rPr lang="en-US" sz="2200" dirty="0">
                <a:latin typeface="Times New Roman" pitchFamily="18" charset="0"/>
                <a:cs typeface="Times New Roman" pitchFamily="18" charset="0"/>
              </a:rPr>
              <a:t>, or truth and order, plays a crucial role in Zoroastrian conduct. Living in accordance with </a:t>
            </a:r>
            <a:r>
              <a:rPr lang="en-US" sz="2200" dirty="0" err="1">
                <a:latin typeface="Times New Roman" pitchFamily="18" charset="0"/>
                <a:cs typeface="Times New Roman" pitchFamily="18" charset="0"/>
              </a:rPr>
              <a:t>asha</a:t>
            </a:r>
            <a:r>
              <a:rPr lang="en-US" sz="2200" dirty="0">
                <a:latin typeface="Times New Roman" pitchFamily="18" charset="0"/>
                <a:cs typeface="Times New Roman" pitchFamily="18" charset="0"/>
              </a:rPr>
              <a:t> means promoting justice, fairness, and peace in society. </a:t>
            </a:r>
            <a:endParaRPr lang="en-US" sz="2200" dirty="0">
              <a:effectLst/>
              <a:latin typeface="Times New Roman" pitchFamily="18" charset="0"/>
              <a:cs typeface="Times New Roman" pitchFamily="18" charset="0"/>
            </a:endParaRPr>
          </a:p>
        </p:txBody>
      </p:sp>
      <p:sp>
        <p:nvSpPr>
          <p:cNvPr id="7" name="TextBox 6">
            <a:extLst>
              <a:ext uri="{FF2B5EF4-FFF2-40B4-BE49-F238E27FC236}">
                <a16:creationId xmlns="" xmlns:a16="http://schemas.microsoft.com/office/drawing/2014/main" id="{451E09B4-3AE8-10E0-EA1F-234187E277CC}"/>
              </a:ext>
            </a:extLst>
          </p:cNvPr>
          <p:cNvSpPr txBox="1"/>
          <p:nvPr/>
        </p:nvSpPr>
        <p:spPr>
          <a:xfrm>
            <a:off x="152400" y="1172395"/>
            <a:ext cx="12188952" cy="461665"/>
          </a:xfrm>
          <a:prstGeom prst="rect">
            <a:avLst/>
          </a:prstGeom>
          <a:noFill/>
        </p:spPr>
        <p:txBody>
          <a:bodyPr wrap="square">
            <a:spAutoFit/>
          </a:bodyPr>
          <a:lstStyle/>
          <a:p>
            <a:pPr lvl="0" algn="ctr"/>
            <a:r>
              <a:rPr lang="en-US" sz="2400" b="1" dirty="0">
                <a:latin typeface="Times New Roman" pitchFamily="18" charset="0"/>
                <a:cs typeface="Times New Roman" pitchFamily="18" charset="0"/>
              </a:rPr>
              <a:t>Conduct</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458533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 xmlns:a16="http://schemas.microsoft.com/office/drawing/2014/main" id="{451E09B4-3AE8-10E0-EA1F-234187E277CC}"/>
              </a:ext>
            </a:extLst>
          </p:cNvPr>
          <p:cNvSpPr txBox="1"/>
          <p:nvPr/>
        </p:nvSpPr>
        <p:spPr>
          <a:xfrm>
            <a:off x="0" y="566524"/>
            <a:ext cx="12188952" cy="584775"/>
          </a:xfrm>
          <a:prstGeom prst="rect">
            <a:avLst/>
          </a:prstGeom>
          <a:noFill/>
        </p:spPr>
        <p:txBody>
          <a:bodyPr wrap="square">
            <a:spAutoFit/>
          </a:bodyPr>
          <a:lstStyle/>
          <a:p>
            <a:pPr lvl="0" algn="ctr"/>
            <a:r>
              <a:rPr lang="en-US" sz="3200" b="1" dirty="0">
                <a:latin typeface="Times New Roman" pitchFamily="18" charset="0"/>
                <a:cs typeface="Times New Roman" pitchFamily="18" charset="0"/>
              </a:rPr>
              <a:t>Zoroastrianism view of the world </a:t>
            </a:r>
            <a:endParaRPr lang="en-US" sz="3200" dirty="0">
              <a:latin typeface="Times New Roman" pitchFamily="18" charset="0"/>
              <a:cs typeface="Times New Roman" pitchFamily="18" charset="0"/>
            </a:endParaRPr>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2233" name="TextBox 2232">
            <a:extLst>
              <a:ext uri="{FF2B5EF4-FFF2-40B4-BE49-F238E27FC236}">
                <a16:creationId xmlns="" xmlns:a16="http://schemas.microsoft.com/office/drawing/2014/main" id="{22E0D60B-8654-40C5-C7B0-95F1905E3323}"/>
              </a:ext>
            </a:extLst>
          </p:cNvPr>
          <p:cNvSpPr txBox="1"/>
          <p:nvPr/>
        </p:nvSpPr>
        <p:spPr>
          <a:xfrm>
            <a:off x="1179576" y="1907015"/>
            <a:ext cx="9829800" cy="3903954"/>
          </a:xfrm>
          <a:prstGeom prst="rect">
            <a:avLst/>
          </a:prstGeom>
          <a:noFill/>
        </p:spPr>
        <p:txBody>
          <a:bodyPr wrap="square">
            <a:spAutoFit/>
          </a:bodyPr>
          <a:lstStyle/>
          <a:p>
            <a:pPr algn="just">
              <a:lnSpc>
                <a:spcPct val="150000"/>
              </a:lnSpc>
            </a:pP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        In </a:t>
            </a:r>
            <a:r>
              <a:rPr lang="en-US" sz="2400" dirty="0">
                <a:latin typeface="Times New Roman" pitchFamily="18" charset="0"/>
                <a:cs typeface="Times New Roman" pitchFamily="18" charset="0"/>
              </a:rPr>
              <a:t>Zoroastrianism, the concept of salvation is closely linked to the idea of living a righteous life and making choices that align with the will of </a:t>
            </a:r>
            <a:r>
              <a:rPr lang="en-US" sz="2400" dirty="0" err="1">
                <a:latin typeface="Times New Roman" pitchFamily="18" charset="0"/>
                <a:cs typeface="Times New Roman" pitchFamily="18" charset="0"/>
              </a:rPr>
              <a:t>Ahura</a:t>
            </a:r>
            <a:r>
              <a:rPr lang="en-US" sz="2400" dirty="0">
                <a:latin typeface="Times New Roman" pitchFamily="18" charset="0"/>
                <a:cs typeface="Times New Roman" pitchFamily="18" charset="0"/>
              </a:rPr>
              <a:t> Mazda. Salvation is not just about being saved from sin; it is about achieving a state of purity and harmony both in this life and the afterlife. Zoroastrians believe that by following the principles of good thoughts, good words, and good deeds, individuals can purify their souls and contribute positively to the world around them. </a:t>
            </a:r>
            <a:endParaRPr lang="en-US" sz="2400" dirty="0">
              <a:effectLst/>
              <a:latin typeface="Times New Roman" pitchFamily="18" charset="0"/>
              <a:cs typeface="Times New Roman" pitchFamily="18" charset="0"/>
            </a:endParaRPr>
          </a:p>
        </p:txBody>
      </p:sp>
      <p:sp>
        <p:nvSpPr>
          <p:cNvPr id="7" name="TextBox 6">
            <a:extLst>
              <a:ext uri="{FF2B5EF4-FFF2-40B4-BE49-F238E27FC236}">
                <a16:creationId xmlns="" xmlns:a16="http://schemas.microsoft.com/office/drawing/2014/main" id="{451E09B4-3AE8-10E0-EA1F-234187E277CC}"/>
              </a:ext>
            </a:extLst>
          </p:cNvPr>
          <p:cNvSpPr txBox="1"/>
          <p:nvPr/>
        </p:nvSpPr>
        <p:spPr>
          <a:xfrm>
            <a:off x="152400" y="1172395"/>
            <a:ext cx="12188952" cy="461665"/>
          </a:xfrm>
          <a:prstGeom prst="rect">
            <a:avLst/>
          </a:prstGeom>
          <a:noFill/>
        </p:spPr>
        <p:txBody>
          <a:bodyPr wrap="square">
            <a:spAutoFit/>
          </a:bodyPr>
          <a:lstStyle/>
          <a:p>
            <a:pPr lvl="0" algn="ctr"/>
            <a:r>
              <a:rPr lang="en-US" sz="2400" b="1" dirty="0">
                <a:latin typeface="Times New Roman" pitchFamily="18" charset="0"/>
                <a:cs typeface="Times New Roman" pitchFamily="18" charset="0"/>
              </a:rPr>
              <a:t>Salivation</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0183370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 xmlns:a16="http://schemas.microsoft.com/office/drawing/2014/main" id="{451E09B4-3AE8-10E0-EA1F-234187E277CC}"/>
              </a:ext>
            </a:extLst>
          </p:cNvPr>
          <p:cNvSpPr txBox="1"/>
          <p:nvPr/>
        </p:nvSpPr>
        <p:spPr>
          <a:xfrm>
            <a:off x="0" y="566524"/>
            <a:ext cx="12188952" cy="584775"/>
          </a:xfrm>
          <a:prstGeom prst="rect">
            <a:avLst/>
          </a:prstGeom>
          <a:noFill/>
        </p:spPr>
        <p:txBody>
          <a:bodyPr wrap="square">
            <a:spAutoFit/>
          </a:bodyPr>
          <a:lstStyle/>
          <a:p>
            <a:pPr lvl="0" algn="ctr"/>
            <a:r>
              <a:rPr lang="en-US" sz="3200" b="1" dirty="0">
                <a:latin typeface="Times New Roman" pitchFamily="18" charset="0"/>
                <a:cs typeface="Times New Roman" pitchFamily="18" charset="0"/>
              </a:rPr>
              <a:t>Zoroastrianism view of the world </a:t>
            </a:r>
            <a:endParaRPr lang="en-US" sz="3200" dirty="0">
              <a:latin typeface="Times New Roman" pitchFamily="18" charset="0"/>
              <a:cs typeface="Times New Roman" pitchFamily="18" charset="0"/>
            </a:endParaRPr>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2233" name="TextBox 2232">
            <a:extLst>
              <a:ext uri="{FF2B5EF4-FFF2-40B4-BE49-F238E27FC236}">
                <a16:creationId xmlns="" xmlns:a16="http://schemas.microsoft.com/office/drawing/2014/main" id="{22E0D60B-8654-40C5-C7B0-95F1905E3323}"/>
              </a:ext>
            </a:extLst>
          </p:cNvPr>
          <p:cNvSpPr txBox="1"/>
          <p:nvPr/>
        </p:nvSpPr>
        <p:spPr>
          <a:xfrm>
            <a:off x="1179576" y="1722250"/>
            <a:ext cx="9829800" cy="4824398"/>
          </a:xfrm>
          <a:prstGeom prst="rect">
            <a:avLst/>
          </a:prstGeom>
          <a:noFill/>
        </p:spPr>
        <p:txBody>
          <a:bodyPr wrap="square">
            <a:spAutoFit/>
          </a:bodyPr>
          <a:lstStyle/>
          <a:p>
            <a:pPr algn="just">
              <a:lnSpc>
                <a:spcPct val="150000"/>
              </a:lnSpc>
            </a:pPr>
            <a:r>
              <a:rPr lang="en-US" sz="2000" dirty="0" smtClean="0">
                <a:latin typeface="Times New Roman" pitchFamily="18" charset="0"/>
                <a:cs typeface="Times New Roman" pitchFamily="18" charset="0"/>
              </a:rPr>
              <a:t>           The </a:t>
            </a:r>
            <a:r>
              <a:rPr lang="en-US" sz="2000" dirty="0">
                <a:latin typeface="Times New Roman" pitchFamily="18" charset="0"/>
                <a:cs typeface="Times New Roman" pitchFamily="18" charset="0"/>
              </a:rPr>
              <a:t>journey toward salvation also involves the understanding of duality in Zoroastrianism. Each choice impacts an individual's soul and their ultimate fate. Zoroastrians believe that by actively choosing good and resisting the temptations of evil, they are participating in the cosmic struggle that leads to their own salvations well as the greater good of the universe. </a:t>
            </a:r>
            <a:endParaRPr lang="en-US" sz="2000" dirty="0" smtClean="0">
              <a:latin typeface="Times New Roman" pitchFamily="18" charset="0"/>
              <a:cs typeface="Times New Roman" pitchFamily="18" charset="0"/>
            </a:endParaRPr>
          </a:p>
          <a:p>
            <a:pPr algn="just">
              <a:lnSpc>
                <a:spcPct val="150000"/>
              </a:lnSpc>
            </a:pPr>
            <a:endParaRPr lang="en-US" sz="500" dirty="0">
              <a:latin typeface="Times New Roman" pitchFamily="18" charset="0"/>
              <a:cs typeface="Times New Roman" pitchFamily="18" charset="0"/>
            </a:endParaRPr>
          </a:p>
          <a:p>
            <a:pPr algn="just">
              <a:lnSpc>
                <a:spcPct val="150000"/>
              </a:lnSpc>
            </a:pPr>
            <a:r>
              <a:rPr lang="en-US" sz="2000" dirty="0">
                <a:latin typeface="Times New Roman" pitchFamily="18" charset="0"/>
                <a:cs typeface="Times New Roman" pitchFamily="18" charset="0"/>
              </a:rPr>
              <a:t>           In the afterlife, Zoroastrians believe in a judgment that determines the fate of each soul. After death, a person's deeds are weighed on a scale, and this judgment reveals whether the individual will enter a state of bliss or face consequences for their actions. Those who have lived according to the principles of truth and goodness will be rewarded with eternal life in a renewed world. </a:t>
            </a:r>
            <a:endParaRPr lang="en-US" sz="2000" dirty="0">
              <a:effectLst/>
              <a:latin typeface="Times New Roman" pitchFamily="18" charset="0"/>
              <a:cs typeface="Times New Roman" pitchFamily="18" charset="0"/>
            </a:endParaRPr>
          </a:p>
        </p:txBody>
      </p:sp>
      <p:sp>
        <p:nvSpPr>
          <p:cNvPr id="7" name="TextBox 6">
            <a:extLst>
              <a:ext uri="{FF2B5EF4-FFF2-40B4-BE49-F238E27FC236}">
                <a16:creationId xmlns="" xmlns:a16="http://schemas.microsoft.com/office/drawing/2014/main" id="{451E09B4-3AE8-10E0-EA1F-234187E277CC}"/>
              </a:ext>
            </a:extLst>
          </p:cNvPr>
          <p:cNvSpPr txBox="1"/>
          <p:nvPr/>
        </p:nvSpPr>
        <p:spPr>
          <a:xfrm>
            <a:off x="152400" y="1172395"/>
            <a:ext cx="12188952" cy="461665"/>
          </a:xfrm>
          <a:prstGeom prst="rect">
            <a:avLst/>
          </a:prstGeom>
          <a:noFill/>
        </p:spPr>
        <p:txBody>
          <a:bodyPr wrap="square">
            <a:spAutoFit/>
          </a:bodyPr>
          <a:lstStyle/>
          <a:p>
            <a:pPr lvl="0" algn="ctr"/>
            <a:r>
              <a:rPr lang="en-US" sz="2400" b="1" dirty="0">
                <a:latin typeface="Times New Roman" pitchFamily="18" charset="0"/>
                <a:cs typeface="Times New Roman" pitchFamily="18" charset="0"/>
              </a:rPr>
              <a:t>Salivation</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368469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 xmlns:a16="http://schemas.microsoft.com/office/drawing/2014/main" id="{451E09B4-3AE8-10E0-EA1F-234187E277CC}"/>
              </a:ext>
            </a:extLst>
          </p:cNvPr>
          <p:cNvSpPr txBox="1"/>
          <p:nvPr/>
        </p:nvSpPr>
        <p:spPr>
          <a:xfrm>
            <a:off x="0" y="566524"/>
            <a:ext cx="12188952" cy="584775"/>
          </a:xfrm>
          <a:prstGeom prst="rect">
            <a:avLst/>
          </a:prstGeom>
          <a:noFill/>
        </p:spPr>
        <p:txBody>
          <a:bodyPr wrap="square">
            <a:spAutoFit/>
          </a:bodyPr>
          <a:lstStyle/>
          <a:p>
            <a:pPr lvl="0" algn="ctr"/>
            <a:r>
              <a:rPr lang="en-US" sz="3200" b="1" dirty="0">
                <a:latin typeface="Times New Roman" pitchFamily="18" charset="0"/>
                <a:cs typeface="Times New Roman" pitchFamily="18" charset="0"/>
              </a:rPr>
              <a:t>Zoroastrianism view of the world </a:t>
            </a:r>
            <a:endParaRPr lang="en-US" sz="3200" dirty="0">
              <a:latin typeface="Times New Roman" pitchFamily="18" charset="0"/>
              <a:cs typeface="Times New Roman" pitchFamily="18" charset="0"/>
            </a:endParaRPr>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2233" name="TextBox 2232">
            <a:extLst>
              <a:ext uri="{FF2B5EF4-FFF2-40B4-BE49-F238E27FC236}">
                <a16:creationId xmlns="" xmlns:a16="http://schemas.microsoft.com/office/drawing/2014/main" id="{22E0D60B-8654-40C5-C7B0-95F1905E3323}"/>
              </a:ext>
            </a:extLst>
          </p:cNvPr>
          <p:cNvSpPr txBox="1"/>
          <p:nvPr/>
        </p:nvSpPr>
        <p:spPr>
          <a:xfrm>
            <a:off x="1179576" y="1722250"/>
            <a:ext cx="9829800" cy="3970318"/>
          </a:xfrm>
          <a:prstGeom prst="rect">
            <a:avLst/>
          </a:prstGeom>
          <a:noFill/>
        </p:spPr>
        <p:txBody>
          <a:bodyPr wrap="square">
            <a:spAutoFit/>
          </a:bodyPr>
          <a:lstStyle/>
          <a:p>
            <a:pPr algn="just">
              <a:lnSpc>
                <a:spcPct val="150000"/>
              </a:lnSpc>
            </a:pP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        In </a:t>
            </a:r>
            <a:r>
              <a:rPr lang="en-US" sz="2400" dirty="0">
                <a:latin typeface="Times New Roman" pitchFamily="18" charset="0"/>
                <a:cs typeface="Times New Roman" pitchFamily="18" charset="0"/>
              </a:rPr>
              <a:t>Zoroastrianism, beliefs about destiny and the afterlife are deeply rooted in the religion's understanding of morality and cosmic order. After death, each individual's soul undergoes a judgment process. Zoroastrians believe that the deeds performed during one’s life are evaluated by </a:t>
            </a:r>
            <a:r>
              <a:rPr lang="en-US" sz="2400" dirty="0" err="1">
                <a:latin typeface="Times New Roman" pitchFamily="18" charset="0"/>
                <a:cs typeface="Times New Roman" pitchFamily="18" charset="0"/>
              </a:rPr>
              <a:t>Ahura</a:t>
            </a:r>
            <a:r>
              <a:rPr lang="en-US" sz="2400" dirty="0">
                <a:latin typeface="Times New Roman" pitchFamily="18" charset="0"/>
                <a:cs typeface="Times New Roman" pitchFamily="18" charset="0"/>
              </a:rPr>
              <a:t> Mazda and the divine beings known as the </a:t>
            </a:r>
            <a:r>
              <a:rPr lang="en-US" sz="2400" dirty="0" err="1">
                <a:latin typeface="Times New Roman" pitchFamily="18" charset="0"/>
                <a:cs typeface="Times New Roman" pitchFamily="18" charset="0"/>
              </a:rPr>
              <a:t>Amesha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Spentas</a:t>
            </a:r>
            <a:r>
              <a:rPr lang="en-US" sz="2400" dirty="0">
                <a:latin typeface="Times New Roman" pitchFamily="18" charset="0"/>
                <a:cs typeface="Times New Roman" pitchFamily="18" charset="0"/>
              </a:rPr>
              <a:t>. This judgment determines the soul’s fate, whether it will be rewarded or face consequences based on its actions in life.</a:t>
            </a:r>
            <a:endParaRPr lang="en-US" sz="2400" dirty="0">
              <a:effectLst/>
              <a:latin typeface="Times New Roman" pitchFamily="18" charset="0"/>
              <a:cs typeface="Times New Roman" pitchFamily="18" charset="0"/>
            </a:endParaRPr>
          </a:p>
        </p:txBody>
      </p:sp>
      <p:sp>
        <p:nvSpPr>
          <p:cNvPr id="7" name="TextBox 6">
            <a:extLst>
              <a:ext uri="{FF2B5EF4-FFF2-40B4-BE49-F238E27FC236}">
                <a16:creationId xmlns="" xmlns:a16="http://schemas.microsoft.com/office/drawing/2014/main" id="{451E09B4-3AE8-10E0-EA1F-234187E277CC}"/>
              </a:ext>
            </a:extLst>
          </p:cNvPr>
          <p:cNvSpPr txBox="1"/>
          <p:nvPr/>
        </p:nvSpPr>
        <p:spPr>
          <a:xfrm>
            <a:off x="152400" y="1172395"/>
            <a:ext cx="12188952" cy="461665"/>
          </a:xfrm>
          <a:prstGeom prst="rect">
            <a:avLst/>
          </a:prstGeom>
          <a:noFill/>
        </p:spPr>
        <p:txBody>
          <a:bodyPr wrap="square">
            <a:spAutoFit/>
          </a:bodyPr>
          <a:lstStyle/>
          <a:p>
            <a:pPr lvl="0" algn="ctr"/>
            <a:r>
              <a:rPr lang="en-US" sz="2400" b="1" dirty="0">
                <a:latin typeface="Times New Roman" pitchFamily="18" charset="0"/>
                <a:cs typeface="Times New Roman" pitchFamily="18" charset="0"/>
              </a:rPr>
              <a:t>Destiny</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6761979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 xmlns:a16="http://schemas.microsoft.com/office/drawing/2014/main" id="{451E09B4-3AE8-10E0-EA1F-234187E277CC}"/>
              </a:ext>
            </a:extLst>
          </p:cNvPr>
          <p:cNvSpPr txBox="1"/>
          <p:nvPr/>
        </p:nvSpPr>
        <p:spPr>
          <a:xfrm>
            <a:off x="0" y="566524"/>
            <a:ext cx="12188952" cy="584775"/>
          </a:xfrm>
          <a:prstGeom prst="rect">
            <a:avLst/>
          </a:prstGeom>
          <a:noFill/>
        </p:spPr>
        <p:txBody>
          <a:bodyPr wrap="square">
            <a:spAutoFit/>
          </a:bodyPr>
          <a:lstStyle/>
          <a:p>
            <a:pPr lvl="0" algn="ctr"/>
            <a:r>
              <a:rPr lang="en-US" sz="3200" b="1" dirty="0">
                <a:latin typeface="Times New Roman" pitchFamily="18" charset="0"/>
                <a:cs typeface="Times New Roman" pitchFamily="18" charset="0"/>
              </a:rPr>
              <a:t>Zoroastrianism view of the world </a:t>
            </a:r>
            <a:endParaRPr lang="en-US" sz="3200" dirty="0">
              <a:latin typeface="Times New Roman" pitchFamily="18" charset="0"/>
              <a:cs typeface="Times New Roman" pitchFamily="18" charset="0"/>
            </a:endParaRPr>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2233" name="TextBox 2232">
            <a:extLst>
              <a:ext uri="{FF2B5EF4-FFF2-40B4-BE49-F238E27FC236}">
                <a16:creationId xmlns="" xmlns:a16="http://schemas.microsoft.com/office/drawing/2014/main" id="{22E0D60B-8654-40C5-C7B0-95F1905E3323}"/>
              </a:ext>
            </a:extLst>
          </p:cNvPr>
          <p:cNvSpPr txBox="1"/>
          <p:nvPr/>
        </p:nvSpPr>
        <p:spPr>
          <a:xfrm>
            <a:off x="1179576" y="1722250"/>
            <a:ext cx="9829800" cy="4465133"/>
          </a:xfrm>
          <a:prstGeom prst="rect">
            <a:avLst/>
          </a:prstGeom>
          <a:noFill/>
        </p:spPr>
        <p:txBody>
          <a:bodyPr wrap="square">
            <a:spAutoFit/>
          </a:bodyPr>
          <a:lstStyle/>
          <a:p>
            <a:pPr algn="just">
              <a:lnSpc>
                <a:spcPct val="150000"/>
              </a:lnSpc>
            </a:pP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       The </a:t>
            </a:r>
            <a:r>
              <a:rPr lang="en-US" sz="2400" dirty="0">
                <a:latin typeface="Times New Roman" pitchFamily="18" charset="0"/>
                <a:cs typeface="Times New Roman" pitchFamily="18" charset="0"/>
              </a:rPr>
              <a:t>journey of the soul after death involves crossing a bridge called the </a:t>
            </a:r>
            <a:r>
              <a:rPr lang="en-US" sz="2400" dirty="0" err="1">
                <a:latin typeface="Times New Roman" pitchFamily="18" charset="0"/>
                <a:cs typeface="Times New Roman" pitchFamily="18" charset="0"/>
              </a:rPr>
              <a:t>Chinvat</a:t>
            </a:r>
            <a:r>
              <a:rPr lang="en-US" sz="2400" dirty="0">
                <a:latin typeface="Times New Roman" pitchFamily="18" charset="0"/>
                <a:cs typeface="Times New Roman" pitchFamily="18" charset="0"/>
              </a:rPr>
              <a:t> Bridge. According to Zoroastrian teachings, this bridge separates the world of the living from the afterlife. If a person's good deeds outweigh their bad deeds, the bridge widens, allowing them to pass safely into the realm of eternal happiness. Conversely, if their bad deeds outweigh the good, the bridge narrows, leading to a fall into a place of punishment. This imagery emphasizes the importance of ethical conduct throughout life, as the choices made will directly affect one's destiny in the afterlife.</a:t>
            </a:r>
            <a:endParaRPr lang="en-US" sz="2400" dirty="0">
              <a:effectLst/>
              <a:latin typeface="Times New Roman" pitchFamily="18" charset="0"/>
              <a:cs typeface="Times New Roman" pitchFamily="18" charset="0"/>
            </a:endParaRPr>
          </a:p>
        </p:txBody>
      </p:sp>
      <p:sp>
        <p:nvSpPr>
          <p:cNvPr id="7" name="TextBox 6">
            <a:extLst>
              <a:ext uri="{FF2B5EF4-FFF2-40B4-BE49-F238E27FC236}">
                <a16:creationId xmlns="" xmlns:a16="http://schemas.microsoft.com/office/drawing/2014/main" id="{451E09B4-3AE8-10E0-EA1F-234187E277CC}"/>
              </a:ext>
            </a:extLst>
          </p:cNvPr>
          <p:cNvSpPr txBox="1"/>
          <p:nvPr/>
        </p:nvSpPr>
        <p:spPr>
          <a:xfrm>
            <a:off x="152400" y="1172395"/>
            <a:ext cx="12188952" cy="461665"/>
          </a:xfrm>
          <a:prstGeom prst="rect">
            <a:avLst/>
          </a:prstGeom>
          <a:noFill/>
        </p:spPr>
        <p:txBody>
          <a:bodyPr wrap="square">
            <a:spAutoFit/>
          </a:bodyPr>
          <a:lstStyle/>
          <a:p>
            <a:pPr lvl="0" algn="ctr"/>
            <a:r>
              <a:rPr lang="en-US" sz="2400" b="1" dirty="0">
                <a:latin typeface="Times New Roman" pitchFamily="18" charset="0"/>
                <a:cs typeface="Times New Roman" pitchFamily="18" charset="0"/>
              </a:rPr>
              <a:t>Destiny</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8818264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 xmlns:a16="http://schemas.microsoft.com/office/drawing/2014/main" id="{451E09B4-3AE8-10E0-EA1F-234187E277CC}"/>
              </a:ext>
            </a:extLst>
          </p:cNvPr>
          <p:cNvSpPr txBox="1"/>
          <p:nvPr/>
        </p:nvSpPr>
        <p:spPr>
          <a:xfrm>
            <a:off x="0" y="566524"/>
            <a:ext cx="12188952" cy="584775"/>
          </a:xfrm>
          <a:prstGeom prst="rect">
            <a:avLst/>
          </a:prstGeom>
          <a:noFill/>
        </p:spPr>
        <p:txBody>
          <a:bodyPr wrap="square">
            <a:spAutoFit/>
          </a:bodyPr>
          <a:lstStyle/>
          <a:p>
            <a:pPr lvl="0" algn="ctr"/>
            <a:r>
              <a:rPr lang="en-US" sz="3200" b="1" dirty="0">
                <a:latin typeface="Times New Roman" pitchFamily="18" charset="0"/>
                <a:cs typeface="Times New Roman" pitchFamily="18" charset="0"/>
              </a:rPr>
              <a:t>Zoroastrianism view of the world </a:t>
            </a:r>
            <a:endParaRPr lang="en-US" sz="3200" dirty="0">
              <a:latin typeface="Times New Roman" pitchFamily="18" charset="0"/>
              <a:cs typeface="Times New Roman" pitchFamily="18" charset="0"/>
            </a:endParaRPr>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2233" name="TextBox 2232">
            <a:extLst>
              <a:ext uri="{FF2B5EF4-FFF2-40B4-BE49-F238E27FC236}">
                <a16:creationId xmlns="" xmlns:a16="http://schemas.microsoft.com/office/drawing/2014/main" id="{22E0D60B-8654-40C5-C7B0-95F1905E3323}"/>
              </a:ext>
            </a:extLst>
          </p:cNvPr>
          <p:cNvSpPr txBox="1"/>
          <p:nvPr/>
        </p:nvSpPr>
        <p:spPr>
          <a:xfrm>
            <a:off x="1179576" y="1722250"/>
            <a:ext cx="9829800" cy="4524315"/>
          </a:xfrm>
          <a:prstGeom prst="rect">
            <a:avLst/>
          </a:prstGeom>
          <a:noFill/>
        </p:spPr>
        <p:txBody>
          <a:bodyPr wrap="square">
            <a:spAutoFit/>
          </a:bodyPr>
          <a:lstStyle/>
          <a:p>
            <a:pPr algn="just">
              <a:lnSpc>
                <a:spcPct val="150000"/>
              </a:lnSpc>
            </a:pPr>
            <a:r>
              <a:rPr lang="en-US" sz="2400" dirty="0" smtClean="0">
                <a:latin typeface="Times New Roman" pitchFamily="18" charset="0"/>
                <a:cs typeface="Times New Roman" pitchFamily="18" charset="0"/>
              </a:rPr>
              <a:t>         Zoroastrianism </a:t>
            </a:r>
            <a:r>
              <a:rPr lang="en-US" sz="2400" dirty="0">
                <a:latin typeface="Times New Roman" pitchFamily="18" charset="0"/>
                <a:cs typeface="Times New Roman" pitchFamily="18" charset="0"/>
              </a:rPr>
              <a:t>also holds a hopeful perspective on the eventual renewal of the world. It teaches that at the end of time, a savior figure known as </a:t>
            </a:r>
            <a:r>
              <a:rPr lang="en-US" sz="2400" dirty="0" err="1">
                <a:latin typeface="Times New Roman" pitchFamily="18" charset="0"/>
                <a:cs typeface="Times New Roman" pitchFamily="18" charset="0"/>
              </a:rPr>
              <a:t>Saoshyant</a:t>
            </a:r>
            <a:r>
              <a:rPr lang="en-US" sz="2400" dirty="0">
                <a:latin typeface="Times New Roman" pitchFamily="18" charset="0"/>
                <a:cs typeface="Times New Roman" pitchFamily="18" charset="0"/>
              </a:rPr>
              <a:t> will come to bring about a final judgment and restore the world to its original perfection. At this time, all souls, including those who have faced punishment, will be given a chance for purification and redemption. This belief reinforces the idea that no one is beyond hope, and that everyone has the potential for spiritual growth and transformation, ultimately leading to unity with </a:t>
            </a:r>
            <a:r>
              <a:rPr lang="en-US" sz="2400" dirty="0" err="1">
                <a:latin typeface="Times New Roman" pitchFamily="18" charset="0"/>
                <a:cs typeface="Times New Roman" pitchFamily="18" charset="0"/>
              </a:rPr>
              <a:t>Ahura</a:t>
            </a:r>
            <a:r>
              <a:rPr lang="en-US" sz="2400" dirty="0">
                <a:latin typeface="Times New Roman" pitchFamily="18" charset="0"/>
                <a:cs typeface="Times New Roman" pitchFamily="18" charset="0"/>
              </a:rPr>
              <a:t> Mazda.</a:t>
            </a:r>
            <a:endParaRPr lang="en-US" sz="2400" dirty="0">
              <a:effectLst/>
              <a:latin typeface="Times New Roman" pitchFamily="18" charset="0"/>
              <a:cs typeface="Times New Roman" pitchFamily="18" charset="0"/>
            </a:endParaRPr>
          </a:p>
        </p:txBody>
      </p:sp>
      <p:sp>
        <p:nvSpPr>
          <p:cNvPr id="7" name="TextBox 6">
            <a:extLst>
              <a:ext uri="{FF2B5EF4-FFF2-40B4-BE49-F238E27FC236}">
                <a16:creationId xmlns="" xmlns:a16="http://schemas.microsoft.com/office/drawing/2014/main" id="{451E09B4-3AE8-10E0-EA1F-234187E277CC}"/>
              </a:ext>
            </a:extLst>
          </p:cNvPr>
          <p:cNvSpPr txBox="1"/>
          <p:nvPr/>
        </p:nvSpPr>
        <p:spPr>
          <a:xfrm>
            <a:off x="152400" y="1172395"/>
            <a:ext cx="12188952" cy="461665"/>
          </a:xfrm>
          <a:prstGeom prst="rect">
            <a:avLst/>
          </a:prstGeom>
          <a:noFill/>
        </p:spPr>
        <p:txBody>
          <a:bodyPr wrap="square">
            <a:spAutoFit/>
          </a:bodyPr>
          <a:lstStyle/>
          <a:p>
            <a:pPr lvl="0" algn="ctr"/>
            <a:r>
              <a:rPr lang="en-US" sz="2400" b="1" dirty="0">
                <a:latin typeface="Times New Roman" pitchFamily="18" charset="0"/>
                <a:cs typeface="Times New Roman" pitchFamily="18" charset="0"/>
              </a:rPr>
              <a:t>Destiny</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719507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 xmlns:a16="http://schemas.microsoft.com/office/drawing/2014/main" id="{451E09B4-3AE8-10E0-EA1F-234187E277CC}"/>
              </a:ext>
            </a:extLst>
          </p:cNvPr>
          <p:cNvSpPr txBox="1"/>
          <p:nvPr/>
        </p:nvSpPr>
        <p:spPr>
          <a:xfrm>
            <a:off x="0" y="566524"/>
            <a:ext cx="12188952" cy="584775"/>
          </a:xfrm>
          <a:prstGeom prst="rect">
            <a:avLst/>
          </a:prstGeom>
          <a:noFill/>
        </p:spPr>
        <p:txBody>
          <a:bodyPr wrap="square">
            <a:spAutoFit/>
          </a:bodyPr>
          <a:lstStyle/>
          <a:p>
            <a:pPr lvl="0" algn="ctr"/>
            <a:r>
              <a:rPr lang="en-US" sz="3200" b="1" dirty="0">
                <a:latin typeface="Times New Roman" pitchFamily="18" charset="0"/>
                <a:cs typeface="Times New Roman" pitchFamily="18" charset="0"/>
              </a:rPr>
              <a:t>Festivals</a:t>
            </a:r>
            <a:endParaRPr lang="en-US" sz="3200" dirty="0">
              <a:latin typeface="Times New Roman" pitchFamily="18" charset="0"/>
              <a:cs typeface="Times New Roman" pitchFamily="18" charset="0"/>
            </a:endParaRPr>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2233" name="TextBox 2232">
            <a:extLst>
              <a:ext uri="{FF2B5EF4-FFF2-40B4-BE49-F238E27FC236}">
                <a16:creationId xmlns="" xmlns:a16="http://schemas.microsoft.com/office/drawing/2014/main" id="{22E0D60B-8654-40C5-C7B0-95F1905E3323}"/>
              </a:ext>
            </a:extLst>
          </p:cNvPr>
          <p:cNvSpPr txBox="1"/>
          <p:nvPr/>
        </p:nvSpPr>
        <p:spPr>
          <a:xfrm>
            <a:off x="1179576" y="1167580"/>
            <a:ext cx="9829800" cy="5078313"/>
          </a:xfrm>
          <a:prstGeom prst="rect">
            <a:avLst/>
          </a:prstGeom>
          <a:noFill/>
        </p:spPr>
        <p:txBody>
          <a:bodyPr wrap="square">
            <a:spAutoFit/>
          </a:bodyPr>
          <a:lstStyle/>
          <a:p>
            <a:pPr algn="just">
              <a:lnSpc>
                <a:spcPct val="150000"/>
              </a:lnSpc>
            </a:pPr>
            <a:r>
              <a:rPr lang="en-US" sz="2400" dirty="0" smtClean="0">
                <a:latin typeface="Times New Roman" pitchFamily="18" charset="0"/>
                <a:cs typeface="Times New Roman" pitchFamily="18" charset="0"/>
              </a:rPr>
              <a:t>          Zoroastrianism </a:t>
            </a:r>
            <a:r>
              <a:rPr lang="en-US" sz="2400" dirty="0">
                <a:latin typeface="Times New Roman" pitchFamily="18" charset="0"/>
                <a:cs typeface="Times New Roman" pitchFamily="18" charset="0"/>
              </a:rPr>
              <a:t>is rich in traditions and festivals that celebrate key aspects of the faith, reinforcing community bonds and spiritual values. One of the most significant festivals is </a:t>
            </a:r>
            <a:r>
              <a:rPr lang="en-US" sz="2400" dirty="0" err="1">
                <a:latin typeface="Times New Roman" pitchFamily="18" charset="0"/>
                <a:cs typeface="Times New Roman" pitchFamily="18" charset="0"/>
              </a:rPr>
              <a:t>Nowruz</a:t>
            </a:r>
            <a:r>
              <a:rPr lang="en-US" sz="2400" dirty="0">
                <a:latin typeface="Times New Roman" pitchFamily="18" charset="0"/>
                <a:cs typeface="Times New Roman" pitchFamily="18" charset="0"/>
              </a:rPr>
              <a:t>, the Persian New Year, which marks the first day of spring and symbolizes renewal and rebirth. Celebrated on the vernal equinox, </a:t>
            </a:r>
            <a:r>
              <a:rPr lang="en-US" sz="2400" dirty="0" err="1">
                <a:latin typeface="Times New Roman" pitchFamily="18" charset="0"/>
                <a:cs typeface="Times New Roman" pitchFamily="18" charset="0"/>
              </a:rPr>
              <a:t>Nowruz</a:t>
            </a:r>
            <a:r>
              <a:rPr lang="en-US" sz="2400" dirty="0">
                <a:latin typeface="Times New Roman" pitchFamily="18" charset="0"/>
                <a:cs typeface="Times New Roman" pitchFamily="18" charset="0"/>
              </a:rPr>
              <a:t> involves various rituals, including the cleaning of homes, family gatherings, and special meals. The festival emphasizes themes of rejuvenation and the triumph of light over darkness, reflecting the Zoroastrian belief in the importance of harmony with nature and the renewal of life.</a:t>
            </a:r>
            <a:endParaRPr lang="en-US" sz="2400" dirty="0">
              <a:effectLst/>
              <a:latin typeface="Times New Roman" pitchFamily="18" charset="0"/>
              <a:cs typeface="Times New Roman" pitchFamily="18" charset="0"/>
            </a:endParaRPr>
          </a:p>
        </p:txBody>
      </p:sp>
    </p:spTree>
    <p:extLst>
      <p:ext uri="{BB962C8B-B14F-4D97-AF65-F5344CB8AC3E}">
        <p14:creationId xmlns:p14="http://schemas.microsoft.com/office/powerpoint/2010/main" val="663582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 xmlns:a16="http://schemas.microsoft.com/office/drawing/2014/main" id="{451E09B4-3AE8-10E0-EA1F-234187E277CC}"/>
              </a:ext>
            </a:extLst>
          </p:cNvPr>
          <p:cNvSpPr txBox="1"/>
          <p:nvPr/>
        </p:nvSpPr>
        <p:spPr>
          <a:xfrm>
            <a:off x="0" y="566524"/>
            <a:ext cx="12188952" cy="584775"/>
          </a:xfrm>
          <a:prstGeom prst="rect">
            <a:avLst/>
          </a:prstGeom>
          <a:noFill/>
        </p:spPr>
        <p:txBody>
          <a:bodyPr wrap="square">
            <a:spAutoFit/>
          </a:bodyPr>
          <a:lstStyle/>
          <a:p>
            <a:pPr lvl="0" algn="ctr"/>
            <a:r>
              <a:rPr lang="en-US" sz="3200" b="1" dirty="0">
                <a:latin typeface="Times New Roman" pitchFamily="18" charset="0"/>
                <a:cs typeface="Times New Roman" pitchFamily="18" charset="0"/>
              </a:rPr>
              <a:t>Festivals</a:t>
            </a:r>
            <a:endParaRPr lang="en-US" sz="3200" dirty="0">
              <a:latin typeface="Times New Roman" pitchFamily="18" charset="0"/>
              <a:cs typeface="Times New Roman" pitchFamily="18" charset="0"/>
            </a:endParaRPr>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2233" name="TextBox 2232">
            <a:extLst>
              <a:ext uri="{FF2B5EF4-FFF2-40B4-BE49-F238E27FC236}">
                <a16:creationId xmlns="" xmlns:a16="http://schemas.microsoft.com/office/drawing/2014/main" id="{22E0D60B-8654-40C5-C7B0-95F1905E3323}"/>
              </a:ext>
            </a:extLst>
          </p:cNvPr>
          <p:cNvSpPr txBox="1"/>
          <p:nvPr/>
        </p:nvSpPr>
        <p:spPr>
          <a:xfrm>
            <a:off x="1179576" y="1167580"/>
            <a:ext cx="9829800" cy="5019131"/>
          </a:xfrm>
          <a:prstGeom prst="rect">
            <a:avLst/>
          </a:prstGeom>
          <a:noFill/>
        </p:spPr>
        <p:txBody>
          <a:bodyPr wrap="square">
            <a:spAutoFit/>
          </a:bodyPr>
          <a:lstStyle/>
          <a:p>
            <a:pPr algn="just">
              <a:lnSpc>
                <a:spcPct val="150000"/>
              </a:lnSpc>
            </a:pP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             Another </a:t>
            </a:r>
            <a:r>
              <a:rPr lang="en-US" sz="2400" dirty="0">
                <a:latin typeface="Times New Roman" pitchFamily="18" charset="0"/>
                <a:cs typeface="Times New Roman" pitchFamily="18" charset="0"/>
              </a:rPr>
              <a:t>important festival is </a:t>
            </a:r>
            <a:r>
              <a:rPr lang="en-US" sz="2400" dirty="0" err="1">
                <a:latin typeface="Times New Roman" pitchFamily="18" charset="0"/>
                <a:cs typeface="Times New Roman" pitchFamily="18" charset="0"/>
              </a:rPr>
              <a:t>Gahambars</a:t>
            </a:r>
            <a:r>
              <a:rPr lang="en-US" sz="2400" dirty="0">
                <a:latin typeface="Times New Roman" pitchFamily="18" charset="0"/>
                <a:cs typeface="Times New Roman" pitchFamily="18" charset="0"/>
              </a:rPr>
              <a:t>, which are seasonal festivals celebrated throughout the year. There are six </a:t>
            </a:r>
            <a:r>
              <a:rPr lang="en-US" sz="2400" dirty="0" err="1">
                <a:latin typeface="Times New Roman" pitchFamily="18" charset="0"/>
                <a:cs typeface="Times New Roman" pitchFamily="18" charset="0"/>
              </a:rPr>
              <a:t>Gahambars</a:t>
            </a:r>
            <a:r>
              <a:rPr lang="en-US" sz="2400" dirty="0">
                <a:latin typeface="Times New Roman" pitchFamily="18" charset="0"/>
                <a:cs typeface="Times New Roman" pitchFamily="18" charset="0"/>
              </a:rPr>
              <a:t>, each dedicated to different aspects of creation, such as the earth, water, and plants. During these festivals, Zoroastrians gather to share meals, perform prayers, and engage in charitable acts, reinforcing the community's commitment to good deeds and social responsibility. </a:t>
            </a:r>
            <a:r>
              <a:rPr lang="en-US" sz="2400" dirty="0" err="1">
                <a:latin typeface="Times New Roman" pitchFamily="18" charset="0"/>
                <a:cs typeface="Times New Roman" pitchFamily="18" charset="0"/>
              </a:rPr>
              <a:t>Gahambars</a:t>
            </a:r>
            <a:r>
              <a:rPr lang="en-US" sz="2400" dirty="0">
                <a:latin typeface="Times New Roman" pitchFamily="18" charset="0"/>
                <a:cs typeface="Times New Roman" pitchFamily="18" charset="0"/>
              </a:rPr>
              <a:t> serve as a reminder of the interconnectedness of all living things and the importance of gratitude for the gifts of nature. Together, these festivals highlight the core values of Zoroastrianism, fostering a sense of unity and purpose among its followers.</a:t>
            </a:r>
            <a:endParaRPr lang="en-US" sz="2400" dirty="0">
              <a:effectLst/>
              <a:latin typeface="Times New Roman" pitchFamily="18" charset="0"/>
              <a:cs typeface="Times New Roman" pitchFamily="18" charset="0"/>
            </a:endParaRPr>
          </a:p>
        </p:txBody>
      </p:sp>
    </p:spTree>
    <p:extLst>
      <p:ext uri="{BB962C8B-B14F-4D97-AF65-F5344CB8AC3E}">
        <p14:creationId xmlns:p14="http://schemas.microsoft.com/office/powerpoint/2010/main" val="28206186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 xmlns:a16="http://schemas.microsoft.com/office/drawing/2014/main" id="{451E09B4-3AE8-10E0-EA1F-234187E277CC}"/>
              </a:ext>
            </a:extLst>
          </p:cNvPr>
          <p:cNvSpPr txBox="1"/>
          <p:nvPr/>
        </p:nvSpPr>
        <p:spPr>
          <a:xfrm>
            <a:off x="0" y="566524"/>
            <a:ext cx="12188952" cy="584775"/>
          </a:xfrm>
          <a:prstGeom prst="rect">
            <a:avLst/>
          </a:prstGeom>
          <a:noFill/>
        </p:spPr>
        <p:txBody>
          <a:bodyPr wrap="square">
            <a:spAutoFit/>
          </a:bodyPr>
          <a:lstStyle/>
          <a:p>
            <a:pPr lvl="0" algn="ctr"/>
            <a:r>
              <a:rPr lang="en-US" sz="3200" b="1" dirty="0">
                <a:latin typeface="Times New Roman" pitchFamily="18" charset="0"/>
                <a:cs typeface="Times New Roman" pitchFamily="18" charset="0"/>
              </a:rPr>
              <a:t>Relation to other religions</a:t>
            </a:r>
            <a:endParaRPr lang="en-US" sz="3200" dirty="0">
              <a:latin typeface="Times New Roman" pitchFamily="18" charset="0"/>
              <a:cs typeface="Times New Roman" pitchFamily="18" charset="0"/>
            </a:endParaRPr>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2233" name="TextBox 2232">
            <a:extLst>
              <a:ext uri="{FF2B5EF4-FFF2-40B4-BE49-F238E27FC236}">
                <a16:creationId xmlns="" xmlns:a16="http://schemas.microsoft.com/office/drawing/2014/main" id="{22E0D60B-8654-40C5-C7B0-95F1905E3323}"/>
              </a:ext>
            </a:extLst>
          </p:cNvPr>
          <p:cNvSpPr txBox="1"/>
          <p:nvPr/>
        </p:nvSpPr>
        <p:spPr>
          <a:xfrm>
            <a:off x="1179576" y="1167580"/>
            <a:ext cx="9829800" cy="5019131"/>
          </a:xfrm>
          <a:prstGeom prst="rect">
            <a:avLst/>
          </a:prstGeom>
          <a:noFill/>
        </p:spPr>
        <p:txBody>
          <a:bodyPr wrap="square">
            <a:spAutoFit/>
          </a:bodyPr>
          <a:lstStyle/>
          <a:p>
            <a:pPr algn="just">
              <a:lnSpc>
                <a:spcPct val="150000"/>
              </a:lnSpc>
            </a:pP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         Zoroastrianism </a:t>
            </a:r>
            <a:r>
              <a:rPr lang="en-US" sz="2400" dirty="0">
                <a:latin typeface="Times New Roman" pitchFamily="18" charset="0"/>
                <a:cs typeface="Times New Roman" pitchFamily="18" charset="0"/>
              </a:rPr>
              <a:t>has significantly influenced several other major world religions, particularly Judaism, Christianity, and Islam. Many scholars believe that Zoroastrian concepts, such as the duality of good and evil, the idea of a final judgment, and the existence of a savior figure, have permeated the theological frameworks of these faiths. For instance, the Zoroastrian belief in a messianic figure, known as </a:t>
            </a:r>
            <a:r>
              <a:rPr lang="en-US" sz="2400" dirty="0" err="1">
                <a:latin typeface="Times New Roman" pitchFamily="18" charset="0"/>
                <a:cs typeface="Times New Roman" pitchFamily="18" charset="0"/>
              </a:rPr>
              <a:t>Saoshyant</a:t>
            </a:r>
            <a:r>
              <a:rPr lang="en-US" sz="2400" dirty="0">
                <a:latin typeface="Times New Roman" pitchFamily="18" charset="0"/>
                <a:cs typeface="Times New Roman" pitchFamily="18" charset="0"/>
              </a:rPr>
              <a:t>, who will come to renew the world, has parallels in the messianic expectations of Judaism and Christianity. Similarly, the emphasis on moral choices and the battle between light and darkness resonates with the ethical teachings found in these religions.</a:t>
            </a:r>
            <a:endParaRPr lang="en-US" sz="2400" dirty="0">
              <a:effectLst/>
              <a:latin typeface="Times New Roman" pitchFamily="18" charset="0"/>
              <a:cs typeface="Times New Roman" pitchFamily="18" charset="0"/>
            </a:endParaRPr>
          </a:p>
        </p:txBody>
      </p:sp>
    </p:spTree>
    <p:extLst>
      <p:ext uri="{BB962C8B-B14F-4D97-AF65-F5344CB8AC3E}">
        <p14:creationId xmlns:p14="http://schemas.microsoft.com/office/powerpoint/2010/main" val="24446706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 xmlns:a16="http://schemas.microsoft.com/office/drawing/2014/main" id="{451E09B4-3AE8-10E0-EA1F-234187E277CC}"/>
              </a:ext>
            </a:extLst>
          </p:cNvPr>
          <p:cNvSpPr txBox="1"/>
          <p:nvPr/>
        </p:nvSpPr>
        <p:spPr>
          <a:xfrm>
            <a:off x="0" y="566524"/>
            <a:ext cx="12188952" cy="584775"/>
          </a:xfrm>
          <a:prstGeom prst="rect">
            <a:avLst/>
          </a:prstGeom>
          <a:noFill/>
        </p:spPr>
        <p:txBody>
          <a:bodyPr wrap="square">
            <a:spAutoFit/>
          </a:bodyPr>
          <a:lstStyle/>
          <a:p>
            <a:pPr lvl="0" algn="ctr"/>
            <a:r>
              <a:rPr lang="en-US" sz="3200" b="1" dirty="0">
                <a:latin typeface="Times New Roman" pitchFamily="18" charset="0"/>
                <a:cs typeface="Times New Roman" pitchFamily="18" charset="0"/>
              </a:rPr>
              <a:t>Relation to other religions</a:t>
            </a:r>
            <a:endParaRPr lang="en-US" sz="3200" dirty="0">
              <a:latin typeface="Times New Roman" pitchFamily="18" charset="0"/>
              <a:cs typeface="Times New Roman" pitchFamily="18" charset="0"/>
            </a:endParaRPr>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2233" name="TextBox 2232">
            <a:extLst>
              <a:ext uri="{FF2B5EF4-FFF2-40B4-BE49-F238E27FC236}">
                <a16:creationId xmlns="" xmlns:a16="http://schemas.microsoft.com/office/drawing/2014/main" id="{22E0D60B-8654-40C5-C7B0-95F1905E3323}"/>
              </a:ext>
            </a:extLst>
          </p:cNvPr>
          <p:cNvSpPr txBox="1"/>
          <p:nvPr/>
        </p:nvSpPr>
        <p:spPr>
          <a:xfrm>
            <a:off x="1179576" y="1413240"/>
            <a:ext cx="9829800" cy="3416320"/>
          </a:xfrm>
          <a:prstGeom prst="rect">
            <a:avLst/>
          </a:prstGeom>
          <a:noFill/>
        </p:spPr>
        <p:txBody>
          <a:bodyPr wrap="square">
            <a:spAutoFit/>
          </a:bodyPr>
          <a:lstStyle/>
          <a:p>
            <a:pPr algn="just">
              <a:lnSpc>
                <a:spcPct val="150000"/>
              </a:lnSpc>
            </a:pPr>
            <a:r>
              <a:rPr lang="en-US" sz="2400" dirty="0" smtClean="0">
                <a:latin typeface="Times New Roman" pitchFamily="18" charset="0"/>
                <a:cs typeface="Times New Roman" pitchFamily="18" charset="0"/>
              </a:rPr>
              <a:t>         Zoroastrian </a:t>
            </a:r>
            <a:r>
              <a:rPr lang="en-US" sz="2400" dirty="0">
                <a:latin typeface="Times New Roman" pitchFamily="18" charset="0"/>
                <a:cs typeface="Times New Roman" pitchFamily="18" charset="0"/>
              </a:rPr>
              <a:t>practices, such as the importance of rituals and the veneration of fire as a symbol of purity, have also been echoed in other traditions. The concept of maintaining a moral and ethical life through good thoughts, words, and deeds is a common thread that connects Zoroastrianism with various religious teachings about personal conduct and community responsibility. </a:t>
            </a:r>
            <a:endParaRPr lang="en-US" sz="2400" dirty="0">
              <a:effectLst/>
              <a:latin typeface="Times New Roman" pitchFamily="18" charset="0"/>
              <a:cs typeface="Times New Roman" pitchFamily="18" charset="0"/>
            </a:endParaRPr>
          </a:p>
        </p:txBody>
      </p:sp>
    </p:spTree>
    <p:extLst>
      <p:ext uri="{BB962C8B-B14F-4D97-AF65-F5344CB8AC3E}">
        <p14:creationId xmlns:p14="http://schemas.microsoft.com/office/powerpoint/2010/main" val="28634620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 xmlns:a16="http://schemas.microsoft.com/office/drawing/2014/main" id="{451E09B4-3AE8-10E0-EA1F-234187E277CC}"/>
              </a:ext>
            </a:extLst>
          </p:cNvPr>
          <p:cNvSpPr txBox="1"/>
          <p:nvPr/>
        </p:nvSpPr>
        <p:spPr>
          <a:xfrm>
            <a:off x="0" y="566524"/>
            <a:ext cx="12188952" cy="584775"/>
          </a:xfrm>
          <a:prstGeom prst="rect">
            <a:avLst/>
          </a:prstGeom>
          <a:noFill/>
        </p:spPr>
        <p:txBody>
          <a:bodyPr wrap="square">
            <a:spAutoFit/>
          </a:bodyPr>
          <a:lstStyle/>
          <a:p>
            <a:pPr lvl="0" algn="ctr"/>
            <a:r>
              <a:rPr lang="en-US" sz="3200" b="1" dirty="0">
                <a:latin typeface="Times New Roman" pitchFamily="18" charset="0"/>
                <a:cs typeface="Times New Roman" pitchFamily="18" charset="0"/>
              </a:rPr>
              <a:t>Conclusion </a:t>
            </a:r>
            <a:endParaRPr lang="en-US" sz="3200" dirty="0">
              <a:latin typeface="Times New Roman" pitchFamily="18" charset="0"/>
              <a:cs typeface="Times New Roman" pitchFamily="18" charset="0"/>
            </a:endParaRPr>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2233" name="TextBox 2232">
            <a:extLst>
              <a:ext uri="{FF2B5EF4-FFF2-40B4-BE49-F238E27FC236}">
                <a16:creationId xmlns="" xmlns:a16="http://schemas.microsoft.com/office/drawing/2014/main" id="{22E0D60B-8654-40C5-C7B0-95F1905E3323}"/>
              </a:ext>
            </a:extLst>
          </p:cNvPr>
          <p:cNvSpPr txBox="1"/>
          <p:nvPr/>
        </p:nvSpPr>
        <p:spPr>
          <a:xfrm>
            <a:off x="1179576" y="1199763"/>
            <a:ext cx="9829800" cy="4806957"/>
          </a:xfrm>
          <a:prstGeom prst="rect">
            <a:avLst/>
          </a:prstGeom>
          <a:noFill/>
        </p:spPr>
        <p:txBody>
          <a:bodyPr wrap="square">
            <a:spAutoFit/>
          </a:bodyPr>
          <a:lstStyle/>
          <a:p>
            <a:pPr algn="just">
              <a:lnSpc>
                <a:spcPct val="150000"/>
              </a:lnSpc>
            </a:pPr>
            <a:r>
              <a:rPr lang="en-US" sz="2300" dirty="0" smtClean="0">
                <a:latin typeface="Times New Roman" pitchFamily="18" charset="0"/>
                <a:cs typeface="Times New Roman" pitchFamily="18" charset="0"/>
              </a:rPr>
              <a:t>         Zoroastrianism </a:t>
            </a:r>
            <a:r>
              <a:rPr lang="en-US" sz="2300" dirty="0">
                <a:latin typeface="Times New Roman" pitchFamily="18" charset="0"/>
                <a:cs typeface="Times New Roman" pitchFamily="18" charset="0"/>
              </a:rPr>
              <a:t>stands as one of the world's oldest monotheistic religions, offering profound insights into the nature of existence, morality, and the divine. Its teachings emphasize the importance of personal responsibility, ethical conduct, and the ongoing struggle between good and evil. Through core principles such as good thoughts, good words, and good deeds, Zoroastrianism encourages its followers to actively engage in the pursuit of righteousness and harmony in both their personal lives and the wider community. The religion’s rich traditions and festivals, such as </a:t>
            </a:r>
            <a:r>
              <a:rPr lang="en-US" sz="2300" dirty="0" err="1">
                <a:latin typeface="Times New Roman" pitchFamily="18" charset="0"/>
                <a:cs typeface="Times New Roman" pitchFamily="18" charset="0"/>
              </a:rPr>
              <a:t>Nowruz</a:t>
            </a:r>
            <a:r>
              <a:rPr lang="en-US" sz="2300" dirty="0">
                <a:latin typeface="Times New Roman" pitchFamily="18" charset="0"/>
                <a:cs typeface="Times New Roman" pitchFamily="18" charset="0"/>
              </a:rPr>
              <a:t> and </a:t>
            </a:r>
            <a:r>
              <a:rPr lang="en-US" sz="2300" dirty="0" err="1">
                <a:latin typeface="Times New Roman" pitchFamily="18" charset="0"/>
                <a:cs typeface="Times New Roman" pitchFamily="18" charset="0"/>
              </a:rPr>
              <a:t>Gahambars</a:t>
            </a:r>
            <a:r>
              <a:rPr lang="en-US" sz="2300" dirty="0">
                <a:latin typeface="Times New Roman" pitchFamily="18" charset="0"/>
                <a:cs typeface="Times New Roman" pitchFamily="18" charset="0"/>
              </a:rPr>
              <a:t>, reinforce these values while fostering a strong sense of community and cultural identity.</a:t>
            </a:r>
            <a:endParaRPr lang="en-US" sz="2300" dirty="0">
              <a:effectLst/>
              <a:latin typeface="Times New Roman" pitchFamily="18" charset="0"/>
              <a:cs typeface="Times New Roman" pitchFamily="18" charset="0"/>
            </a:endParaRPr>
          </a:p>
        </p:txBody>
      </p:sp>
    </p:spTree>
    <p:extLst>
      <p:ext uri="{BB962C8B-B14F-4D97-AF65-F5344CB8AC3E}">
        <p14:creationId xmlns:p14="http://schemas.microsoft.com/office/powerpoint/2010/main" val="1536108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 xmlns:a16="http://schemas.microsoft.com/office/drawing/2014/main" id="{451E09B4-3AE8-10E0-EA1F-234187E277CC}"/>
              </a:ext>
            </a:extLst>
          </p:cNvPr>
          <p:cNvSpPr txBox="1"/>
          <p:nvPr/>
        </p:nvSpPr>
        <p:spPr>
          <a:xfrm>
            <a:off x="0" y="566524"/>
            <a:ext cx="12188952" cy="584775"/>
          </a:xfrm>
          <a:prstGeom prst="rect">
            <a:avLst/>
          </a:prstGeom>
          <a:noFill/>
        </p:spPr>
        <p:txBody>
          <a:bodyPr wrap="square">
            <a:spAutoFit/>
          </a:bodyPr>
          <a:lstStyle/>
          <a:p>
            <a:pPr lvl="0" algn="ctr"/>
            <a:r>
              <a:rPr lang="en-US" sz="3200" b="1" dirty="0">
                <a:latin typeface="Times New Roman" pitchFamily="18" charset="0"/>
                <a:cs typeface="Times New Roman" pitchFamily="18" charset="0"/>
              </a:rPr>
              <a:t>Conclusion </a:t>
            </a:r>
            <a:endParaRPr lang="en-US" sz="3200" dirty="0">
              <a:latin typeface="Times New Roman" pitchFamily="18" charset="0"/>
              <a:cs typeface="Times New Roman" pitchFamily="18" charset="0"/>
            </a:endParaRPr>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2233" name="TextBox 2232">
            <a:extLst>
              <a:ext uri="{FF2B5EF4-FFF2-40B4-BE49-F238E27FC236}">
                <a16:creationId xmlns="" xmlns:a16="http://schemas.microsoft.com/office/drawing/2014/main" id="{22E0D60B-8654-40C5-C7B0-95F1905E3323}"/>
              </a:ext>
            </a:extLst>
          </p:cNvPr>
          <p:cNvSpPr txBox="1"/>
          <p:nvPr/>
        </p:nvSpPr>
        <p:spPr>
          <a:xfrm>
            <a:off x="1179576" y="1199763"/>
            <a:ext cx="9829800" cy="4465133"/>
          </a:xfrm>
          <a:prstGeom prst="rect">
            <a:avLst/>
          </a:prstGeom>
          <a:noFill/>
        </p:spPr>
        <p:txBody>
          <a:bodyPr wrap="square">
            <a:spAutoFit/>
          </a:bodyPr>
          <a:lstStyle/>
          <a:p>
            <a:pPr algn="just">
              <a:lnSpc>
                <a:spcPct val="150000"/>
              </a:lnSpc>
            </a:pP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           Despite </a:t>
            </a:r>
            <a:r>
              <a:rPr lang="en-US" sz="2400" dirty="0">
                <a:latin typeface="Times New Roman" pitchFamily="18" charset="0"/>
                <a:cs typeface="Times New Roman" pitchFamily="18" charset="0"/>
              </a:rPr>
              <a:t>the challenges it has faced over the centuries, including declining numbers and external pressures, Zoroastrianism continues to resonate with its followers and influence other faiths. Its legacy of promoting justice, environmental stewardship, and the quest for truth remains relevant in today's diverse religious landscape. As a testament to the enduring nature of its teachings, Zoroastrianism invites all individuals to reflect on their choices, acknowledge their interconnectedness with the world, and strive for a life aligned with the principles of goodness and light.</a:t>
            </a:r>
            <a:endParaRPr lang="en-US" sz="2300" dirty="0">
              <a:effectLst/>
              <a:latin typeface="Times New Roman" pitchFamily="18" charset="0"/>
              <a:cs typeface="Times New Roman" pitchFamily="18" charset="0"/>
            </a:endParaRPr>
          </a:p>
        </p:txBody>
      </p:sp>
    </p:spTree>
    <p:extLst>
      <p:ext uri="{BB962C8B-B14F-4D97-AF65-F5344CB8AC3E}">
        <p14:creationId xmlns:p14="http://schemas.microsoft.com/office/powerpoint/2010/main" val="1939257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ld Parchment | Background for powerpoint presentation, Paper background  design, Powerpoint background design">
            <a:extLst>
              <a:ext uri="{FF2B5EF4-FFF2-40B4-BE49-F238E27FC236}">
                <a16:creationId xmlns="" xmlns:a16="http://schemas.microsoft.com/office/drawing/2014/main" id="{8DA77936-E645-E09B-FB44-2F3C27BB5A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 xmlns:a16="http://schemas.microsoft.com/office/drawing/2014/main" id="{42A4FC2C-047E-45A5-965D-8E1E3BF09BC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 xmlns:a16="http://schemas.microsoft.com/office/drawing/2014/main" id="{451E09B4-3AE8-10E0-EA1F-234187E277CC}"/>
              </a:ext>
            </a:extLst>
          </p:cNvPr>
          <p:cNvSpPr txBox="1"/>
          <p:nvPr/>
        </p:nvSpPr>
        <p:spPr>
          <a:xfrm>
            <a:off x="0" y="566524"/>
            <a:ext cx="12188952" cy="584775"/>
          </a:xfrm>
          <a:prstGeom prst="rect">
            <a:avLst/>
          </a:prstGeom>
          <a:noFill/>
        </p:spPr>
        <p:txBody>
          <a:bodyPr wrap="square">
            <a:spAutoFit/>
          </a:bodyPr>
          <a:lstStyle/>
          <a:p>
            <a:pPr algn="ctr"/>
            <a:r>
              <a:rPr lang="en-US" sz="3200" b="1" dirty="0">
                <a:latin typeface="Times New Roman" pitchFamily="18" charset="0"/>
                <a:cs typeface="Times New Roman" pitchFamily="18" charset="0"/>
              </a:rPr>
              <a:t>Reference</a:t>
            </a:r>
            <a:endParaRPr lang="en-US" sz="3200" dirty="0">
              <a:effectLst/>
              <a:latin typeface="Times New Roman" pitchFamily="18" charset="0"/>
              <a:cs typeface="Times New Roman" pitchFamily="18" charset="0"/>
            </a:endParaRPr>
          </a:p>
        </p:txBody>
      </p:sp>
      <p:sp>
        <p:nvSpPr>
          <p:cNvPr id="2147" name="Freeform: Shape 2146">
            <a:extLst>
              <a:ext uri="{FF2B5EF4-FFF2-40B4-BE49-F238E27FC236}">
                <a16:creationId xmlns="" xmlns:a16="http://schemas.microsoft.com/office/drawing/2014/main" id="{1BA65E3E-979C-A5F0-905A-50611C3784BA}"/>
              </a:ext>
            </a:extLst>
          </p:cNvPr>
          <p:cNvSpPr/>
          <p:nvPr/>
        </p:nvSpPr>
        <p:spPr>
          <a:xfrm>
            <a:off x="968577" y="1675446"/>
            <a:ext cx="9532" cy="9532"/>
          </a:xfrm>
          <a:custGeom>
            <a:avLst/>
            <a:gdLst/>
            <a:ahLst/>
            <a:cxnLst/>
            <a:rect l="l" t="t" r="r" b="b"/>
            <a:pathLst>
              <a:path w="9532" h="9532"/>
            </a:pathLst>
          </a:custGeom>
          <a:solidFill>
            <a:srgbClr val="333333"/>
          </a:solidFill>
          <a:ln w="9525" cap="flat">
            <a:noFill/>
            <a:prstDash val="solid"/>
            <a:miter/>
          </a:ln>
        </p:spPr>
        <p:txBody>
          <a:bodyPr rtlCol="0" anchor="ctr"/>
          <a:lstStyle/>
          <a:p>
            <a:endParaRPr lang="en-US"/>
          </a:p>
        </p:txBody>
      </p:sp>
      <p:sp>
        <p:nvSpPr>
          <p:cNvPr id="2233" name="TextBox 2232">
            <a:extLst>
              <a:ext uri="{FF2B5EF4-FFF2-40B4-BE49-F238E27FC236}">
                <a16:creationId xmlns="" xmlns:a16="http://schemas.microsoft.com/office/drawing/2014/main" id="{22E0D60B-8654-40C5-C7B0-95F1905E3323}"/>
              </a:ext>
            </a:extLst>
          </p:cNvPr>
          <p:cNvSpPr txBox="1"/>
          <p:nvPr/>
        </p:nvSpPr>
        <p:spPr>
          <a:xfrm>
            <a:off x="1181110" y="1035990"/>
            <a:ext cx="9829800" cy="5262979"/>
          </a:xfrm>
          <a:prstGeom prst="rect">
            <a:avLst/>
          </a:prstGeom>
          <a:noFill/>
        </p:spPr>
        <p:txBody>
          <a:bodyPr wrap="square">
            <a:spAutoFit/>
          </a:bodyPr>
          <a:lstStyle/>
          <a:p>
            <a:pPr>
              <a:lnSpc>
                <a:spcPct val="200000"/>
              </a:lnSpc>
            </a:pPr>
            <a:r>
              <a:rPr lang="en-US" sz="2400" dirty="0">
                <a:latin typeface="Times New Roman" pitchFamily="18" charset="0"/>
                <a:cs typeface="Times New Roman" pitchFamily="18" charset="0"/>
              </a:rPr>
              <a:t>Boyce, Mary. Zoroastrians. (2001) Their Religious Beliefs and Practices. </a:t>
            </a:r>
            <a:r>
              <a:rPr lang="en-US" sz="2400" dirty="0" err="1">
                <a:latin typeface="Times New Roman" pitchFamily="18" charset="0"/>
                <a:cs typeface="Times New Roman" pitchFamily="18" charset="0"/>
              </a:rPr>
              <a:t>Routledge</a:t>
            </a:r>
            <a:r>
              <a:rPr lang="en-US" sz="2400" dirty="0">
                <a:latin typeface="Times New Roman" pitchFamily="18" charset="0"/>
                <a:cs typeface="Times New Roman" pitchFamily="18" charset="0"/>
              </a:rPr>
              <a:t>. </a:t>
            </a:r>
            <a:r>
              <a:rPr lang="en-US" sz="2400" u="sng" dirty="0">
                <a:latin typeface="Times New Roman" pitchFamily="18" charset="0"/>
                <a:cs typeface="Times New Roman" pitchFamily="18" charset="0"/>
                <a:hlinkClick r:id="rId3"/>
              </a:rPr>
              <a:t>https://www.academia.edu/3878415/Zoroastrians Their Religious Beliefs and Practices Mary Boyce</a:t>
            </a:r>
            <a:endParaRPr lang="en-US" sz="2400" dirty="0">
              <a:latin typeface="Times New Roman" pitchFamily="18" charset="0"/>
              <a:cs typeface="Times New Roman" pitchFamily="18" charset="0"/>
            </a:endParaRPr>
          </a:p>
          <a:p>
            <a:pPr>
              <a:lnSpc>
                <a:spcPct val="200000"/>
              </a:lnSpc>
            </a:pPr>
            <a:r>
              <a:rPr lang="en-US" sz="2400" dirty="0">
                <a:latin typeface="Times New Roman" pitchFamily="18" charset="0"/>
                <a:cs typeface="Times New Roman" pitchFamily="18" charset="0"/>
              </a:rPr>
              <a:t>Stewart, Sara. "Zoroastrianism. (2018) A Brief History." BBC Religion. </a:t>
            </a:r>
            <a:r>
              <a:rPr lang="en-US" sz="2400" u="sng" dirty="0">
                <a:latin typeface="Times New Roman" pitchFamily="18" charset="0"/>
                <a:cs typeface="Times New Roman" pitchFamily="18" charset="0"/>
                <a:hlinkClick r:id="rId4"/>
              </a:rPr>
              <a:t>https://www.bbc.co.uk/sounds/play/w3cswprt</a:t>
            </a:r>
            <a:endParaRPr lang="en-US" sz="2400" dirty="0">
              <a:latin typeface="Times New Roman" pitchFamily="18" charset="0"/>
              <a:cs typeface="Times New Roman" pitchFamily="18" charset="0"/>
            </a:endParaRPr>
          </a:p>
          <a:p>
            <a:pPr>
              <a:lnSpc>
                <a:spcPct val="200000"/>
              </a:lnSpc>
            </a:pPr>
            <a:r>
              <a:rPr lang="en-US" sz="2400" dirty="0" err="1">
                <a:latin typeface="Times New Roman" pitchFamily="18" charset="0"/>
                <a:cs typeface="Times New Roman" pitchFamily="18" charset="0"/>
              </a:rPr>
              <a:t>Dhalla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Maneckji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Nusservanji</a:t>
            </a:r>
            <a:r>
              <a:rPr lang="en-US" sz="2400" dirty="0">
                <a:latin typeface="Times New Roman" pitchFamily="18" charset="0"/>
                <a:cs typeface="Times New Roman" pitchFamily="18" charset="0"/>
              </a:rPr>
              <a:t>. (1938) Zoroastrian History. </a:t>
            </a:r>
            <a:r>
              <a:rPr lang="en-US" sz="2400" u="sng" dirty="0">
                <a:latin typeface="Times New Roman" pitchFamily="18" charset="0"/>
                <a:cs typeface="Times New Roman" pitchFamily="18" charset="0"/>
                <a:hlinkClick r:id="rId5"/>
              </a:rPr>
              <a:t>https://iranicaonline.org/articles/zoroastrianism-i-historical-review</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063088605"/>
      </p:ext>
    </p:extLst>
  </p:cSld>
  <p:clrMapOvr>
    <a:masterClrMapping/>
  </p:clrMapOvr>
</p:sld>
</file>

<file path=ppt/theme/theme1.xml><?xml version="1.0" encoding="utf-8"?>
<a:theme xmlns:a="http://schemas.openxmlformats.org/drawingml/2006/main" name="Office Theme">
  <a:themeElements>
    <a:clrScheme name="Custom 92">
      <a:dk1>
        <a:sysClr val="windowText" lastClr="000000"/>
      </a:dk1>
      <a:lt1>
        <a:sysClr val="window" lastClr="FFFFFF"/>
      </a:lt1>
      <a:dk2>
        <a:srgbClr val="2F1D33"/>
      </a:dk2>
      <a:lt2>
        <a:srgbClr val="E7E6E6"/>
      </a:lt2>
      <a:accent1>
        <a:srgbClr val="C00E58"/>
      </a:accent1>
      <a:accent2>
        <a:srgbClr val="FFDCE3"/>
      </a:accent2>
      <a:accent3>
        <a:srgbClr val="47323C"/>
      </a:accent3>
      <a:accent4>
        <a:srgbClr val="53C7A4"/>
      </a:accent4>
      <a:accent5>
        <a:srgbClr val="F3953E"/>
      </a:accent5>
      <a:accent6>
        <a:srgbClr val="BFBFBF"/>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TotalTime>
  <Words>2812</Words>
  <Application>Microsoft Office PowerPoint</Application>
  <PresentationFormat>Custom</PresentationFormat>
  <Paragraphs>86</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Deckzi</dc:creator>
  <cp:lastModifiedBy>Fana</cp:lastModifiedBy>
  <cp:revision>6</cp:revision>
  <dcterms:created xsi:type="dcterms:W3CDTF">2023-02-03T09:25:55Z</dcterms:created>
  <dcterms:modified xsi:type="dcterms:W3CDTF">2024-12-25T18:26:35Z</dcterms:modified>
</cp:coreProperties>
</file>