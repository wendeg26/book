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301" r:id="rId30"/>
    <p:sldId id="302" r:id="rId31"/>
    <p:sldId id="303" r:id="rId32"/>
    <p:sldId id="304" r:id="rId33"/>
    <p:sldId id="286" r:id="rId34"/>
    <p:sldId id="290" r:id="rId35"/>
    <p:sldId id="291" r:id="rId36"/>
    <p:sldId id="292" r:id="rId37"/>
    <p:sldId id="293" r:id="rId38"/>
    <p:sldId id="294" r:id="rId39"/>
    <p:sldId id="305"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F49C1136-6A13-401A-9D38-E37C812BCBE5}" type="datetimeFigureOut">
              <a:rPr lang="en-GB" smtClean="0"/>
              <a:t>13/05/2025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DEF0E8-7AB0-4D50-AB76-2A27D54A1FD2}" type="slidenum">
              <a:rPr lang="en-GB" smtClean="0"/>
              <a:t>‹#›</a:t>
            </a:fld>
            <a:endParaRPr lang="en-GB"/>
          </a:p>
        </p:txBody>
      </p:sp>
    </p:spTree>
    <p:extLst>
      <p:ext uri="{BB962C8B-B14F-4D97-AF65-F5344CB8AC3E}">
        <p14:creationId xmlns:p14="http://schemas.microsoft.com/office/powerpoint/2010/main" val="3646388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49C1136-6A13-401A-9D38-E37C812BCBE5}" type="datetimeFigureOut">
              <a:rPr lang="en-GB" smtClean="0"/>
              <a:t>13/05/2025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DEF0E8-7AB0-4D50-AB76-2A27D54A1FD2}" type="slidenum">
              <a:rPr lang="en-GB" smtClean="0"/>
              <a:t>‹#›</a:t>
            </a:fld>
            <a:endParaRPr lang="en-GB"/>
          </a:p>
        </p:txBody>
      </p:sp>
    </p:spTree>
    <p:extLst>
      <p:ext uri="{BB962C8B-B14F-4D97-AF65-F5344CB8AC3E}">
        <p14:creationId xmlns:p14="http://schemas.microsoft.com/office/powerpoint/2010/main" val="1423099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9C1136-6A13-401A-9D38-E37C812BCBE5}" type="datetimeFigureOut">
              <a:rPr lang="en-GB" smtClean="0"/>
              <a:t>13/05/2025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DEF0E8-7AB0-4D50-AB76-2A27D54A1FD2}" type="slidenum">
              <a:rPr lang="en-GB" smtClean="0"/>
              <a:t>‹#›</a:t>
            </a:fld>
            <a:endParaRPr lang="en-GB"/>
          </a:p>
        </p:txBody>
      </p:sp>
    </p:spTree>
    <p:extLst>
      <p:ext uri="{BB962C8B-B14F-4D97-AF65-F5344CB8AC3E}">
        <p14:creationId xmlns:p14="http://schemas.microsoft.com/office/powerpoint/2010/main" val="34485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49C1136-6A13-401A-9D38-E37C812BCBE5}" type="datetimeFigureOut">
              <a:rPr lang="en-GB" smtClean="0"/>
              <a:t>13/05/2025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DEF0E8-7AB0-4D50-AB76-2A27D54A1FD2}" type="slidenum">
              <a:rPr lang="en-GB" smtClean="0"/>
              <a:t>‹#›</a:t>
            </a:fld>
            <a:endParaRPr lang="en-GB"/>
          </a:p>
        </p:txBody>
      </p:sp>
    </p:spTree>
    <p:extLst>
      <p:ext uri="{BB962C8B-B14F-4D97-AF65-F5344CB8AC3E}">
        <p14:creationId xmlns:p14="http://schemas.microsoft.com/office/powerpoint/2010/main" val="3390012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F49C1136-6A13-401A-9D38-E37C812BCBE5}" type="datetimeFigureOut">
              <a:rPr lang="en-GB" smtClean="0"/>
              <a:t>13/05/2025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FDEF0E8-7AB0-4D50-AB76-2A27D54A1FD2}" type="slidenum">
              <a:rPr lang="en-GB" smtClean="0"/>
              <a:t>‹#›</a:t>
            </a:fld>
            <a:endParaRPr lang="en-GB"/>
          </a:p>
        </p:txBody>
      </p:sp>
    </p:spTree>
    <p:extLst>
      <p:ext uri="{BB962C8B-B14F-4D97-AF65-F5344CB8AC3E}">
        <p14:creationId xmlns:p14="http://schemas.microsoft.com/office/powerpoint/2010/main" val="3479210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F49C1136-6A13-401A-9D38-E37C812BCBE5}" type="datetimeFigureOut">
              <a:rPr lang="en-GB" smtClean="0"/>
              <a:t>13/05/2025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FDEF0E8-7AB0-4D50-AB76-2A27D54A1FD2}" type="slidenum">
              <a:rPr lang="en-GB" smtClean="0"/>
              <a:t>‹#›</a:t>
            </a:fld>
            <a:endParaRPr lang="en-GB"/>
          </a:p>
        </p:txBody>
      </p:sp>
    </p:spTree>
    <p:extLst>
      <p:ext uri="{BB962C8B-B14F-4D97-AF65-F5344CB8AC3E}">
        <p14:creationId xmlns:p14="http://schemas.microsoft.com/office/powerpoint/2010/main" val="3001905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9C1136-6A13-401A-9D38-E37C812BCBE5}" type="datetimeFigureOut">
              <a:rPr lang="en-GB" smtClean="0"/>
              <a:t>13/05/2025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FDEF0E8-7AB0-4D50-AB76-2A27D54A1FD2}" type="slidenum">
              <a:rPr lang="en-GB" smtClean="0"/>
              <a:t>‹#›</a:t>
            </a:fld>
            <a:endParaRPr lang="en-GB"/>
          </a:p>
        </p:txBody>
      </p:sp>
    </p:spTree>
    <p:extLst>
      <p:ext uri="{BB962C8B-B14F-4D97-AF65-F5344CB8AC3E}">
        <p14:creationId xmlns:p14="http://schemas.microsoft.com/office/powerpoint/2010/main" val="372630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9C1136-6A13-401A-9D38-E37C812BCBE5}" type="datetimeFigureOut">
              <a:rPr lang="en-GB" smtClean="0"/>
              <a:t>13/05/2025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DEF0E8-7AB0-4D50-AB76-2A27D54A1FD2}" type="slidenum">
              <a:rPr lang="en-GB" smtClean="0"/>
              <a:t>‹#›</a:t>
            </a:fld>
            <a:endParaRPr lang="en-GB"/>
          </a:p>
        </p:txBody>
      </p:sp>
    </p:spTree>
    <p:extLst>
      <p:ext uri="{BB962C8B-B14F-4D97-AF65-F5344CB8AC3E}">
        <p14:creationId xmlns:p14="http://schemas.microsoft.com/office/powerpoint/2010/main" val="83706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9C1136-6A13-401A-9D38-E37C812BCBE5}" type="datetimeFigureOut">
              <a:rPr lang="en-GB" smtClean="0"/>
              <a:t>13/05/2025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DEF0E8-7AB0-4D50-AB76-2A27D54A1FD2}" type="slidenum">
              <a:rPr lang="en-GB" smtClean="0"/>
              <a:t>‹#›</a:t>
            </a:fld>
            <a:endParaRPr lang="en-GB"/>
          </a:p>
        </p:txBody>
      </p:sp>
    </p:spTree>
    <p:extLst>
      <p:ext uri="{BB962C8B-B14F-4D97-AF65-F5344CB8AC3E}">
        <p14:creationId xmlns:p14="http://schemas.microsoft.com/office/powerpoint/2010/main" val="2257034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49C1136-6A13-401A-9D38-E37C812BCBE5}" type="datetimeFigureOut">
              <a:rPr lang="en-GB" smtClean="0"/>
              <a:t>13/05/2025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DEF0E8-7AB0-4D50-AB76-2A27D54A1FD2}" type="slidenum">
              <a:rPr lang="en-GB" smtClean="0"/>
              <a:t>‹#›</a:t>
            </a:fld>
            <a:endParaRPr lang="en-GB"/>
          </a:p>
        </p:txBody>
      </p:sp>
    </p:spTree>
    <p:extLst>
      <p:ext uri="{BB962C8B-B14F-4D97-AF65-F5344CB8AC3E}">
        <p14:creationId xmlns:p14="http://schemas.microsoft.com/office/powerpoint/2010/main" val="674827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49C1136-6A13-401A-9D38-E37C812BCBE5}" type="datetimeFigureOut">
              <a:rPr lang="en-GB" smtClean="0"/>
              <a:t>13/05/2025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DEF0E8-7AB0-4D50-AB76-2A27D54A1FD2}" type="slidenum">
              <a:rPr lang="en-GB" smtClean="0"/>
              <a:t>‹#›</a:t>
            </a:fld>
            <a:endParaRPr lang="en-GB"/>
          </a:p>
        </p:txBody>
      </p:sp>
    </p:spTree>
    <p:extLst>
      <p:ext uri="{BB962C8B-B14F-4D97-AF65-F5344CB8AC3E}">
        <p14:creationId xmlns:p14="http://schemas.microsoft.com/office/powerpoint/2010/main" val="1952845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9C1136-6A13-401A-9D38-E37C812BCBE5}" type="datetimeFigureOut">
              <a:rPr lang="en-GB" smtClean="0"/>
              <a:t>13/05/2025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DEF0E8-7AB0-4D50-AB76-2A27D54A1FD2}" type="slidenum">
              <a:rPr lang="en-GB" smtClean="0"/>
              <a:t>‹#›</a:t>
            </a:fld>
            <a:endParaRPr lang="en-GB"/>
          </a:p>
        </p:txBody>
      </p:sp>
    </p:spTree>
    <p:extLst>
      <p:ext uri="{BB962C8B-B14F-4D97-AF65-F5344CB8AC3E}">
        <p14:creationId xmlns:p14="http://schemas.microsoft.com/office/powerpoint/2010/main" val="3534452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latin typeface="Times New Roman" pitchFamily="18" charset="0"/>
                <a:cs typeface="Times New Roman" pitchFamily="18" charset="0"/>
              </a:rPr>
              <a:t>CHAPTER FIVE</a:t>
            </a:r>
            <a:endParaRPr lang="en-GB"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GB" b="1" dirty="0" smtClean="0">
                <a:effectLst/>
                <a:latin typeface="Times New Roman"/>
                <a:ea typeface="Calibri"/>
              </a:rPr>
              <a:t>Good and Evil Priesthood</a:t>
            </a:r>
            <a:endParaRPr lang="en-GB" b="1" dirty="0"/>
          </a:p>
        </p:txBody>
      </p:sp>
      <p:sp>
        <p:nvSpPr>
          <p:cNvPr id="4" name="Oval 3"/>
          <p:cNvSpPr/>
          <p:nvPr/>
        </p:nvSpPr>
        <p:spPr>
          <a:xfrm>
            <a:off x="1763688" y="3645024"/>
            <a:ext cx="5162872" cy="15624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smtClean="0">
                <a:effectLst/>
                <a:latin typeface="Times New Roman"/>
                <a:ea typeface="Calibri"/>
              </a:rPr>
              <a:t>Good and Evil Priesthood</a:t>
            </a:r>
            <a:endParaRPr lang="en-GB" sz="2800" b="1" dirty="0"/>
          </a:p>
        </p:txBody>
      </p:sp>
    </p:spTree>
    <p:extLst>
      <p:ext uri="{BB962C8B-B14F-4D97-AF65-F5344CB8AC3E}">
        <p14:creationId xmlns:p14="http://schemas.microsoft.com/office/powerpoint/2010/main" val="920350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b="1" dirty="0" smtClean="0">
                <a:effectLst/>
                <a:latin typeface="Times New Roman"/>
                <a:ea typeface="Times New Roman"/>
                <a:cs typeface="Times New Roman"/>
              </a:rPr>
              <a:t>1. Introduction: The Mystery and Responsibility of Priesthood</a:t>
            </a:r>
            <a:endParaRPr lang="en-GB" sz="3600" dirty="0">
              <a:ea typeface="Calibri"/>
              <a:cs typeface="Times New Roman"/>
            </a:endParaRPr>
          </a:p>
        </p:txBody>
      </p:sp>
      <p:sp>
        <p:nvSpPr>
          <p:cNvPr id="3" name="Content Placeholder 2"/>
          <p:cNvSpPr>
            <a:spLocks noGrp="1"/>
          </p:cNvSpPr>
          <p:nvPr>
            <p:ph idx="1"/>
          </p:nvPr>
        </p:nvSpPr>
        <p:spPr/>
        <p:txBody>
          <a:bodyPr>
            <a:normAutofit fontScale="70000" lnSpcReduction="20000"/>
          </a:bodyPr>
          <a:lstStyle/>
          <a:p>
            <a:pPr algn="just">
              <a:lnSpc>
                <a:spcPct val="115000"/>
              </a:lnSpc>
              <a:spcAft>
                <a:spcPts val="1000"/>
              </a:spcAft>
            </a:pPr>
            <a:r>
              <a:rPr lang="en-GB" dirty="0" smtClean="0">
                <a:effectLst/>
                <a:latin typeface="Times New Roman" pitchFamily="18" charset="0"/>
                <a:ea typeface="Times New Roman"/>
                <a:cs typeface="Times New Roman" pitchFamily="18" charset="0"/>
              </a:rPr>
              <a:t>“No one takes this </a:t>
            </a:r>
            <a:r>
              <a:rPr lang="en-GB" dirty="0" err="1" smtClean="0">
                <a:effectLst/>
                <a:latin typeface="Times New Roman" pitchFamily="18" charset="0"/>
                <a:ea typeface="Times New Roman"/>
                <a:cs typeface="Times New Roman" pitchFamily="18" charset="0"/>
              </a:rPr>
              <a:t>honor</a:t>
            </a:r>
            <a:r>
              <a:rPr lang="en-GB" dirty="0" smtClean="0">
                <a:effectLst/>
                <a:latin typeface="Times New Roman" pitchFamily="18" charset="0"/>
                <a:ea typeface="Times New Roman"/>
                <a:cs typeface="Times New Roman" pitchFamily="18" charset="0"/>
              </a:rPr>
              <a:t> upon himself, but he must be called by God, just as Aaron was.” (Hebrews 5:4)</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dirty="0" smtClean="0">
                <a:effectLst/>
                <a:latin typeface="Times New Roman" pitchFamily="18" charset="0"/>
                <a:ea typeface="Times New Roman"/>
                <a:cs typeface="Times New Roman" pitchFamily="18" charset="0"/>
              </a:rPr>
              <a:t>Priesthood is not a profession but a </a:t>
            </a:r>
            <a:r>
              <a:rPr lang="en-GB" b="1" dirty="0" smtClean="0">
                <a:effectLst/>
                <a:latin typeface="Times New Roman" pitchFamily="18" charset="0"/>
                <a:ea typeface="Times New Roman"/>
                <a:cs typeface="Times New Roman" pitchFamily="18" charset="0"/>
              </a:rPr>
              <a:t>divine calling and sacramental office</a:t>
            </a:r>
            <a:r>
              <a:rPr lang="en-GB" dirty="0" smtClean="0">
                <a:effectLst/>
                <a:latin typeface="Times New Roman" pitchFamily="18" charset="0"/>
                <a:ea typeface="Times New Roman"/>
                <a:cs typeface="Times New Roman" pitchFamily="18" charset="0"/>
              </a:rPr>
              <a:t>.</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dirty="0" smtClean="0">
                <a:effectLst/>
                <a:latin typeface="Times New Roman" pitchFamily="18" charset="0"/>
                <a:ea typeface="Times New Roman"/>
                <a:cs typeface="Times New Roman" pitchFamily="18" charset="0"/>
              </a:rPr>
              <a:t>A priest serves as:</a:t>
            </a:r>
            <a:endParaRPr lang="en-GB" sz="28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dirty="0" smtClean="0">
                <a:effectLst/>
                <a:latin typeface="Times New Roman" pitchFamily="18" charset="0"/>
                <a:ea typeface="Times New Roman"/>
                <a:cs typeface="Times New Roman" pitchFamily="18" charset="0"/>
              </a:rPr>
              <a:t>A mediator between God and the faithful (Hebrews 5:1–3)</a:t>
            </a:r>
            <a:endParaRPr lang="en-GB" sz="24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dirty="0" smtClean="0">
                <a:effectLst/>
                <a:latin typeface="Times New Roman" pitchFamily="18" charset="0"/>
                <a:ea typeface="Times New Roman"/>
                <a:cs typeface="Times New Roman" pitchFamily="18" charset="0"/>
              </a:rPr>
              <a:t>A steward of the mysteries (1 Corinthians 4:1)</a:t>
            </a:r>
            <a:endParaRPr lang="en-GB" sz="24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dirty="0" smtClean="0">
                <a:effectLst/>
                <a:latin typeface="Times New Roman" pitchFamily="18" charset="0"/>
                <a:ea typeface="Times New Roman"/>
                <a:cs typeface="Times New Roman" pitchFamily="18" charset="0"/>
              </a:rPr>
              <a:t>A spiritual father and shepherd</a:t>
            </a:r>
            <a:endParaRPr lang="en-GB" sz="24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dirty="0" smtClean="0">
                <a:effectLst/>
                <a:latin typeface="Times New Roman" pitchFamily="18" charset="0"/>
                <a:ea typeface="Times New Roman"/>
                <a:cs typeface="Times New Roman" pitchFamily="18" charset="0"/>
              </a:rPr>
              <a:t>The line between good and evil in the priesthood is not abstract—it affects the Church, society, and salvation history.</a:t>
            </a:r>
            <a:endParaRPr lang="en-GB" sz="2800" dirty="0">
              <a:latin typeface="Times New Roman" pitchFamily="18" charset="0"/>
              <a:ea typeface="Calibri"/>
              <a:cs typeface="Times New Roman" pitchFamily="18" charset="0"/>
            </a:endParaRPr>
          </a:p>
          <a:p>
            <a:endParaRPr lang="en-GB" dirty="0"/>
          </a:p>
        </p:txBody>
      </p:sp>
    </p:spTree>
    <p:extLst>
      <p:ext uri="{BB962C8B-B14F-4D97-AF65-F5344CB8AC3E}">
        <p14:creationId xmlns:p14="http://schemas.microsoft.com/office/powerpoint/2010/main" val="395787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b="1" dirty="0" smtClean="0">
                <a:effectLst/>
                <a:latin typeface="Times New Roman"/>
                <a:ea typeface="Times New Roman"/>
                <a:cs typeface="Times New Roman"/>
              </a:rPr>
              <a:t>2. </a:t>
            </a:r>
            <a:r>
              <a:rPr lang="en-GB" b="1" dirty="0" smtClean="0">
                <a:effectLst/>
                <a:latin typeface="Times New Roman" pitchFamily="18" charset="0"/>
                <a:ea typeface="Times New Roman"/>
                <a:cs typeface="Times New Roman" pitchFamily="18" charset="0"/>
              </a:rPr>
              <a:t>Characteristics of a Good Priest</a:t>
            </a:r>
            <a:r>
              <a:rPr lang="en-GB" sz="3600" dirty="0">
                <a:latin typeface="Times New Roman" pitchFamily="18" charset="0"/>
                <a:ea typeface="Calibri"/>
                <a:cs typeface="Times New Roman" pitchFamily="18" charset="0"/>
              </a:rPr>
              <a:t/>
            </a:r>
            <a:br>
              <a:rPr lang="en-GB" sz="3600" dirty="0">
                <a:latin typeface="Times New Roman" pitchFamily="18" charset="0"/>
                <a:ea typeface="Calibri"/>
                <a:cs typeface="Times New Roman" pitchFamily="18" charset="0"/>
              </a:rPr>
            </a:b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32500" lnSpcReduction="20000"/>
          </a:bodyPr>
          <a:lstStyle/>
          <a:p>
            <a:pPr algn="just">
              <a:lnSpc>
                <a:spcPct val="115000"/>
              </a:lnSpc>
              <a:spcAft>
                <a:spcPts val="1000"/>
              </a:spcAft>
            </a:pPr>
            <a:r>
              <a:rPr lang="en-GB" sz="5200" b="1" dirty="0" smtClean="0">
                <a:effectLst/>
                <a:latin typeface="Times New Roman" pitchFamily="18" charset="0"/>
                <a:ea typeface="Times New Roman"/>
                <a:cs typeface="Times New Roman" pitchFamily="18" charset="0"/>
              </a:rPr>
              <a:t>A. In Holy Scripture</a:t>
            </a:r>
            <a:endParaRPr lang="en-GB" sz="52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sz="5200" b="1" dirty="0" smtClean="0">
                <a:effectLst/>
                <a:latin typeface="Times New Roman" pitchFamily="18" charset="0"/>
                <a:ea typeface="Times New Roman"/>
                <a:cs typeface="Times New Roman" pitchFamily="18" charset="0"/>
              </a:rPr>
              <a:t>Obedience to God’s Word</a:t>
            </a:r>
            <a:endParaRPr lang="en-GB" sz="52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sz="5200" dirty="0" smtClean="0">
                <a:effectLst/>
                <a:latin typeface="Times New Roman" pitchFamily="18" charset="0"/>
                <a:ea typeface="Times New Roman"/>
                <a:cs typeface="Times New Roman" pitchFamily="18" charset="0"/>
              </a:rPr>
              <a:t>Moses and Aaron as models of obedience (Exodus 40:16)</a:t>
            </a:r>
            <a:endParaRPr lang="en-GB" sz="52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sz="5200" dirty="0" smtClean="0">
                <a:effectLst/>
                <a:latin typeface="Times New Roman" pitchFamily="18" charset="0"/>
                <a:ea typeface="Times New Roman"/>
                <a:cs typeface="Times New Roman" pitchFamily="18" charset="0"/>
              </a:rPr>
              <a:t>Christ as the High Priest who “learned obedience through suffering” (Hebrews 5:8)</a:t>
            </a:r>
            <a:endParaRPr lang="en-GB" sz="52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sz="5200" b="1" dirty="0" smtClean="0">
                <a:effectLst/>
                <a:latin typeface="Times New Roman" pitchFamily="18" charset="0"/>
                <a:ea typeface="Times New Roman"/>
                <a:cs typeface="Times New Roman" pitchFamily="18" charset="0"/>
              </a:rPr>
              <a:t>Holiness of Life</a:t>
            </a:r>
            <a:endParaRPr lang="en-GB" sz="52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sz="5200" dirty="0" smtClean="0">
                <a:effectLst/>
                <a:latin typeface="Times New Roman" pitchFamily="18" charset="0"/>
                <a:ea typeface="Times New Roman"/>
                <a:cs typeface="Times New Roman" pitchFamily="18" charset="0"/>
              </a:rPr>
              <a:t>“Be holy, for I am holy” (Leviticus 11:44; 1 Peter 1:16)</a:t>
            </a:r>
            <a:endParaRPr lang="en-GB" sz="52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sz="5200" dirty="0" smtClean="0">
                <a:effectLst/>
                <a:latin typeface="Times New Roman" pitchFamily="18" charset="0"/>
                <a:ea typeface="Times New Roman"/>
                <a:cs typeface="Times New Roman" pitchFamily="18" charset="0"/>
              </a:rPr>
              <a:t>Required moral purity: 1 Timothy 3:1–7, Titus 1:5–9</a:t>
            </a:r>
            <a:endParaRPr lang="en-GB" sz="52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sz="5200" b="1" dirty="0" smtClean="0">
                <a:effectLst/>
                <a:latin typeface="Times New Roman" pitchFamily="18" charset="0"/>
                <a:ea typeface="Times New Roman"/>
                <a:cs typeface="Times New Roman" pitchFamily="18" charset="0"/>
              </a:rPr>
              <a:t>Servant Leadership</a:t>
            </a:r>
            <a:endParaRPr lang="en-GB" sz="52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sz="5200" dirty="0" smtClean="0">
                <a:effectLst/>
                <a:latin typeface="Times New Roman" pitchFamily="18" charset="0"/>
                <a:ea typeface="Times New Roman"/>
                <a:cs typeface="Times New Roman" pitchFamily="18" charset="0"/>
              </a:rPr>
              <a:t>John 13:14–15 (Jesus washes disciples’ feet)</a:t>
            </a:r>
            <a:endParaRPr lang="en-GB" sz="52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sz="5200" dirty="0" smtClean="0">
                <a:effectLst/>
                <a:latin typeface="Times New Roman" pitchFamily="18" charset="0"/>
                <a:ea typeface="Times New Roman"/>
                <a:cs typeface="Times New Roman" pitchFamily="18" charset="0"/>
              </a:rPr>
              <a:t>Matthew 20:26–28 (He who leads must be a servant)</a:t>
            </a:r>
            <a:endParaRPr lang="en-GB" sz="5200" dirty="0" smtClean="0">
              <a:latin typeface="Times New Roman" pitchFamily="18" charset="0"/>
              <a:ea typeface="Calibri"/>
              <a:cs typeface="Times New Roman" pitchFamily="18" charset="0"/>
            </a:endParaRPr>
          </a:p>
          <a:p>
            <a:pPr marL="0" lvl="0" indent="0">
              <a:lnSpc>
                <a:spcPct val="115000"/>
              </a:lnSpc>
              <a:spcAft>
                <a:spcPts val="1000"/>
              </a:spcAft>
              <a:buNone/>
              <a:tabLst>
                <a:tab pos="457200" algn="l"/>
              </a:tabLst>
            </a:pPr>
            <a:endParaRPr lang="en-GB" sz="3600" dirty="0" smtClean="0">
              <a:latin typeface="Times New Roman" pitchFamily="18" charset="0"/>
              <a:ea typeface="Calibri"/>
              <a:cs typeface="Times New Roman" pitchFamily="18" charset="0"/>
            </a:endParaRPr>
          </a:p>
          <a:p>
            <a:pPr marL="457200" lvl="1" indent="0">
              <a:lnSpc>
                <a:spcPct val="115000"/>
              </a:lnSpc>
              <a:spcAft>
                <a:spcPts val="1000"/>
              </a:spcAft>
              <a:buSzPts val="1000"/>
              <a:buNone/>
              <a:tabLst>
                <a:tab pos="914400" algn="l"/>
              </a:tabLst>
            </a:pPr>
            <a:endParaRPr lang="en-GB" sz="2400" dirty="0" smtClean="0">
              <a:ea typeface="Calibri"/>
              <a:cs typeface="Times New Roman"/>
            </a:endParaRPr>
          </a:p>
          <a:p>
            <a:endParaRPr lang="en-GB" dirty="0"/>
          </a:p>
        </p:txBody>
      </p:sp>
    </p:spTree>
    <p:extLst>
      <p:ext uri="{BB962C8B-B14F-4D97-AF65-F5344CB8AC3E}">
        <p14:creationId xmlns:p14="http://schemas.microsoft.com/office/powerpoint/2010/main" val="212241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pPr marL="0" lvl="0" indent="0" algn="just">
              <a:lnSpc>
                <a:spcPct val="115000"/>
              </a:lnSpc>
              <a:spcAft>
                <a:spcPts val="1000"/>
              </a:spcAft>
              <a:buNone/>
              <a:tabLst>
                <a:tab pos="457200" algn="l"/>
              </a:tabLst>
            </a:pPr>
            <a:r>
              <a:rPr lang="en-GB" b="1" dirty="0" smtClean="0">
                <a:effectLst/>
                <a:latin typeface="Times New Roman"/>
                <a:ea typeface="Times New Roman"/>
                <a:cs typeface="Times New Roman"/>
              </a:rPr>
              <a:t>4/ Faithful Teacher of Truth</a:t>
            </a:r>
            <a:endParaRPr lang="en-GB" sz="2800" dirty="0">
              <a:ea typeface="Calibri"/>
              <a:cs typeface="Times New Roman"/>
            </a:endParaRPr>
          </a:p>
          <a:p>
            <a:pPr lvl="1" algn="just">
              <a:lnSpc>
                <a:spcPct val="115000"/>
              </a:lnSpc>
              <a:spcAft>
                <a:spcPts val="1000"/>
              </a:spcAft>
              <a:buSzPts val="1000"/>
              <a:buFont typeface="Courier New"/>
              <a:buChar char="o"/>
              <a:tabLst>
                <a:tab pos="914400" algn="l"/>
              </a:tabLst>
            </a:pPr>
            <a:r>
              <a:rPr lang="en-GB" dirty="0" smtClean="0">
                <a:effectLst/>
                <a:latin typeface="Times New Roman"/>
                <a:ea typeface="Times New Roman"/>
                <a:cs typeface="Times New Roman"/>
              </a:rPr>
              <a:t>Titus 1:9 – “Hold firm to the trustworthy word”</a:t>
            </a:r>
            <a:endParaRPr lang="en-GB" sz="2400" dirty="0">
              <a:ea typeface="Calibri"/>
              <a:cs typeface="Times New Roman"/>
            </a:endParaRPr>
          </a:p>
          <a:p>
            <a:pPr lvl="1" algn="just">
              <a:lnSpc>
                <a:spcPct val="115000"/>
              </a:lnSpc>
              <a:spcAft>
                <a:spcPts val="1000"/>
              </a:spcAft>
              <a:buSzPts val="1000"/>
              <a:buFont typeface="Courier New"/>
              <a:buChar char="o"/>
              <a:tabLst>
                <a:tab pos="914400" algn="l"/>
              </a:tabLst>
            </a:pPr>
            <a:r>
              <a:rPr lang="en-GB" dirty="0" smtClean="0">
                <a:effectLst/>
                <a:latin typeface="Times New Roman"/>
                <a:ea typeface="Times New Roman"/>
                <a:cs typeface="Times New Roman"/>
              </a:rPr>
              <a:t>Malachi 2:7 – “The lips of a priest should preserve knowledge”</a:t>
            </a:r>
            <a:endParaRPr lang="en-GB" sz="2400" dirty="0">
              <a:ea typeface="Calibri"/>
              <a:cs typeface="Times New Roman"/>
            </a:endParaRPr>
          </a:p>
          <a:p>
            <a:pPr marL="0" lvl="0" indent="0" algn="just">
              <a:lnSpc>
                <a:spcPct val="115000"/>
              </a:lnSpc>
              <a:spcAft>
                <a:spcPts val="1000"/>
              </a:spcAft>
              <a:buNone/>
              <a:tabLst>
                <a:tab pos="457200" algn="l"/>
              </a:tabLst>
            </a:pPr>
            <a:r>
              <a:rPr lang="en-GB" b="1" dirty="0" smtClean="0">
                <a:effectLst/>
                <a:latin typeface="Times New Roman"/>
                <a:ea typeface="Times New Roman"/>
                <a:cs typeface="Times New Roman"/>
              </a:rPr>
              <a:t>5/ Spiritual Vigilance</a:t>
            </a:r>
            <a:endParaRPr lang="en-GB" sz="2800" dirty="0">
              <a:ea typeface="Calibri"/>
              <a:cs typeface="Times New Roman"/>
            </a:endParaRPr>
          </a:p>
          <a:p>
            <a:pPr lvl="1" algn="just">
              <a:lnSpc>
                <a:spcPct val="115000"/>
              </a:lnSpc>
              <a:spcAft>
                <a:spcPts val="1000"/>
              </a:spcAft>
              <a:buSzPts val="1000"/>
              <a:buFont typeface="Courier New"/>
              <a:buChar char="o"/>
              <a:tabLst>
                <a:tab pos="914400" algn="l"/>
              </a:tabLst>
            </a:pPr>
            <a:r>
              <a:rPr lang="en-GB" dirty="0" smtClean="0">
                <a:effectLst/>
                <a:latin typeface="Times New Roman"/>
                <a:ea typeface="Times New Roman"/>
                <a:cs typeface="Times New Roman"/>
              </a:rPr>
              <a:t>Acts 20:28 – “Watch over yourselves and the flock”</a:t>
            </a:r>
            <a:endParaRPr lang="en-GB" sz="2400" dirty="0">
              <a:ea typeface="Calibri"/>
              <a:cs typeface="Times New Roman"/>
            </a:endParaRPr>
          </a:p>
          <a:p>
            <a:pPr lvl="1" algn="just">
              <a:lnSpc>
                <a:spcPct val="115000"/>
              </a:lnSpc>
              <a:spcAft>
                <a:spcPts val="1000"/>
              </a:spcAft>
              <a:buSzPts val="1000"/>
              <a:buFont typeface="Courier New"/>
              <a:buChar char="o"/>
              <a:tabLst>
                <a:tab pos="914400" algn="l"/>
              </a:tabLst>
            </a:pPr>
            <a:r>
              <a:rPr lang="en-GB" dirty="0" smtClean="0">
                <a:effectLst/>
                <a:latin typeface="Times New Roman"/>
                <a:ea typeface="Times New Roman"/>
                <a:cs typeface="Times New Roman"/>
              </a:rPr>
              <a:t>1 Thessalonians 5:6 – “Let us not sleep, but be alert”</a:t>
            </a:r>
            <a:endParaRPr lang="en-GB" sz="2400" dirty="0">
              <a:ea typeface="Calibri"/>
              <a:cs typeface="Times New Roman"/>
            </a:endParaRPr>
          </a:p>
          <a:p>
            <a:pPr algn="just"/>
            <a:endParaRPr lang="en-GB" dirty="0"/>
          </a:p>
        </p:txBody>
      </p:sp>
    </p:spTree>
    <p:extLst>
      <p:ext uri="{BB962C8B-B14F-4D97-AF65-F5344CB8AC3E}">
        <p14:creationId xmlns:p14="http://schemas.microsoft.com/office/powerpoint/2010/main" val="3440435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nSpc>
                <a:spcPct val="115000"/>
              </a:lnSpc>
              <a:spcAft>
                <a:spcPts val="1000"/>
              </a:spcAft>
            </a:pPr>
            <a:r>
              <a:rPr lang="en-GB" sz="2800" b="1" dirty="0" smtClean="0">
                <a:effectLst/>
                <a:latin typeface="Times New Roman" pitchFamily="18" charset="0"/>
                <a:ea typeface="Times New Roman"/>
                <a:cs typeface="Times New Roman" pitchFamily="18" charset="0"/>
              </a:rPr>
              <a:t>B. In Church Tradition (Ethiopian Orthodox and Patristic)</a:t>
            </a:r>
            <a:r>
              <a:rPr lang="en-GB" sz="2800" dirty="0">
                <a:latin typeface="Times New Roman" pitchFamily="18" charset="0"/>
                <a:ea typeface="Calibri"/>
                <a:cs typeface="Times New Roman" pitchFamily="18" charset="0"/>
              </a:rPr>
              <a:t/>
            </a:r>
            <a:br>
              <a:rPr lang="en-GB" sz="2800" dirty="0">
                <a:latin typeface="Times New Roman" pitchFamily="18" charset="0"/>
                <a:ea typeface="Calibri"/>
                <a:cs typeface="Times New Roman" pitchFamily="18" charset="0"/>
              </a:rPr>
            </a:br>
            <a:endParaRPr lang="en-GB" sz="28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pPr lvl="0" algn="just">
              <a:lnSpc>
                <a:spcPct val="115000"/>
              </a:lnSpc>
              <a:spcAft>
                <a:spcPts val="1000"/>
              </a:spcAft>
              <a:buSzPts val="1000"/>
              <a:buFont typeface="Symbol"/>
              <a:buChar char=""/>
              <a:tabLst>
                <a:tab pos="457200" algn="l"/>
              </a:tabLst>
            </a:pPr>
            <a:r>
              <a:rPr lang="en-GB" b="1" dirty="0" smtClean="0">
                <a:effectLst/>
                <a:latin typeface="Times New Roman"/>
                <a:ea typeface="Times New Roman"/>
                <a:cs typeface="Times New Roman"/>
              </a:rPr>
              <a:t>Prayer and Asceticism</a:t>
            </a:r>
            <a:r>
              <a:rPr lang="en-GB" dirty="0" smtClean="0">
                <a:effectLst/>
                <a:latin typeface="Times New Roman"/>
                <a:ea typeface="Times New Roman"/>
                <a:cs typeface="Times New Roman"/>
              </a:rPr>
              <a:t>: A priest must live a life of fasting, vigils, and spiritual warfare.</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b="1" dirty="0" smtClean="0">
                <a:effectLst/>
                <a:latin typeface="Times New Roman"/>
                <a:ea typeface="Times New Roman"/>
                <a:cs typeface="Times New Roman"/>
              </a:rPr>
              <a:t>Liturgy-</a:t>
            </a:r>
            <a:r>
              <a:rPr lang="en-GB" b="1" dirty="0" err="1" smtClean="0">
                <a:effectLst/>
                <a:latin typeface="Times New Roman"/>
                <a:ea typeface="Times New Roman"/>
                <a:cs typeface="Times New Roman"/>
              </a:rPr>
              <a:t>Centered</a:t>
            </a:r>
            <a:r>
              <a:rPr lang="en-GB" b="1" dirty="0" smtClean="0">
                <a:effectLst/>
                <a:latin typeface="Times New Roman"/>
                <a:ea typeface="Times New Roman"/>
                <a:cs typeface="Times New Roman"/>
              </a:rPr>
              <a:t> Life</a:t>
            </a:r>
            <a:r>
              <a:rPr lang="en-GB" dirty="0" smtClean="0">
                <a:effectLst/>
                <a:latin typeface="Times New Roman"/>
                <a:ea typeface="Times New Roman"/>
                <a:cs typeface="Times New Roman"/>
              </a:rPr>
              <a:t>: Fidelity to the Divine Liturgy, Daily Hours.</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b="1" dirty="0" smtClean="0">
                <a:effectLst/>
                <a:latin typeface="Times New Roman"/>
                <a:ea typeface="Times New Roman"/>
                <a:cs typeface="Times New Roman"/>
              </a:rPr>
              <a:t>Living Example:</a:t>
            </a:r>
            <a:r>
              <a:rPr lang="en-GB" dirty="0" smtClean="0">
                <a:effectLst/>
                <a:latin typeface="Times New Roman"/>
                <a:ea typeface="Times New Roman"/>
                <a:cs typeface="Times New Roman"/>
              </a:rPr>
              <a:t> The priest should embody the teachings he preaches.</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b="1" dirty="0" smtClean="0">
                <a:effectLst/>
                <a:latin typeface="Times New Roman"/>
                <a:ea typeface="Times New Roman"/>
                <a:cs typeface="Times New Roman"/>
              </a:rPr>
              <a:t>Canonical Obedience</a:t>
            </a:r>
            <a:r>
              <a:rPr lang="en-GB" dirty="0" smtClean="0">
                <a:effectLst/>
                <a:latin typeface="Times New Roman"/>
                <a:ea typeface="Times New Roman"/>
                <a:cs typeface="Times New Roman"/>
              </a:rPr>
              <a:t>: Faithfulness to the Synod, hierarchy, and Church canons.</a:t>
            </a:r>
            <a:endParaRPr lang="en-GB" sz="2800" dirty="0">
              <a:ea typeface="Calibri"/>
              <a:cs typeface="Times New Roman"/>
            </a:endParaRPr>
          </a:p>
          <a:p>
            <a:pPr algn="just"/>
            <a:r>
              <a:rPr lang="en-GB" b="1" dirty="0" smtClean="0">
                <a:effectLst/>
                <a:latin typeface="Times New Roman"/>
                <a:ea typeface="Times New Roman"/>
              </a:rPr>
              <a:t>Pastoral Compassion</a:t>
            </a:r>
            <a:r>
              <a:rPr lang="en-GB" dirty="0" smtClean="0">
                <a:effectLst/>
                <a:latin typeface="Times New Roman"/>
                <a:ea typeface="Times New Roman"/>
              </a:rPr>
              <a:t>: St. Basil and St. Gregory speak of priesthood as a "ministry of healing."</a:t>
            </a:r>
            <a:endParaRPr lang="en-GB" dirty="0"/>
          </a:p>
        </p:txBody>
      </p:sp>
    </p:spTree>
    <p:extLst>
      <p:ext uri="{BB962C8B-B14F-4D97-AF65-F5344CB8AC3E}">
        <p14:creationId xmlns:p14="http://schemas.microsoft.com/office/powerpoint/2010/main" val="169038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sz="3600" b="1" dirty="0" smtClean="0">
                <a:effectLst/>
                <a:latin typeface="Times New Roman" pitchFamily="18" charset="0"/>
                <a:ea typeface="Times New Roman"/>
                <a:cs typeface="Times New Roman" pitchFamily="18" charset="0"/>
              </a:rPr>
              <a:t>3. Spiritual and Moral Dangers in Priesthood</a:t>
            </a:r>
            <a:r>
              <a:rPr lang="en-GB" sz="3600" dirty="0">
                <a:ea typeface="Calibri"/>
                <a:cs typeface="Times New Roman"/>
              </a:rPr>
              <a:t/>
            </a:r>
            <a:br>
              <a:rPr lang="en-GB" sz="3600" dirty="0">
                <a:ea typeface="Calibri"/>
                <a:cs typeface="Times New Roman"/>
              </a:rPr>
            </a:br>
            <a:endParaRPr lang="en-GB" dirty="0"/>
          </a:p>
        </p:txBody>
      </p:sp>
      <p:sp>
        <p:nvSpPr>
          <p:cNvPr id="3" name="Content Placeholder 2"/>
          <p:cNvSpPr>
            <a:spLocks noGrp="1"/>
          </p:cNvSpPr>
          <p:nvPr>
            <p:ph idx="1"/>
          </p:nvPr>
        </p:nvSpPr>
        <p:spPr/>
        <p:txBody>
          <a:bodyPr>
            <a:normAutofit fontScale="70000" lnSpcReduction="20000"/>
          </a:bodyPr>
          <a:lstStyle/>
          <a:p>
            <a:pPr marL="0" indent="0" algn="just">
              <a:lnSpc>
                <a:spcPct val="115000"/>
              </a:lnSpc>
              <a:spcAft>
                <a:spcPts val="1000"/>
              </a:spcAft>
              <a:buNone/>
            </a:pPr>
            <a:r>
              <a:rPr lang="en-GB" b="1" dirty="0" smtClean="0">
                <a:effectLst/>
                <a:latin typeface="Times New Roman"/>
                <a:ea typeface="Times New Roman"/>
                <a:cs typeface="Times New Roman"/>
              </a:rPr>
              <a:t>A</a:t>
            </a:r>
            <a:r>
              <a:rPr lang="en-GB" sz="2600" b="1" dirty="0" smtClean="0">
                <a:effectLst/>
                <a:latin typeface="Times New Roman" pitchFamily="18" charset="0"/>
                <a:ea typeface="Times New Roman"/>
                <a:cs typeface="Times New Roman" pitchFamily="18" charset="0"/>
              </a:rPr>
              <a:t>. Internal Dangers</a:t>
            </a:r>
            <a:endParaRPr lang="en-GB" sz="26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sz="2600" b="1" dirty="0" smtClean="0">
                <a:effectLst/>
                <a:latin typeface="Times New Roman" pitchFamily="18" charset="0"/>
                <a:ea typeface="Times New Roman"/>
                <a:cs typeface="Times New Roman" pitchFamily="18" charset="0"/>
              </a:rPr>
              <a:t>Pride and Arrogance</a:t>
            </a:r>
            <a:endParaRPr lang="en-GB" sz="26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sz="2600" dirty="0" smtClean="0">
                <a:effectLst/>
                <a:latin typeface="Times New Roman" pitchFamily="18" charset="0"/>
                <a:ea typeface="Times New Roman"/>
                <a:cs typeface="Times New Roman" pitchFamily="18" charset="0"/>
              </a:rPr>
              <a:t>Isaiah 14 (Lucifer’s fall); 1 Peter 5:5</a:t>
            </a:r>
            <a:endParaRPr lang="en-GB" sz="26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sz="2600" dirty="0" smtClean="0">
                <a:effectLst/>
                <a:latin typeface="Times New Roman" pitchFamily="18" charset="0"/>
                <a:ea typeface="Times New Roman"/>
                <a:cs typeface="Times New Roman" pitchFamily="18" charset="0"/>
              </a:rPr>
              <a:t>St. John Chrysostom warns: “The priest’s pride leads to the people’s fall.”</a:t>
            </a:r>
            <a:endParaRPr lang="en-GB" sz="26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sz="2600" b="1" dirty="0" smtClean="0">
                <a:effectLst/>
                <a:latin typeface="Times New Roman" pitchFamily="18" charset="0"/>
                <a:ea typeface="Times New Roman"/>
                <a:cs typeface="Times New Roman" pitchFamily="18" charset="0"/>
              </a:rPr>
              <a:t>Neglect of Spiritual Life</a:t>
            </a:r>
            <a:endParaRPr lang="en-GB" sz="26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sz="2600" dirty="0" smtClean="0">
                <a:effectLst/>
                <a:latin typeface="Times New Roman" pitchFamily="18" charset="0"/>
                <a:ea typeface="Times New Roman"/>
                <a:cs typeface="Times New Roman" pitchFamily="18" charset="0"/>
              </a:rPr>
              <a:t>St. </a:t>
            </a:r>
            <a:r>
              <a:rPr lang="en-GB" sz="2600" dirty="0" err="1" smtClean="0">
                <a:effectLst/>
                <a:latin typeface="Times New Roman" pitchFamily="18" charset="0"/>
                <a:ea typeface="Times New Roman"/>
                <a:cs typeface="Times New Roman" pitchFamily="18" charset="0"/>
              </a:rPr>
              <a:t>Ephrem</a:t>
            </a:r>
            <a:r>
              <a:rPr lang="en-GB" sz="2600" dirty="0" smtClean="0">
                <a:effectLst/>
                <a:latin typeface="Times New Roman" pitchFamily="18" charset="0"/>
                <a:ea typeface="Times New Roman"/>
                <a:cs typeface="Times New Roman" pitchFamily="18" charset="0"/>
              </a:rPr>
              <a:t>: “The priest who ceases to pray becomes an empty vessel.”</a:t>
            </a:r>
            <a:endParaRPr lang="en-GB" sz="26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sz="2600" b="1" dirty="0" smtClean="0">
                <a:effectLst/>
                <a:latin typeface="Times New Roman" pitchFamily="18" charset="0"/>
                <a:ea typeface="Times New Roman"/>
                <a:cs typeface="Times New Roman" pitchFamily="18" charset="0"/>
              </a:rPr>
              <a:t>Hypocrisy and Double Life</a:t>
            </a:r>
            <a:endParaRPr lang="en-GB" sz="26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sz="2600" dirty="0" smtClean="0">
                <a:effectLst/>
                <a:latin typeface="Times New Roman" pitchFamily="18" charset="0"/>
                <a:ea typeface="Times New Roman"/>
                <a:cs typeface="Times New Roman" pitchFamily="18" charset="0"/>
              </a:rPr>
              <a:t>Matthew 23 (Jesus rebukes hypocritical priests)</a:t>
            </a:r>
            <a:endParaRPr lang="en-GB" sz="26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sz="2600" dirty="0" smtClean="0">
                <a:effectLst/>
                <a:latin typeface="Times New Roman" pitchFamily="18" charset="0"/>
                <a:ea typeface="Times New Roman"/>
                <a:cs typeface="Times New Roman" pitchFamily="18" charset="0"/>
              </a:rPr>
              <a:t>Living outwardly holy but inwardly corrupt</a:t>
            </a:r>
            <a:endParaRPr lang="en-GB" sz="2600" dirty="0">
              <a:latin typeface="Times New Roman" pitchFamily="18" charset="0"/>
              <a:ea typeface="Calibri"/>
              <a:cs typeface="Times New Roman" pitchFamily="18" charset="0"/>
            </a:endParaRPr>
          </a:p>
          <a:p>
            <a:pPr algn="just"/>
            <a:endParaRPr lang="en-GB" sz="2600" dirty="0">
              <a:latin typeface="Times New Roman" pitchFamily="18" charset="0"/>
              <a:cs typeface="Times New Roman" pitchFamily="18" charset="0"/>
            </a:endParaRPr>
          </a:p>
        </p:txBody>
      </p:sp>
    </p:spTree>
    <p:extLst>
      <p:ext uri="{BB962C8B-B14F-4D97-AF65-F5344CB8AC3E}">
        <p14:creationId xmlns:p14="http://schemas.microsoft.com/office/powerpoint/2010/main" val="101754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0000" lnSpcReduction="20000"/>
          </a:bodyPr>
          <a:lstStyle/>
          <a:p>
            <a:pPr marL="0" indent="0" algn="just">
              <a:lnSpc>
                <a:spcPct val="115000"/>
              </a:lnSpc>
              <a:spcAft>
                <a:spcPts val="1000"/>
              </a:spcAft>
              <a:buNone/>
            </a:pPr>
            <a:r>
              <a:rPr lang="en-GB" b="1" dirty="0" smtClean="0">
                <a:effectLst/>
                <a:latin typeface="Times New Roman" pitchFamily="18" charset="0"/>
                <a:ea typeface="Times New Roman"/>
                <a:cs typeface="Times New Roman" pitchFamily="18" charset="0"/>
              </a:rPr>
              <a:t>B. External Dangers</a:t>
            </a:r>
            <a:endParaRPr lang="en-GB" sz="28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b="1" dirty="0" smtClean="0">
                <a:effectLst/>
                <a:latin typeface="Times New Roman" pitchFamily="18" charset="0"/>
                <a:ea typeface="Times New Roman"/>
                <a:cs typeface="Times New Roman" pitchFamily="18" charset="0"/>
              </a:rPr>
              <a:t>Temptations of Wealth and Status</a:t>
            </a:r>
            <a:endParaRPr lang="en-GB" sz="28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dirty="0" smtClean="0">
                <a:effectLst/>
                <a:latin typeface="Times New Roman" pitchFamily="18" charset="0"/>
                <a:ea typeface="Times New Roman"/>
                <a:cs typeface="Times New Roman" pitchFamily="18" charset="0"/>
              </a:rPr>
              <a:t>1 Timothy 6:10 – “The love of money is the root of all evil”</a:t>
            </a:r>
            <a:endParaRPr lang="en-GB" sz="24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dirty="0" smtClean="0">
                <a:effectLst/>
                <a:latin typeface="Times New Roman" pitchFamily="18" charset="0"/>
                <a:ea typeface="Times New Roman"/>
                <a:cs typeface="Times New Roman" pitchFamily="18" charset="0"/>
              </a:rPr>
              <a:t>Modern clericalism and materialism</a:t>
            </a:r>
            <a:endParaRPr lang="en-GB" sz="24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b="1" dirty="0" smtClean="0">
                <a:effectLst/>
                <a:latin typeface="Times New Roman" pitchFamily="18" charset="0"/>
                <a:ea typeface="Times New Roman"/>
                <a:cs typeface="Times New Roman" pitchFamily="18" charset="0"/>
              </a:rPr>
              <a:t>Isolation and Lack of Community</a:t>
            </a:r>
            <a:endParaRPr lang="en-GB" sz="28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dirty="0" smtClean="0">
                <a:effectLst/>
                <a:latin typeface="Times New Roman" pitchFamily="18" charset="0"/>
                <a:ea typeface="Times New Roman"/>
                <a:cs typeface="Times New Roman" pitchFamily="18" charset="0"/>
              </a:rPr>
              <a:t>Priests without brotherhood fall into sin or despair</a:t>
            </a:r>
            <a:endParaRPr lang="en-GB" sz="24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b="1" dirty="0" smtClean="0">
                <a:effectLst/>
                <a:latin typeface="Times New Roman" pitchFamily="18" charset="0"/>
                <a:ea typeface="Times New Roman"/>
                <a:cs typeface="Times New Roman" pitchFamily="18" charset="0"/>
              </a:rPr>
              <a:t>Scandal and Moral Failure</a:t>
            </a:r>
            <a:endParaRPr lang="en-GB" sz="2800" dirty="0">
              <a:latin typeface="Times New Roman" pitchFamily="18" charset="0"/>
              <a:ea typeface="Calibri"/>
              <a:cs typeface="Times New Roman" pitchFamily="18" charset="0"/>
            </a:endParaRPr>
          </a:p>
          <a:p>
            <a:pPr lvl="1" algn="just">
              <a:lnSpc>
                <a:spcPct val="115000"/>
              </a:lnSpc>
              <a:spcAft>
                <a:spcPts val="1000"/>
              </a:spcAft>
              <a:buSzPts val="1000"/>
              <a:buFont typeface="Courier New"/>
              <a:buChar char="o"/>
              <a:tabLst>
                <a:tab pos="914400" algn="l"/>
              </a:tabLst>
            </a:pPr>
            <a:r>
              <a:rPr lang="en-GB" dirty="0" smtClean="0">
                <a:effectLst/>
                <a:latin typeface="Times New Roman" pitchFamily="18" charset="0"/>
                <a:ea typeface="Times New Roman"/>
                <a:cs typeface="Times New Roman" pitchFamily="18" charset="0"/>
              </a:rPr>
              <a:t>Public moral failures (abuse, adultery, theft) cause grave damage to the Church’s witness</a:t>
            </a:r>
            <a:endParaRPr lang="en-GB" sz="2400" dirty="0">
              <a:latin typeface="Times New Roman" pitchFamily="18" charset="0"/>
              <a:ea typeface="Calibri"/>
              <a:cs typeface="Times New Roman" pitchFamily="18" charset="0"/>
            </a:endParaRPr>
          </a:p>
          <a:p>
            <a:endParaRPr lang="en-GB" dirty="0"/>
          </a:p>
        </p:txBody>
      </p:sp>
    </p:spTree>
    <p:extLst>
      <p:ext uri="{BB962C8B-B14F-4D97-AF65-F5344CB8AC3E}">
        <p14:creationId xmlns:p14="http://schemas.microsoft.com/office/powerpoint/2010/main" val="985012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b="1" dirty="0" smtClean="0">
                <a:effectLst/>
                <a:latin typeface="Times New Roman"/>
                <a:ea typeface="Times New Roman"/>
                <a:cs typeface="Times New Roman"/>
              </a:rPr>
              <a:t> Faithful </a:t>
            </a:r>
            <a:r>
              <a:rPr lang="en-GB" b="1" dirty="0" err="1" smtClean="0">
                <a:effectLst/>
                <a:latin typeface="Times New Roman"/>
                <a:ea typeface="Times New Roman"/>
                <a:cs typeface="Times New Roman"/>
              </a:rPr>
              <a:t>vs</a:t>
            </a:r>
            <a:r>
              <a:rPr lang="en-GB" b="1" dirty="0" smtClean="0">
                <a:effectLst/>
                <a:latin typeface="Times New Roman"/>
                <a:ea typeface="Times New Roman"/>
                <a:cs typeface="Times New Roman"/>
              </a:rPr>
              <a:t> Unfaithful Priests</a:t>
            </a:r>
            <a:r>
              <a:rPr lang="en-GB" sz="3600" dirty="0">
                <a:ea typeface="Calibri"/>
                <a:cs typeface="Times New Roman"/>
              </a:rPr>
              <a:t/>
            </a:r>
            <a:br>
              <a:rPr lang="en-GB" sz="3600" dirty="0">
                <a:ea typeface="Calibri"/>
                <a:cs typeface="Times New Roman"/>
              </a:rPr>
            </a:br>
            <a:endParaRPr lang="en-GB" dirty="0"/>
          </a:p>
        </p:txBody>
      </p:sp>
      <p:sp>
        <p:nvSpPr>
          <p:cNvPr id="3" name="Content Placeholder 2"/>
          <p:cNvSpPr>
            <a:spLocks noGrp="1"/>
          </p:cNvSpPr>
          <p:nvPr>
            <p:ph idx="1"/>
          </p:nvPr>
        </p:nvSpPr>
        <p:spPr/>
        <p:txBody>
          <a:bodyPr>
            <a:normAutofit fontScale="70000" lnSpcReduction="20000"/>
          </a:bodyPr>
          <a:lstStyle/>
          <a:p>
            <a:pPr marL="0" indent="0">
              <a:lnSpc>
                <a:spcPct val="115000"/>
              </a:lnSpc>
              <a:spcAft>
                <a:spcPts val="1000"/>
              </a:spcAft>
              <a:buNone/>
            </a:pPr>
            <a:r>
              <a:rPr lang="en-GB" b="1" dirty="0" smtClean="0">
                <a:effectLst/>
                <a:latin typeface="Times New Roman"/>
                <a:ea typeface="Times New Roman"/>
                <a:cs typeface="Times New Roman"/>
              </a:rPr>
              <a:t>A. Faithful Priests</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b="1" dirty="0" smtClean="0">
                <a:effectLst/>
                <a:latin typeface="Times New Roman" pitchFamily="18" charset="0"/>
                <a:ea typeface="Times New Roman"/>
                <a:cs typeface="Times New Roman" pitchFamily="18" charset="0"/>
              </a:rPr>
              <a:t>Melchizedek</a:t>
            </a:r>
            <a:r>
              <a:rPr lang="en-GB" dirty="0" smtClean="0">
                <a:effectLst/>
                <a:latin typeface="Times New Roman" pitchFamily="18" charset="0"/>
                <a:ea typeface="Times New Roman"/>
                <a:cs typeface="Times New Roman" pitchFamily="18" charset="0"/>
              </a:rPr>
              <a:t>: King and Priest (Genesis 14) – Prefigures Christ</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b="1" dirty="0" smtClean="0">
                <a:effectLst/>
                <a:latin typeface="Times New Roman" pitchFamily="18" charset="0"/>
                <a:ea typeface="Times New Roman"/>
                <a:cs typeface="Times New Roman" pitchFamily="18" charset="0"/>
              </a:rPr>
              <a:t>Samuel</a:t>
            </a:r>
            <a:r>
              <a:rPr lang="en-GB" dirty="0" smtClean="0">
                <a:effectLst/>
                <a:latin typeface="Times New Roman" pitchFamily="18" charset="0"/>
                <a:ea typeface="Times New Roman"/>
                <a:cs typeface="Times New Roman" pitchFamily="18" charset="0"/>
              </a:rPr>
              <a:t>: Listens to God’s voice, warns Israel (1 Samuel 3)</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b="1" dirty="0" smtClean="0">
                <a:effectLst/>
                <a:latin typeface="Times New Roman" pitchFamily="18" charset="0"/>
                <a:ea typeface="Times New Roman"/>
                <a:cs typeface="Times New Roman" pitchFamily="18" charset="0"/>
              </a:rPr>
              <a:t>St. Basil the Great</a:t>
            </a:r>
            <a:r>
              <a:rPr lang="en-GB" dirty="0" smtClean="0">
                <a:effectLst/>
                <a:latin typeface="Times New Roman" pitchFamily="18" charset="0"/>
                <a:ea typeface="Times New Roman"/>
                <a:cs typeface="Times New Roman" pitchFamily="18" charset="0"/>
              </a:rPr>
              <a:t>: Defender of orthodoxy and social justice</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b="1" dirty="0" smtClean="0">
                <a:effectLst/>
                <a:latin typeface="Times New Roman" pitchFamily="18" charset="0"/>
                <a:ea typeface="Times New Roman"/>
                <a:cs typeface="Times New Roman" pitchFamily="18" charset="0"/>
              </a:rPr>
              <a:t>St. </a:t>
            </a:r>
            <a:r>
              <a:rPr lang="en-GB" b="1" dirty="0" err="1" smtClean="0">
                <a:effectLst/>
                <a:latin typeface="Times New Roman" pitchFamily="18" charset="0"/>
                <a:ea typeface="Times New Roman"/>
                <a:cs typeface="Times New Roman" pitchFamily="18" charset="0"/>
              </a:rPr>
              <a:t>Yared</a:t>
            </a:r>
            <a:r>
              <a:rPr lang="en-GB" dirty="0" smtClean="0">
                <a:effectLst/>
                <a:latin typeface="Times New Roman" pitchFamily="18" charset="0"/>
                <a:ea typeface="Times New Roman"/>
                <a:cs typeface="Times New Roman" pitchFamily="18" charset="0"/>
              </a:rPr>
              <a:t>: His liturgical work transformed Ethiopian worship</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b="1" dirty="0" err="1" smtClean="0">
                <a:effectLst/>
                <a:latin typeface="Times New Roman" pitchFamily="18" charset="0"/>
                <a:ea typeface="Times New Roman"/>
                <a:cs typeface="Times New Roman" pitchFamily="18" charset="0"/>
              </a:rPr>
              <a:t>Abune</a:t>
            </a:r>
            <a:r>
              <a:rPr lang="en-GB" b="1" dirty="0" smtClean="0">
                <a:effectLst/>
                <a:latin typeface="Times New Roman" pitchFamily="18" charset="0"/>
                <a:ea typeface="Times New Roman"/>
                <a:cs typeface="Times New Roman" pitchFamily="18" charset="0"/>
              </a:rPr>
              <a:t> </a:t>
            </a:r>
            <a:r>
              <a:rPr lang="en-GB" b="1" dirty="0" err="1" smtClean="0">
                <a:effectLst/>
                <a:latin typeface="Times New Roman" pitchFamily="18" charset="0"/>
                <a:ea typeface="Times New Roman"/>
                <a:cs typeface="Times New Roman" pitchFamily="18" charset="0"/>
              </a:rPr>
              <a:t>Teklehaimanot</a:t>
            </a:r>
            <a:r>
              <a:rPr lang="en-GB" dirty="0" smtClean="0">
                <a:effectLst/>
                <a:latin typeface="Times New Roman" pitchFamily="18" charset="0"/>
                <a:ea typeface="Times New Roman"/>
                <a:cs typeface="Times New Roman" pitchFamily="18" charset="0"/>
              </a:rPr>
              <a:t>: Model of purity, asceticism, and healing</a:t>
            </a:r>
            <a:endParaRPr lang="en-GB" sz="2800" dirty="0">
              <a:latin typeface="Times New Roman" pitchFamily="18" charset="0"/>
              <a:ea typeface="Calibri"/>
              <a:cs typeface="Times New Roman" pitchFamily="18" charset="0"/>
            </a:endParaRPr>
          </a:p>
          <a:p>
            <a:pPr algn="just"/>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590136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85000" lnSpcReduction="10000"/>
          </a:bodyPr>
          <a:lstStyle/>
          <a:p>
            <a:pPr marL="0" indent="0">
              <a:lnSpc>
                <a:spcPct val="115000"/>
              </a:lnSpc>
              <a:spcAft>
                <a:spcPts val="1000"/>
              </a:spcAft>
              <a:buNone/>
            </a:pPr>
            <a:r>
              <a:rPr lang="en-GB" b="1" dirty="0" smtClean="0">
                <a:effectLst/>
                <a:latin typeface="Times New Roman"/>
                <a:ea typeface="Times New Roman"/>
                <a:cs typeface="Times New Roman"/>
              </a:rPr>
              <a:t>B. Unfaithful Priests</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b="1" dirty="0" err="1" smtClean="0">
                <a:effectLst/>
                <a:latin typeface="Times New Roman" pitchFamily="18" charset="0"/>
                <a:ea typeface="Times New Roman"/>
                <a:cs typeface="Times New Roman" pitchFamily="18" charset="0"/>
              </a:rPr>
              <a:t>Hophni</a:t>
            </a:r>
            <a:r>
              <a:rPr lang="en-GB" b="1" dirty="0" smtClean="0">
                <a:effectLst/>
                <a:latin typeface="Times New Roman" pitchFamily="18" charset="0"/>
                <a:ea typeface="Times New Roman"/>
                <a:cs typeface="Times New Roman" pitchFamily="18" charset="0"/>
              </a:rPr>
              <a:t> and </a:t>
            </a:r>
            <a:r>
              <a:rPr lang="en-GB" b="1" dirty="0" err="1" smtClean="0">
                <a:effectLst/>
                <a:latin typeface="Times New Roman" pitchFamily="18" charset="0"/>
                <a:ea typeface="Times New Roman"/>
                <a:cs typeface="Times New Roman" pitchFamily="18" charset="0"/>
              </a:rPr>
              <a:t>Phinehas</a:t>
            </a:r>
            <a:r>
              <a:rPr lang="en-GB" dirty="0" smtClean="0">
                <a:effectLst/>
                <a:latin typeface="Times New Roman" pitchFamily="18" charset="0"/>
                <a:ea typeface="Times New Roman"/>
                <a:cs typeface="Times New Roman" pitchFamily="18" charset="0"/>
              </a:rPr>
              <a:t> (1 Samuel 2) – Immoral, corrupt, punished by death</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b="1" dirty="0" smtClean="0">
                <a:effectLst/>
                <a:latin typeface="Times New Roman" pitchFamily="18" charset="0"/>
                <a:ea typeface="Times New Roman"/>
                <a:cs typeface="Times New Roman" pitchFamily="18" charset="0"/>
              </a:rPr>
              <a:t>Eli</a:t>
            </a:r>
            <a:r>
              <a:rPr lang="en-GB" dirty="0" smtClean="0">
                <a:effectLst/>
                <a:latin typeface="Times New Roman" pitchFamily="18" charset="0"/>
                <a:ea typeface="Times New Roman"/>
                <a:cs typeface="Times New Roman" pitchFamily="18" charset="0"/>
              </a:rPr>
              <a:t>: Failed to correct his sons</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b="1" dirty="0" smtClean="0">
                <a:effectLst/>
                <a:latin typeface="Times New Roman" pitchFamily="18" charset="0"/>
                <a:ea typeface="Times New Roman"/>
                <a:cs typeface="Times New Roman" pitchFamily="18" charset="0"/>
              </a:rPr>
              <a:t>Judas Iscariot</a:t>
            </a:r>
            <a:r>
              <a:rPr lang="en-GB" dirty="0" smtClean="0">
                <a:effectLst/>
                <a:latin typeface="Times New Roman" pitchFamily="18" charset="0"/>
                <a:ea typeface="Times New Roman"/>
                <a:cs typeface="Times New Roman" pitchFamily="18" charset="0"/>
              </a:rPr>
              <a:t>: Betrayed Christ despite being a chosen apostle</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b="1" dirty="0" smtClean="0">
                <a:effectLst/>
                <a:latin typeface="Times New Roman" pitchFamily="18" charset="0"/>
                <a:ea typeface="Times New Roman"/>
                <a:cs typeface="Times New Roman" pitchFamily="18" charset="0"/>
              </a:rPr>
              <a:t>Contemporary Examples</a:t>
            </a:r>
            <a:r>
              <a:rPr lang="en-GB" dirty="0" smtClean="0">
                <a:effectLst/>
                <a:latin typeface="Times New Roman" pitchFamily="18" charset="0"/>
                <a:ea typeface="Times New Roman"/>
                <a:cs typeface="Times New Roman" pitchFamily="18" charset="0"/>
              </a:rPr>
              <a:t>: Scandals harming Church reputation</a:t>
            </a:r>
            <a:endParaRPr lang="en-GB" sz="2800" dirty="0">
              <a:latin typeface="Times New Roman" pitchFamily="18" charset="0"/>
              <a:ea typeface="Calibri"/>
              <a:cs typeface="Times New Roman" pitchFamily="18" charset="0"/>
            </a:endParaRPr>
          </a:p>
          <a:p>
            <a:endParaRPr lang="en-GB" dirty="0"/>
          </a:p>
        </p:txBody>
      </p:sp>
    </p:spTree>
    <p:extLst>
      <p:ext uri="{BB962C8B-B14F-4D97-AF65-F5344CB8AC3E}">
        <p14:creationId xmlns:p14="http://schemas.microsoft.com/office/powerpoint/2010/main" val="933125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GB" sz="2800" b="1" dirty="0" smtClean="0">
                <a:effectLst/>
                <a:latin typeface="Times New Roman" pitchFamily="18" charset="0"/>
                <a:ea typeface="Times New Roman"/>
                <a:cs typeface="Times New Roman" pitchFamily="18" charset="0"/>
              </a:rPr>
              <a:t>5. Maintaining Holiness and Avoiding Corruption</a:t>
            </a:r>
            <a:r>
              <a:rPr lang="en-GB" sz="2800" dirty="0">
                <a:latin typeface="Times New Roman" pitchFamily="18" charset="0"/>
                <a:ea typeface="Calibri"/>
                <a:cs typeface="Times New Roman" pitchFamily="18" charset="0"/>
              </a:rPr>
              <a:t/>
            </a:r>
            <a:br>
              <a:rPr lang="en-GB" sz="2800" dirty="0">
                <a:latin typeface="Times New Roman" pitchFamily="18" charset="0"/>
                <a:ea typeface="Calibri"/>
                <a:cs typeface="Times New Roman" pitchFamily="18" charset="0"/>
              </a:rPr>
            </a:br>
            <a:endParaRPr lang="en-GB" sz="28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lgn="just">
              <a:lnSpc>
                <a:spcPct val="115000"/>
              </a:lnSpc>
              <a:spcAft>
                <a:spcPts val="1000"/>
              </a:spcAft>
              <a:buNone/>
            </a:pPr>
            <a:r>
              <a:rPr lang="en-GB" b="1" dirty="0" smtClean="0">
                <a:effectLst/>
                <a:latin typeface="Times New Roman"/>
                <a:ea typeface="Times New Roman"/>
                <a:cs typeface="Times New Roman"/>
              </a:rPr>
              <a:t>A. </a:t>
            </a:r>
            <a:r>
              <a:rPr lang="en-GB" b="1" dirty="0" smtClean="0">
                <a:effectLst/>
                <a:latin typeface="Times New Roman" pitchFamily="18" charset="0"/>
                <a:ea typeface="Times New Roman"/>
                <a:cs typeface="Times New Roman" pitchFamily="18" charset="0"/>
              </a:rPr>
              <a:t>Personal Discipline</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dirty="0" smtClean="0">
                <a:effectLst/>
                <a:latin typeface="Times New Roman" pitchFamily="18" charset="0"/>
                <a:ea typeface="Times New Roman"/>
                <a:cs typeface="Times New Roman" pitchFamily="18" charset="0"/>
              </a:rPr>
              <a:t>Daily prayer, confession, fasting, Bible reading</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dirty="0" smtClean="0">
                <a:effectLst/>
                <a:latin typeface="Times New Roman" pitchFamily="18" charset="0"/>
                <a:ea typeface="Times New Roman"/>
                <a:cs typeface="Times New Roman" pitchFamily="18" charset="0"/>
              </a:rPr>
              <a:t>Keeping the hours of prayer and living the liturgical calendar.</a:t>
            </a:r>
            <a:endParaRPr lang="en-GB" sz="28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dirty="0" smtClean="0">
                <a:effectLst/>
                <a:latin typeface="Times New Roman" pitchFamily="18" charset="0"/>
                <a:ea typeface="Times New Roman"/>
                <a:cs typeface="Times New Roman" pitchFamily="18" charset="0"/>
              </a:rPr>
              <a:t>Guarding the senses (St. </a:t>
            </a:r>
            <a:r>
              <a:rPr lang="en-GB" dirty="0" err="1" smtClean="0">
                <a:effectLst/>
                <a:latin typeface="Times New Roman" pitchFamily="18" charset="0"/>
                <a:ea typeface="Times New Roman"/>
                <a:cs typeface="Times New Roman" pitchFamily="18" charset="0"/>
              </a:rPr>
              <a:t>Ephrem</a:t>
            </a:r>
            <a:r>
              <a:rPr lang="en-GB" dirty="0" smtClean="0">
                <a:effectLst/>
                <a:latin typeface="Times New Roman" pitchFamily="18" charset="0"/>
                <a:ea typeface="Times New Roman"/>
                <a:cs typeface="Times New Roman" pitchFamily="18" charset="0"/>
              </a:rPr>
              <a:t>: “The eyes are windows of the soul”)</a:t>
            </a:r>
            <a:endParaRPr lang="en-GB" sz="2800" dirty="0">
              <a:latin typeface="Times New Roman" pitchFamily="18" charset="0"/>
              <a:ea typeface="Calibri"/>
              <a:cs typeface="Times New Roman" pitchFamily="18" charset="0"/>
            </a:endParaRPr>
          </a:p>
          <a:p>
            <a:endParaRPr lang="en-GB" dirty="0"/>
          </a:p>
        </p:txBody>
      </p:sp>
    </p:spTree>
    <p:extLst>
      <p:ext uri="{BB962C8B-B14F-4D97-AF65-F5344CB8AC3E}">
        <p14:creationId xmlns:p14="http://schemas.microsoft.com/office/powerpoint/2010/main" val="766611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pPr marL="0" indent="0" algn="just">
              <a:lnSpc>
                <a:spcPct val="115000"/>
              </a:lnSpc>
              <a:spcAft>
                <a:spcPts val="1000"/>
              </a:spcAft>
              <a:buNone/>
            </a:pPr>
            <a:r>
              <a:rPr lang="en-GB" sz="3100" b="1" dirty="0" smtClean="0">
                <a:effectLst/>
                <a:latin typeface="Times New Roman" pitchFamily="18" charset="0"/>
                <a:ea typeface="Times New Roman"/>
                <a:cs typeface="Times New Roman" pitchFamily="18" charset="0"/>
              </a:rPr>
              <a:t>B. Accountability and Brotherhood</a:t>
            </a:r>
            <a:endParaRPr lang="en-GB" sz="31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sz="3100" dirty="0" smtClean="0">
                <a:effectLst/>
                <a:latin typeface="Times New Roman" pitchFamily="18" charset="0"/>
                <a:ea typeface="Times New Roman"/>
                <a:cs typeface="Times New Roman" pitchFamily="18" charset="0"/>
              </a:rPr>
              <a:t>Spiritual father or confessor</a:t>
            </a:r>
            <a:endParaRPr lang="en-GB" sz="31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sz="3100" dirty="0" smtClean="0">
                <a:effectLst/>
                <a:latin typeface="Times New Roman" pitchFamily="18" charset="0"/>
                <a:ea typeface="Times New Roman"/>
                <a:cs typeface="Times New Roman" pitchFamily="18" charset="0"/>
              </a:rPr>
              <a:t>Regular retreats and </a:t>
            </a:r>
            <a:r>
              <a:rPr lang="en-GB" sz="3100" dirty="0" err="1" smtClean="0">
                <a:effectLst/>
                <a:latin typeface="Times New Roman" pitchFamily="18" charset="0"/>
                <a:ea typeface="Times New Roman"/>
                <a:cs typeface="Times New Roman" pitchFamily="18" charset="0"/>
              </a:rPr>
              <a:t>synodal</a:t>
            </a:r>
            <a:r>
              <a:rPr lang="en-GB" sz="3100" dirty="0" smtClean="0">
                <a:effectLst/>
                <a:latin typeface="Times New Roman" pitchFamily="18" charset="0"/>
                <a:ea typeface="Times New Roman"/>
                <a:cs typeface="Times New Roman" pitchFamily="18" charset="0"/>
              </a:rPr>
              <a:t> gatherings</a:t>
            </a:r>
            <a:endParaRPr lang="en-GB" sz="31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sz="3100" dirty="0" smtClean="0">
                <a:effectLst/>
                <a:latin typeface="Times New Roman" pitchFamily="18" charset="0"/>
                <a:ea typeface="Times New Roman"/>
                <a:cs typeface="Times New Roman" pitchFamily="18" charset="0"/>
              </a:rPr>
              <a:t>Sharing burdens with trusted priests</a:t>
            </a:r>
            <a:endParaRPr lang="en-GB" sz="3100" dirty="0">
              <a:latin typeface="Times New Roman" pitchFamily="18" charset="0"/>
              <a:ea typeface="Calibri"/>
              <a:cs typeface="Times New Roman" pitchFamily="18" charset="0"/>
            </a:endParaRPr>
          </a:p>
          <a:p>
            <a:pPr marL="0" indent="0" algn="just">
              <a:lnSpc>
                <a:spcPct val="115000"/>
              </a:lnSpc>
              <a:spcAft>
                <a:spcPts val="1000"/>
              </a:spcAft>
              <a:buNone/>
            </a:pPr>
            <a:r>
              <a:rPr lang="en-GB" sz="3100" b="1" dirty="0" smtClean="0">
                <a:effectLst/>
                <a:latin typeface="Times New Roman" pitchFamily="18" charset="0"/>
                <a:ea typeface="Times New Roman"/>
                <a:cs typeface="Times New Roman" pitchFamily="18" charset="0"/>
              </a:rPr>
              <a:t>C. Sacramental Faithfulness</a:t>
            </a:r>
            <a:endParaRPr lang="en-GB" sz="31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sz="3100" dirty="0" smtClean="0">
                <a:effectLst/>
                <a:latin typeface="Times New Roman" pitchFamily="18" charset="0"/>
                <a:ea typeface="Times New Roman"/>
                <a:cs typeface="Times New Roman" pitchFamily="18" charset="0"/>
              </a:rPr>
              <a:t>Regular and heartfelt participation in the Divine Liturgy</a:t>
            </a:r>
            <a:endParaRPr lang="en-GB" sz="31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sz="3100" dirty="0" smtClean="0">
                <a:effectLst/>
                <a:latin typeface="Times New Roman" pitchFamily="18" charset="0"/>
                <a:ea typeface="Times New Roman"/>
                <a:cs typeface="Times New Roman" pitchFamily="18" charset="0"/>
              </a:rPr>
              <a:t>Keeping the altar pure – physically and spiritually</a:t>
            </a:r>
            <a:endParaRPr lang="en-GB" sz="3100" dirty="0">
              <a:latin typeface="Times New Roman" pitchFamily="18" charset="0"/>
              <a:ea typeface="Calibri"/>
              <a:cs typeface="Times New Roman" pitchFamily="18" charset="0"/>
            </a:endParaRPr>
          </a:p>
          <a:p>
            <a:pPr lvl="0" algn="just">
              <a:lnSpc>
                <a:spcPct val="115000"/>
              </a:lnSpc>
              <a:spcAft>
                <a:spcPts val="1000"/>
              </a:spcAft>
              <a:buSzPts val="1000"/>
              <a:buFont typeface="Symbol"/>
              <a:buChar char=""/>
              <a:tabLst>
                <a:tab pos="457200" algn="l"/>
              </a:tabLst>
            </a:pPr>
            <a:r>
              <a:rPr lang="en-GB" sz="3100" dirty="0" smtClean="0">
                <a:effectLst/>
                <a:latin typeface="Times New Roman" pitchFamily="18" charset="0"/>
                <a:ea typeface="Times New Roman"/>
                <a:cs typeface="Times New Roman" pitchFamily="18" charset="0"/>
              </a:rPr>
              <a:t>Preaching only what the Church teaches</a:t>
            </a:r>
            <a:endParaRPr lang="en-GB" sz="3100" dirty="0">
              <a:latin typeface="Times New Roman" pitchFamily="18" charset="0"/>
              <a:ea typeface="Calibri"/>
              <a:cs typeface="Times New Roman" pitchFamily="18" charset="0"/>
            </a:endParaRPr>
          </a:p>
          <a:p>
            <a:endParaRPr lang="en-GB" dirty="0"/>
          </a:p>
        </p:txBody>
      </p:sp>
    </p:spTree>
    <p:extLst>
      <p:ext uri="{BB962C8B-B14F-4D97-AF65-F5344CB8AC3E}">
        <p14:creationId xmlns:p14="http://schemas.microsoft.com/office/powerpoint/2010/main" val="1039434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nSpc>
                <a:spcPct val="115000"/>
              </a:lnSpc>
              <a:spcAft>
                <a:spcPts val="1000"/>
              </a:spcAft>
            </a:pPr>
            <a:r>
              <a:rPr lang="en-GB" sz="3200" b="1" dirty="0" err="1">
                <a:solidFill>
                  <a:srgbClr val="1D1D1D"/>
                </a:solidFill>
                <a:latin typeface="Power Geez Unicode1"/>
                <a:ea typeface="Calibri"/>
                <a:cs typeface="Ebrima"/>
              </a:rPr>
              <a:t>የቀሳውስት</a:t>
            </a:r>
            <a:r>
              <a:rPr lang="en-GB" sz="3200" b="1" dirty="0">
                <a:solidFill>
                  <a:srgbClr val="1D1D1D"/>
                </a:solidFill>
                <a:latin typeface="Power Geez Unicode1"/>
                <a:ea typeface="Calibri"/>
                <a:cs typeface="Ebrima"/>
              </a:rPr>
              <a:t> </a:t>
            </a:r>
            <a:r>
              <a:rPr lang="en-GB" sz="3200" b="1" dirty="0" err="1">
                <a:solidFill>
                  <a:srgbClr val="1D1D1D"/>
                </a:solidFill>
                <a:latin typeface="Power Geez Unicode1"/>
                <a:ea typeface="Calibri"/>
                <a:cs typeface="Ebrima"/>
              </a:rPr>
              <a:t>ተግባርና</a:t>
            </a:r>
            <a:r>
              <a:rPr lang="en-GB" sz="3200" b="1" dirty="0">
                <a:solidFill>
                  <a:srgbClr val="1D1D1D"/>
                </a:solidFill>
                <a:latin typeface="Power Geez Unicode1"/>
                <a:ea typeface="Calibri"/>
                <a:cs typeface="Ebrima"/>
              </a:rPr>
              <a:t> </a:t>
            </a:r>
            <a:r>
              <a:rPr lang="en-GB" sz="3200" b="1" dirty="0" err="1">
                <a:solidFill>
                  <a:srgbClr val="1D1D1D"/>
                </a:solidFill>
                <a:latin typeface="Power Geez Unicode1"/>
                <a:ea typeface="Calibri"/>
                <a:cs typeface="Ebrima"/>
              </a:rPr>
              <a:t>ሥልጣን</a:t>
            </a:r>
            <a:r>
              <a:rPr lang="en-GB" sz="3200" dirty="0">
                <a:ea typeface="Calibri"/>
                <a:cs typeface="Times New Roman"/>
              </a:rPr>
              <a:t/>
            </a:r>
            <a:br>
              <a:rPr lang="en-GB" sz="3200" dirty="0">
                <a:ea typeface="Calibri"/>
                <a:cs typeface="Times New Roman"/>
              </a:rPr>
            </a:br>
            <a:endParaRPr lang="en-GB" sz="3200" dirty="0"/>
          </a:p>
        </p:txBody>
      </p:sp>
      <p:sp>
        <p:nvSpPr>
          <p:cNvPr id="3" name="Content Placeholder 2"/>
          <p:cNvSpPr>
            <a:spLocks noGrp="1"/>
          </p:cNvSpPr>
          <p:nvPr>
            <p:ph idx="1"/>
          </p:nvPr>
        </p:nvSpPr>
        <p:spPr/>
        <p:txBody>
          <a:bodyPr>
            <a:noAutofit/>
          </a:bodyPr>
          <a:lstStyle/>
          <a:p>
            <a:pPr marL="0" indent="0">
              <a:lnSpc>
                <a:spcPct val="115000"/>
              </a:lnSpc>
              <a:spcAft>
                <a:spcPts val="1000"/>
              </a:spcAft>
              <a:buNone/>
            </a:pPr>
            <a:r>
              <a:rPr lang="en-GB" sz="2400" dirty="0">
                <a:solidFill>
                  <a:srgbClr val="1D1D1D"/>
                </a:solidFill>
                <a:latin typeface="Power Geez Unicode1"/>
                <a:ea typeface="Calibri"/>
                <a:cs typeface="Ebrima"/>
              </a:rPr>
              <a:t>ሀ/ </a:t>
            </a:r>
            <a:r>
              <a:rPr lang="en-GB" sz="2400" dirty="0" err="1">
                <a:solidFill>
                  <a:srgbClr val="1D1D1D"/>
                </a:solidFill>
                <a:latin typeface="Power Geez Unicode1"/>
                <a:ea typeface="Calibri"/>
                <a:cs typeface="Ebrima"/>
              </a:rPr>
              <a:t>ቄስ</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መምህር</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ነው</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መምህርም</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እንደመሆኑ</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የቀናች</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ሃይማኖትን</a:t>
            </a:r>
            <a:r>
              <a:rPr lang="en-GB" sz="2400" dirty="0">
                <a:solidFill>
                  <a:srgbClr val="1D1D1D"/>
                </a:solidFill>
                <a:latin typeface="Power Geez Unicode1"/>
                <a:ea typeface="Calibri"/>
                <a:cs typeface="Ebrima"/>
              </a:rPr>
              <a:t> </a:t>
            </a:r>
            <a:r>
              <a:rPr lang="en-GB" sz="2400" dirty="0" err="1" smtClean="0">
                <a:solidFill>
                  <a:srgbClr val="1D1D1D"/>
                </a:solidFill>
                <a:latin typeface="Power Geez Unicode1"/>
                <a:ea typeface="Calibri"/>
                <a:cs typeface="Ebrima"/>
              </a:rPr>
              <a:t>ያስተምራል</a:t>
            </a:r>
            <a:r>
              <a:rPr lang="en-GB" sz="2400" dirty="0" smtClean="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ፍት</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መን</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አን</a:t>
            </a:r>
            <a:r>
              <a:rPr lang="en-GB" sz="2400" dirty="0">
                <a:solidFill>
                  <a:srgbClr val="1D1D1D"/>
                </a:solidFill>
                <a:latin typeface="Power Geez Unicode1"/>
                <a:ea typeface="Calibri"/>
                <a:cs typeface="Ebrima"/>
              </a:rPr>
              <a:t>. 6 </a:t>
            </a:r>
            <a:r>
              <a:rPr lang="en-GB" sz="2400" dirty="0" err="1">
                <a:solidFill>
                  <a:srgbClr val="1D1D1D"/>
                </a:solidFill>
                <a:latin typeface="Power Geez Unicode1"/>
                <a:ea typeface="Calibri"/>
                <a:cs typeface="Ebrima"/>
              </a:rPr>
              <a:t>ደስቅ</a:t>
            </a:r>
            <a:r>
              <a:rPr lang="en-GB" sz="2400" dirty="0">
                <a:solidFill>
                  <a:srgbClr val="1D1D1D"/>
                </a:solidFill>
                <a:latin typeface="Power Geez Unicode1"/>
                <a:ea typeface="Calibri"/>
                <a:cs typeface="Ebrima"/>
              </a:rPr>
              <a:t> 27</a:t>
            </a:r>
            <a:endParaRPr lang="en-GB" sz="2400" dirty="0">
              <a:ea typeface="Calibri"/>
              <a:cs typeface="Times New Roman"/>
            </a:endParaRPr>
          </a:p>
          <a:p>
            <a:pPr marL="0" indent="0">
              <a:buNone/>
            </a:pPr>
            <a:r>
              <a:rPr lang="en-GB" sz="2400" dirty="0">
                <a:solidFill>
                  <a:srgbClr val="1D1D1D"/>
                </a:solidFill>
                <a:latin typeface="Power Geez Unicode1"/>
                <a:ea typeface="Calibri"/>
                <a:cs typeface="Ebrima"/>
              </a:rPr>
              <a:t>ለ/ </a:t>
            </a:r>
            <a:r>
              <a:rPr lang="en-GB" sz="2400" dirty="0" err="1">
                <a:solidFill>
                  <a:srgbClr val="1D1D1D"/>
                </a:solidFill>
                <a:latin typeface="Power Geez Unicode1"/>
                <a:ea typeface="Calibri"/>
                <a:cs typeface="Ebrima"/>
              </a:rPr>
              <a:t>ቄስ</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ሥራው</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ማስተማር</a:t>
            </a:r>
            <a:r>
              <a:rPr lang="en-GB" sz="2400" dirty="0">
                <a:solidFill>
                  <a:srgbClr val="1D1D1D"/>
                </a:solidFill>
                <a:latin typeface="Visual Geez Unicode"/>
                <a:ea typeface="Calibri"/>
                <a:cs typeface="Ebrima"/>
              </a:rPr>
              <a:t>፣</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ማጥመቅ</a:t>
            </a:r>
            <a:r>
              <a:rPr lang="en-GB" sz="2400" dirty="0">
                <a:solidFill>
                  <a:srgbClr val="1D1D1D"/>
                </a:solidFill>
                <a:latin typeface="Visual Geez Unicode"/>
                <a:ea typeface="Calibri"/>
                <a:cs typeface="Ebrima"/>
              </a:rPr>
              <a:t>፣</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ቀድሶ</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ማቁረብ</a:t>
            </a:r>
            <a:r>
              <a:rPr lang="en-GB" sz="2400" dirty="0">
                <a:solidFill>
                  <a:srgbClr val="1D1D1D"/>
                </a:solidFill>
                <a:latin typeface="Visual Geez Unicode"/>
                <a:ea typeface="Calibri"/>
                <a:cs typeface="Ebrima"/>
              </a:rPr>
              <a:t>፣</a:t>
            </a:r>
            <a:r>
              <a:rPr lang="en-GB" sz="2400" dirty="0">
                <a:solidFill>
                  <a:srgbClr val="1D1D1D"/>
                </a:solidFill>
                <a:latin typeface="Power Geez Unicode1"/>
                <a:ea typeface="Calibri"/>
                <a:cs typeface="Ebrima"/>
              </a:rPr>
              <a:t> </a:t>
            </a:r>
            <a:r>
              <a:rPr lang="en-GB" sz="2400" dirty="0" err="1">
                <a:solidFill>
                  <a:srgbClr val="1D1D1D"/>
                </a:solidFill>
                <a:latin typeface="Power Geez Unicode1"/>
                <a:ea typeface="Calibri"/>
                <a:cs typeface="Ebrima"/>
              </a:rPr>
              <a:t>መባረክ</a:t>
            </a:r>
            <a:r>
              <a:rPr lang="en-GB" sz="2400" dirty="0">
                <a:solidFill>
                  <a:srgbClr val="1D1D1D"/>
                </a:solidFill>
                <a:latin typeface="Visual Geez Unicode"/>
                <a:ea typeface="Calibri"/>
                <a:cs typeface="Ebrima"/>
              </a:rPr>
              <a:t>፣</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ማሠርና</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መፍታት</a:t>
            </a:r>
            <a:r>
              <a:rPr lang="en-GB" sz="2400" dirty="0">
                <a:solidFill>
                  <a:srgbClr val="1D1D1D"/>
                </a:solidFill>
                <a:latin typeface="Visual Geez Unicode"/>
                <a:ea typeface="Calibri"/>
                <a:cs typeface="Ebrima"/>
              </a:rPr>
              <a:t>፣</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መናዘዝ</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ነው</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ፍት</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መን</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እን</a:t>
            </a:r>
            <a:r>
              <a:rPr lang="en-GB" sz="2400" dirty="0">
                <a:solidFill>
                  <a:srgbClr val="1D1D1D"/>
                </a:solidFill>
                <a:latin typeface="Power Geez Unicode1"/>
                <a:ea typeface="Calibri"/>
                <a:cs typeface="Helvetica"/>
              </a:rPr>
              <a:t>. 6 </a:t>
            </a:r>
            <a:r>
              <a:rPr lang="en-GB" sz="2400" dirty="0" err="1">
                <a:solidFill>
                  <a:srgbClr val="1D1D1D"/>
                </a:solidFill>
                <a:latin typeface="Power Geez Unicode1"/>
                <a:ea typeface="Calibri"/>
                <a:cs typeface="Ebrima"/>
              </a:rPr>
              <a:t>ክፍል</a:t>
            </a:r>
            <a:r>
              <a:rPr lang="en-GB" sz="2400" dirty="0">
                <a:solidFill>
                  <a:srgbClr val="1D1D1D"/>
                </a:solidFill>
                <a:latin typeface="Power Geez Unicode1"/>
                <a:ea typeface="Calibri"/>
                <a:cs typeface="Helvetica"/>
              </a:rPr>
              <a:t> 3/ </a:t>
            </a:r>
            <a:br>
              <a:rPr lang="en-GB" sz="2400" dirty="0">
                <a:solidFill>
                  <a:srgbClr val="1D1D1D"/>
                </a:solidFill>
                <a:latin typeface="Power Geez Unicode1"/>
                <a:ea typeface="Calibri"/>
                <a:cs typeface="Helvetica"/>
              </a:rPr>
            </a:br>
            <a:r>
              <a:rPr lang="en-GB" sz="2400" dirty="0">
                <a:solidFill>
                  <a:srgbClr val="1D1D1D"/>
                </a:solidFill>
                <a:latin typeface="Power Geez Unicode1"/>
                <a:ea typeface="Calibri"/>
                <a:cs typeface="Helvetica"/>
              </a:rPr>
              <a:t/>
            </a:r>
            <a:br>
              <a:rPr lang="en-GB" sz="2400" dirty="0">
                <a:solidFill>
                  <a:srgbClr val="1D1D1D"/>
                </a:solidFill>
                <a:latin typeface="Power Geez Unicode1"/>
                <a:ea typeface="Calibri"/>
                <a:cs typeface="Helvetica"/>
              </a:rPr>
            </a:br>
            <a:r>
              <a:rPr lang="en-GB" sz="2400" dirty="0">
                <a:solidFill>
                  <a:srgbClr val="1D1D1D"/>
                </a:solidFill>
                <a:latin typeface="Power Geez Unicode1"/>
                <a:ea typeface="Calibri"/>
                <a:cs typeface="Ebrima"/>
              </a:rPr>
              <a:t>ሐ</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ቄስ</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በአንብሮተ</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እድ</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ሕዝቡን</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ይባርካል</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ፍት</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መን</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አን</a:t>
            </a:r>
            <a:r>
              <a:rPr lang="en-GB" sz="2400" dirty="0">
                <a:solidFill>
                  <a:srgbClr val="1D1D1D"/>
                </a:solidFill>
                <a:latin typeface="Power Geez Unicode1"/>
                <a:ea typeface="Calibri"/>
                <a:cs typeface="Helvetica"/>
              </a:rPr>
              <a:t>. 6 </a:t>
            </a:r>
            <a:r>
              <a:rPr lang="en-GB" sz="2400" dirty="0" err="1">
                <a:solidFill>
                  <a:srgbClr val="1D1D1D"/>
                </a:solidFill>
                <a:latin typeface="Power Geez Unicode1"/>
                <a:ea typeface="Calibri"/>
                <a:cs typeface="Ebrima"/>
              </a:rPr>
              <a:t>ረስጣ</a:t>
            </a:r>
            <a:r>
              <a:rPr lang="en-GB" sz="2400" dirty="0">
                <a:solidFill>
                  <a:srgbClr val="1D1D1D"/>
                </a:solidFill>
                <a:latin typeface="Power Geez Unicode1"/>
                <a:ea typeface="Calibri"/>
                <a:cs typeface="Helvetica"/>
              </a:rPr>
              <a:t> 58/</a:t>
            </a:r>
            <a:br>
              <a:rPr lang="en-GB" sz="2400" dirty="0">
                <a:solidFill>
                  <a:srgbClr val="1D1D1D"/>
                </a:solidFill>
                <a:latin typeface="Power Geez Unicode1"/>
                <a:ea typeface="Calibri"/>
                <a:cs typeface="Helvetica"/>
              </a:rPr>
            </a:br>
            <a:r>
              <a:rPr lang="en-GB" sz="2400" dirty="0">
                <a:solidFill>
                  <a:srgbClr val="1D1D1D"/>
                </a:solidFill>
                <a:latin typeface="Power Geez Unicode1"/>
                <a:ea typeface="Calibri"/>
                <a:cs typeface="Helvetica"/>
              </a:rPr>
              <a:t/>
            </a:r>
            <a:br>
              <a:rPr lang="en-GB" sz="2400" dirty="0">
                <a:solidFill>
                  <a:srgbClr val="1D1D1D"/>
                </a:solidFill>
                <a:latin typeface="Power Geez Unicode1"/>
                <a:ea typeface="Calibri"/>
                <a:cs typeface="Helvetica"/>
              </a:rPr>
            </a:br>
            <a:r>
              <a:rPr lang="en-GB" sz="2400" dirty="0">
                <a:solidFill>
                  <a:srgbClr val="1D1D1D"/>
                </a:solidFill>
                <a:latin typeface="Power Geez Unicode1"/>
                <a:ea typeface="Calibri"/>
                <a:cs typeface="Ebrima"/>
              </a:rPr>
              <a:t>መ</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ቄስ</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ሥልጣነ</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ክህነት</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አይሾምም</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አይሽርም</a:t>
            </a:r>
            <a:r>
              <a:rPr lang="en-GB" sz="2400" dirty="0">
                <a:solidFill>
                  <a:srgbClr val="1D1D1D"/>
                </a:solidFill>
                <a:latin typeface="Power Geez Unicode1"/>
                <a:ea typeface="Calibri"/>
                <a:cs typeface="Ebrima"/>
              </a:rPr>
              <a:t>፡፡</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ፍት</a:t>
            </a:r>
            <a:r>
              <a:rPr lang="en-GB" sz="2400" dirty="0">
                <a:solidFill>
                  <a:srgbClr val="1D1D1D"/>
                </a:solidFill>
                <a:latin typeface="Power Geez Unicode1"/>
                <a:ea typeface="Calibri"/>
                <a:cs typeface="Helvetica"/>
              </a:rPr>
              <a:t>. </a:t>
            </a:r>
            <a:r>
              <a:rPr lang="en-GB" sz="2400" dirty="0" err="1">
                <a:solidFill>
                  <a:srgbClr val="1D1D1D"/>
                </a:solidFill>
                <a:latin typeface="Power Geez Unicode1"/>
                <a:ea typeface="Calibri"/>
                <a:cs typeface="Ebrima"/>
              </a:rPr>
              <a:t>መን</a:t>
            </a:r>
            <a:r>
              <a:rPr lang="en-GB" sz="2400" dirty="0">
                <a:solidFill>
                  <a:srgbClr val="1D1D1D"/>
                </a:solidFill>
                <a:latin typeface="Power Geez Unicode1"/>
                <a:ea typeface="Calibri"/>
                <a:cs typeface="Helvetica"/>
              </a:rPr>
              <a:t>. 6 </a:t>
            </a:r>
            <a:r>
              <a:rPr lang="en-GB" sz="2400" dirty="0" err="1">
                <a:solidFill>
                  <a:srgbClr val="1D1D1D"/>
                </a:solidFill>
                <a:latin typeface="Power Geez Unicode1"/>
                <a:ea typeface="Calibri"/>
                <a:cs typeface="Ebrima"/>
              </a:rPr>
              <a:t>ክፍል</a:t>
            </a:r>
            <a:r>
              <a:rPr lang="en-GB" sz="2400" dirty="0">
                <a:solidFill>
                  <a:srgbClr val="1D1D1D"/>
                </a:solidFill>
                <a:latin typeface="Power Geez Unicode1"/>
                <a:ea typeface="Calibri"/>
                <a:cs typeface="Helvetica"/>
              </a:rPr>
              <a:t> 3/</a:t>
            </a:r>
            <a:br>
              <a:rPr lang="en-GB" sz="2400" dirty="0">
                <a:solidFill>
                  <a:srgbClr val="1D1D1D"/>
                </a:solidFill>
                <a:latin typeface="Power Geez Unicode1"/>
                <a:ea typeface="Calibri"/>
                <a:cs typeface="Helvetica"/>
              </a:rPr>
            </a:br>
            <a:r>
              <a:rPr lang="en-GB" sz="2400" dirty="0">
                <a:solidFill>
                  <a:srgbClr val="1D1D1D"/>
                </a:solidFill>
                <a:latin typeface="Power Geez Unicode1"/>
                <a:ea typeface="Calibri"/>
                <a:cs typeface="Helvetica"/>
              </a:rPr>
              <a:t/>
            </a:r>
            <a:br>
              <a:rPr lang="en-GB" sz="2400" dirty="0">
                <a:solidFill>
                  <a:srgbClr val="1D1D1D"/>
                </a:solidFill>
                <a:latin typeface="Power Geez Unicode1"/>
                <a:ea typeface="Calibri"/>
                <a:cs typeface="Helvetica"/>
              </a:rPr>
            </a:br>
            <a:endParaRPr lang="en-GB" sz="2400" dirty="0"/>
          </a:p>
        </p:txBody>
      </p:sp>
    </p:spTree>
    <p:extLst>
      <p:ext uri="{BB962C8B-B14F-4D97-AF65-F5344CB8AC3E}">
        <p14:creationId xmlns:p14="http://schemas.microsoft.com/office/powerpoint/2010/main" val="1672980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err="1">
                <a:solidFill>
                  <a:srgbClr val="1D1D1D"/>
                </a:solidFill>
                <a:latin typeface="Power Geez Unicode1"/>
                <a:ea typeface="Calibri"/>
                <a:cs typeface="Ebrima"/>
              </a:rPr>
              <a:t>ትእዛዘ</a:t>
            </a:r>
            <a:r>
              <a:rPr lang="en-GB" b="1" dirty="0">
                <a:solidFill>
                  <a:srgbClr val="1D1D1D"/>
                </a:solidFill>
                <a:latin typeface="Power Geez Unicode1"/>
                <a:ea typeface="Calibri"/>
                <a:cs typeface="Helvetica"/>
              </a:rPr>
              <a:t> </a:t>
            </a:r>
            <a:r>
              <a:rPr lang="en-GB" b="1" dirty="0" err="1">
                <a:solidFill>
                  <a:srgbClr val="1D1D1D"/>
                </a:solidFill>
                <a:latin typeface="Power Geez Unicode1"/>
                <a:ea typeface="Calibri"/>
                <a:cs typeface="Ebrima"/>
              </a:rPr>
              <a:t>ቀሳውስት</a:t>
            </a:r>
            <a:r>
              <a:rPr lang="en-GB" b="1" dirty="0">
                <a:solidFill>
                  <a:srgbClr val="1D1D1D"/>
                </a:solidFill>
                <a:latin typeface="Power Geez Unicode1"/>
                <a:ea typeface="Calibri"/>
                <a:cs typeface="Helvetica"/>
              </a:rPr>
              <a:t/>
            </a:r>
            <a:br>
              <a:rPr lang="en-GB" b="1" dirty="0">
                <a:solidFill>
                  <a:srgbClr val="1D1D1D"/>
                </a:solidFill>
                <a:latin typeface="Power Geez Unicode1"/>
                <a:ea typeface="Calibri"/>
                <a:cs typeface="Helvetica"/>
              </a:rPr>
            </a:br>
            <a:endParaRPr lang="en-GB" dirty="0"/>
          </a:p>
        </p:txBody>
      </p:sp>
      <p:sp>
        <p:nvSpPr>
          <p:cNvPr id="3" name="Content Placeholder 2"/>
          <p:cNvSpPr>
            <a:spLocks noGrp="1"/>
          </p:cNvSpPr>
          <p:nvPr>
            <p:ph idx="1"/>
          </p:nvPr>
        </p:nvSpPr>
        <p:spPr/>
        <p:txBody>
          <a:bodyPr>
            <a:normAutofit fontScale="70000" lnSpcReduction="20000"/>
          </a:bodyPr>
          <a:lstStyle/>
          <a:p>
            <a:pPr marL="0" indent="0" algn="just">
              <a:buNone/>
            </a:pPr>
            <a:r>
              <a:rPr lang="en-GB" sz="3700" dirty="0">
                <a:solidFill>
                  <a:srgbClr val="1D1D1D"/>
                </a:solidFill>
                <a:latin typeface="Power Geez Unicode1"/>
                <a:ea typeface="Calibri"/>
                <a:cs typeface="Ebrima"/>
              </a:rPr>
              <a:t>ሀ</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ቄስ</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ምእመናንን</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መጠበቅና</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ሲታመሙ</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መጠየቅ</a:t>
            </a:r>
            <a:r>
              <a:rPr lang="en-GB" sz="3700" dirty="0">
                <a:solidFill>
                  <a:srgbClr val="1D1D1D"/>
                </a:solidFill>
                <a:latin typeface="Visual Geez Unicode"/>
                <a:ea typeface="Calibri"/>
                <a:cs typeface="Helvetica"/>
              </a:rPr>
              <a:t>፣</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በትምህርት</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ማጽናት</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እንደሚገባው</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ታዟል</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እውነተኛ</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ፍርድ</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መፍረድ</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ይገባዋል</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ፍት</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መን</a:t>
            </a:r>
            <a:r>
              <a:rPr lang="en-GB" sz="3700" dirty="0">
                <a:solidFill>
                  <a:srgbClr val="1D1D1D"/>
                </a:solidFill>
                <a:latin typeface="Power Geez Unicode1"/>
                <a:ea typeface="Calibri"/>
                <a:cs typeface="Helvetica"/>
              </a:rPr>
              <a:t>. 6 </a:t>
            </a:r>
            <a:r>
              <a:rPr lang="en-GB" sz="3700" dirty="0" err="1">
                <a:solidFill>
                  <a:srgbClr val="1D1D1D"/>
                </a:solidFill>
                <a:latin typeface="Power Geez Unicode1"/>
                <a:ea typeface="Calibri"/>
                <a:cs typeface="Ebrima"/>
              </a:rPr>
              <a:t>ክፍል</a:t>
            </a:r>
            <a:r>
              <a:rPr lang="en-GB" sz="3700" dirty="0">
                <a:solidFill>
                  <a:srgbClr val="1D1D1D"/>
                </a:solidFill>
                <a:latin typeface="Power Geez Unicode1"/>
                <a:ea typeface="Calibri"/>
                <a:cs typeface="Helvetica"/>
              </a:rPr>
              <a:t> 4/ </a:t>
            </a:r>
            <a:endParaRPr lang="en-GB" sz="3700" dirty="0" smtClean="0">
              <a:solidFill>
                <a:srgbClr val="1D1D1D"/>
              </a:solidFill>
              <a:latin typeface="Power Geez Unicode1"/>
              <a:ea typeface="Calibri"/>
              <a:cs typeface="Helvetica"/>
            </a:endParaRPr>
          </a:p>
          <a:p>
            <a:pPr marL="0" indent="0" algn="just">
              <a:buNone/>
            </a:pPr>
            <a:r>
              <a:rPr lang="en-GB" sz="3700" dirty="0">
                <a:solidFill>
                  <a:srgbClr val="1D1D1D"/>
                </a:solidFill>
                <a:latin typeface="Power Geez Unicode1"/>
                <a:ea typeface="Calibri"/>
                <a:cs typeface="Helvetica"/>
              </a:rPr>
              <a:t/>
            </a:r>
            <a:br>
              <a:rPr lang="en-GB" sz="3700" dirty="0">
                <a:solidFill>
                  <a:srgbClr val="1D1D1D"/>
                </a:solidFill>
                <a:latin typeface="Power Geez Unicode1"/>
                <a:ea typeface="Calibri"/>
                <a:cs typeface="Helvetica"/>
              </a:rPr>
            </a:br>
            <a:r>
              <a:rPr lang="en-GB" sz="3700" dirty="0">
                <a:solidFill>
                  <a:srgbClr val="1D1D1D"/>
                </a:solidFill>
                <a:latin typeface="Power Geez Unicode1"/>
                <a:ea typeface="Calibri"/>
                <a:cs typeface="Ebrima"/>
              </a:rPr>
              <a:t>ለ</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በመሠዊያው</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ቀኝ</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የሚቆሙ</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ቀሳውስት</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ካህናቱን</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ያስተናብራሉ</a:t>
            </a:r>
            <a:r>
              <a:rPr lang="en-GB" sz="3700" dirty="0">
                <a:solidFill>
                  <a:srgbClr val="1D1D1D"/>
                </a:solidFill>
                <a:latin typeface="Visual Geez Unicode"/>
                <a:ea typeface="Calibri"/>
                <a:cs typeface="Helvetica"/>
              </a:rPr>
              <a:t>፣</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ሥጋ</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ወደሙ</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የሚቀበሉትን</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በየተራቸው</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እንዲቀበሉ</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ይቈጣጠራሉ</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በግራ</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የሚቆሙ</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ቀሳውስት</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ሕዝቡን</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ያስተናብራሉ</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ወቀሳውስት</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እለ</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ውስተ</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የማን</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ያስተሐምሙ</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ለረድኤት</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በውስተ</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ምሥዋዕ</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ከመ</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ያክብርዎ</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ለዘይደልዎ</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ክብር</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ወይመንንዎ</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ለዘይደልዎ</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ምናኔ</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ወቀሳውስትሰ</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እለ</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ውስተ</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ጸጋም</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ያስተሐምሙ</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በእንተ</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ጉባኤ</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ከመ</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ይኩኑ</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ንጹዓነ</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ፍት</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መን</a:t>
            </a:r>
            <a:r>
              <a:rPr lang="en-GB" sz="3700" dirty="0">
                <a:solidFill>
                  <a:srgbClr val="1D1D1D"/>
                </a:solidFill>
                <a:latin typeface="Power Geez Unicode1"/>
                <a:ea typeface="Calibri"/>
                <a:cs typeface="Helvetica"/>
              </a:rPr>
              <a:t>. </a:t>
            </a:r>
            <a:r>
              <a:rPr lang="en-GB" sz="3700" dirty="0" err="1">
                <a:solidFill>
                  <a:srgbClr val="1D1D1D"/>
                </a:solidFill>
                <a:latin typeface="Power Geez Unicode1"/>
                <a:ea typeface="Calibri"/>
                <a:cs typeface="Ebrima"/>
              </a:rPr>
              <a:t>አን</a:t>
            </a:r>
            <a:r>
              <a:rPr lang="en-GB" sz="3700" dirty="0">
                <a:solidFill>
                  <a:srgbClr val="1D1D1D"/>
                </a:solidFill>
                <a:latin typeface="Power Geez Unicode1"/>
                <a:ea typeface="Calibri"/>
                <a:cs typeface="Helvetica"/>
              </a:rPr>
              <a:t>. 6 </a:t>
            </a:r>
            <a:r>
              <a:rPr lang="en-GB" sz="3700" dirty="0" err="1">
                <a:solidFill>
                  <a:srgbClr val="1D1D1D"/>
                </a:solidFill>
                <a:latin typeface="Power Geez Unicode1"/>
                <a:ea typeface="Calibri"/>
                <a:cs typeface="Ebrima"/>
              </a:rPr>
              <a:t>ክፍል</a:t>
            </a:r>
            <a:r>
              <a:rPr lang="en-GB" sz="3700" dirty="0">
                <a:solidFill>
                  <a:srgbClr val="1D1D1D"/>
                </a:solidFill>
                <a:latin typeface="Power Geez Unicode1"/>
                <a:ea typeface="Calibri"/>
                <a:cs typeface="Helvetica"/>
              </a:rPr>
              <a:t> 4/ </a:t>
            </a:r>
            <a:br>
              <a:rPr lang="en-GB" sz="3700" dirty="0">
                <a:solidFill>
                  <a:srgbClr val="1D1D1D"/>
                </a:solidFill>
                <a:latin typeface="Power Geez Unicode1"/>
                <a:ea typeface="Calibri"/>
                <a:cs typeface="Helvetica"/>
              </a:rPr>
            </a:br>
            <a:r>
              <a:rPr lang="en-GB" dirty="0">
                <a:solidFill>
                  <a:srgbClr val="1D1D1D"/>
                </a:solidFill>
                <a:latin typeface="Power Geez Unicode1"/>
                <a:ea typeface="Calibri"/>
                <a:cs typeface="Helvetica"/>
              </a:rPr>
              <a:t/>
            </a:r>
            <a:br>
              <a:rPr lang="en-GB" dirty="0">
                <a:solidFill>
                  <a:srgbClr val="1D1D1D"/>
                </a:solidFill>
                <a:latin typeface="Power Geez Unicode1"/>
                <a:ea typeface="Calibri"/>
                <a:cs typeface="Helvetica"/>
              </a:rPr>
            </a:br>
            <a:endParaRPr lang="en-GB" dirty="0"/>
          </a:p>
        </p:txBody>
      </p:sp>
    </p:spTree>
    <p:extLst>
      <p:ext uri="{BB962C8B-B14F-4D97-AF65-F5344CB8AC3E}">
        <p14:creationId xmlns:p14="http://schemas.microsoft.com/office/powerpoint/2010/main" val="2631594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pPr marL="0" indent="0" algn="just">
              <a:buNone/>
            </a:pPr>
            <a:r>
              <a:rPr lang="en-GB" sz="3300" dirty="0">
                <a:solidFill>
                  <a:srgbClr val="1D1D1D"/>
                </a:solidFill>
                <a:latin typeface="Power Geez Unicode1"/>
                <a:ea typeface="Calibri"/>
                <a:cs typeface="Ebrima"/>
              </a:rPr>
              <a:t>ሐ</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ቀሳውስት</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ሐዋርያት</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ከሠሩት</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ሥርዓት</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ዉጭ</a:t>
            </a:r>
            <a:r>
              <a:rPr lang="en-GB" sz="3300" dirty="0">
                <a:solidFill>
                  <a:srgbClr val="1D1D1D"/>
                </a:solidFill>
                <a:latin typeface="Power Geez Unicode1"/>
                <a:ea typeface="Calibri"/>
                <a:cs typeface="Ebrima"/>
              </a:rPr>
              <a:t> </a:t>
            </a:r>
            <a:r>
              <a:rPr lang="en-GB" sz="3300" dirty="0" err="1">
                <a:solidFill>
                  <a:srgbClr val="1D1D1D"/>
                </a:solidFill>
                <a:latin typeface="Power Geez Unicode1"/>
                <a:ea typeface="Calibri"/>
                <a:cs typeface="Ebrima"/>
              </a:rPr>
              <a:t>ትእዛዝ</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በማክበድ</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ሕዝቡን</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እንዳያስጨንቁ</a:t>
            </a:r>
            <a:r>
              <a:rPr lang="en-GB" sz="3300" dirty="0">
                <a:solidFill>
                  <a:srgbClr val="1D1D1D"/>
                </a:solidFill>
                <a:latin typeface="Power Geez Unicode1"/>
                <a:ea typeface="Calibri"/>
                <a:cs typeface="Ebrima"/>
              </a:rPr>
              <a:t> </a:t>
            </a:r>
            <a:r>
              <a:rPr lang="en-GB" sz="3300" dirty="0" err="1">
                <a:solidFill>
                  <a:srgbClr val="1D1D1D"/>
                </a:solidFill>
                <a:latin typeface="Power Geez Unicode1"/>
                <a:ea typeface="Calibri"/>
                <a:cs typeface="Ebrima"/>
              </a:rPr>
              <a:t>ታዘዋል</a:t>
            </a:r>
            <a:r>
              <a:rPr lang="en-GB" sz="3300" dirty="0">
                <a:solidFill>
                  <a:srgbClr val="1D1D1D"/>
                </a:solidFill>
                <a:latin typeface="Power Geez Unicode1"/>
                <a:ea typeface="Calibri"/>
                <a:cs typeface="Ebrima"/>
              </a:rPr>
              <a:t>፡፡ </a:t>
            </a:r>
            <a:r>
              <a:rPr lang="en-GB" sz="3300" dirty="0" err="1">
                <a:solidFill>
                  <a:srgbClr val="1D1D1D"/>
                </a:solidFill>
                <a:latin typeface="Power Geez Unicode1"/>
                <a:ea typeface="Calibri"/>
                <a:cs typeface="Ebrima"/>
              </a:rPr>
              <a:t>ወኢይወስክ</a:t>
            </a:r>
            <a:r>
              <a:rPr lang="en-GB" sz="3300" dirty="0">
                <a:solidFill>
                  <a:srgbClr val="1D1D1D"/>
                </a:solidFill>
                <a:latin typeface="Power Geez Unicode1"/>
                <a:ea typeface="Calibri"/>
                <a:cs typeface="Ebrima"/>
              </a:rPr>
              <a:t> </a:t>
            </a:r>
            <a:r>
              <a:rPr lang="en-GB" sz="3300" dirty="0" err="1">
                <a:solidFill>
                  <a:srgbClr val="1D1D1D"/>
                </a:solidFill>
                <a:latin typeface="Power Geez Unicode1"/>
                <a:ea typeface="Calibri"/>
                <a:cs typeface="Ebrima"/>
              </a:rPr>
              <a:t>አሐዱ</a:t>
            </a:r>
            <a:r>
              <a:rPr lang="en-GB" sz="3300" dirty="0">
                <a:solidFill>
                  <a:srgbClr val="1D1D1D"/>
                </a:solidFill>
                <a:latin typeface="Power Geez Unicode1"/>
                <a:ea typeface="Calibri"/>
                <a:cs typeface="Ebrima"/>
              </a:rPr>
              <a:t> </a:t>
            </a:r>
            <a:r>
              <a:rPr lang="en-GB" sz="3300" dirty="0" err="1">
                <a:solidFill>
                  <a:srgbClr val="1D1D1D"/>
                </a:solidFill>
                <a:latin typeface="Power Geez Unicode1"/>
                <a:ea typeface="Calibri"/>
                <a:cs typeface="Ebrima"/>
              </a:rPr>
              <a:t>እምቀሳውስት</a:t>
            </a:r>
            <a:r>
              <a:rPr lang="en-GB" sz="3300" dirty="0">
                <a:solidFill>
                  <a:srgbClr val="1D1D1D"/>
                </a:solidFill>
                <a:latin typeface="Power Geez Unicode1"/>
                <a:ea typeface="Calibri"/>
                <a:cs typeface="Ebrima"/>
              </a:rPr>
              <a:t> </a:t>
            </a:r>
            <a:r>
              <a:rPr lang="en-GB" sz="3300" dirty="0" err="1">
                <a:solidFill>
                  <a:srgbClr val="1D1D1D"/>
                </a:solidFill>
                <a:latin typeface="Power Geez Unicode1"/>
                <a:ea typeface="Calibri"/>
                <a:cs typeface="Ebrima"/>
              </a:rPr>
              <a:t>ምንተኒ</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ክበደ</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ውጹአ</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እምቀኖና</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አበዊነ</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ሐዋርያት</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ፍት</a:t>
            </a:r>
            <a:r>
              <a:rPr lang="en-GB" sz="3300" dirty="0">
                <a:solidFill>
                  <a:srgbClr val="1D1D1D"/>
                </a:solidFill>
                <a:latin typeface="Power Geez Unicode1"/>
                <a:ea typeface="Calibri"/>
                <a:cs typeface="Helvetica"/>
              </a:rPr>
              <a:t>. </a:t>
            </a:r>
            <a:r>
              <a:rPr lang="en-GB" sz="3300" dirty="0" err="1">
                <a:solidFill>
                  <a:srgbClr val="1D1D1D"/>
                </a:solidFill>
                <a:latin typeface="Power Geez Unicode1"/>
                <a:ea typeface="Calibri"/>
                <a:cs typeface="Ebrima"/>
              </a:rPr>
              <a:t>መን</a:t>
            </a:r>
            <a:r>
              <a:rPr lang="en-GB" sz="3300" dirty="0">
                <a:solidFill>
                  <a:srgbClr val="1D1D1D"/>
                </a:solidFill>
                <a:latin typeface="Power Geez Unicode1"/>
                <a:ea typeface="Calibri"/>
                <a:cs typeface="Helvetica"/>
              </a:rPr>
              <a:t>. 6/ </a:t>
            </a:r>
            <a:endParaRPr lang="en-GB" sz="3300" dirty="0" smtClean="0">
              <a:solidFill>
                <a:srgbClr val="1D1D1D"/>
              </a:solidFill>
              <a:latin typeface="Power Geez Unicode1"/>
              <a:ea typeface="Calibri"/>
              <a:cs typeface="Helvetica"/>
            </a:endParaRPr>
          </a:p>
          <a:p>
            <a:pPr marL="0" indent="0" algn="just">
              <a:buNone/>
            </a:pPr>
            <a:r>
              <a:rPr lang="en-GB" sz="2400" dirty="0">
                <a:solidFill>
                  <a:srgbClr val="1D1D1D"/>
                </a:solidFill>
                <a:latin typeface="Power Geez Unicode1"/>
                <a:ea typeface="Calibri"/>
                <a:cs typeface="Helvetica"/>
              </a:rPr>
              <a:t/>
            </a:r>
            <a:br>
              <a:rPr lang="en-GB" sz="2400" dirty="0">
                <a:solidFill>
                  <a:srgbClr val="1D1D1D"/>
                </a:solidFill>
                <a:latin typeface="Power Geez Unicode1"/>
                <a:ea typeface="Calibri"/>
                <a:cs typeface="Helvetica"/>
              </a:rPr>
            </a:br>
            <a:r>
              <a:rPr lang="en-GB" dirty="0" smtClean="0">
                <a:solidFill>
                  <a:srgbClr val="1D1D1D"/>
                </a:solidFill>
                <a:latin typeface="Power Geez Unicode1"/>
                <a:ea typeface="Calibri"/>
                <a:cs typeface="Ebrima"/>
              </a:rPr>
              <a:t>መ</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ቄስ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ታሞ</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በሚመረመርበት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Helvetica"/>
              </a:rPr>
              <a:t>ወይም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በሚታከምበት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ጊዜ</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ካልሆነ</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በስተቀር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በማንም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ጊዜ</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ፈጽሞ</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ዕርቃኑን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ሊጥልና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ሊጋለጥ</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አይገባውም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ወኢይትዓረቅ</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ቀሲስ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ግሙራ</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ቅድ</a:t>
            </a:r>
            <a:r>
              <a:rPr lang="en-GB" dirty="0" err="1">
                <a:solidFill>
                  <a:srgbClr val="1D1D1D"/>
                </a:solidFill>
                <a:latin typeface="Power Geez Unicode1"/>
                <a:ea typeface="Calibri"/>
                <a:cs typeface="Helvetica"/>
              </a:rPr>
              <a:t>መ</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Helvetica"/>
              </a:rPr>
              <a:t>መኑሂ</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እምሰብእ</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ዘእንበለ</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በጊዜ</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ዐጸባ</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ፍት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መን</a:t>
            </a:r>
            <a:r>
              <a:rPr lang="en-GB" dirty="0">
                <a:solidFill>
                  <a:srgbClr val="1D1D1D"/>
                </a:solidFill>
                <a:latin typeface="Power Geez Unicode1"/>
                <a:ea typeface="Calibri"/>
                <a:cs typeface="Helvetica"/>
              </a:rPr>
              <a:t>. </a:t>
            </a:r>
            <a:r>
              <a:rPr lang="en-GB" dirty="0">
                <a:solidFill>
                  <a:srgbClr val="1D1D1D"/>
                </a:solidFill>
                <a:latin typeface="Power Geez Unicode1"/>
                <a:ea typeface="Calibri"/>
                <a:cs typeface="Ebrima"/>
              </a:rPr>
              <a:t>አን</a:t>
            </a:r>
            <a:r>
              <a:rPr lang="en-GB" dirty="0">
                <a:solidFill>
                  <a:srgbClr val="1D1D1D"/>
                </a:solidFill>
                <a:latin typeface="Power Geez Unicode1"/>
                <a:ea typeface="Calibri"/>
                <a:cs typeface="Helvetica"/>
              </a:rPr>
              <a:t>.6 </a:t>
            </a:r>
            <a:br>
              <a:rPr lang="en-GB" dirty="0">
                <a:solidFill>
                  <a:srgbClr val="1D1D1D"/>
                </a:solidFill>
                <a:latin typeface="Power Geez Unicode1"/>
                <a:ea typeface="Calibri"/>
                <a:cs typeface="Helvetica"/>
              </a:rPr>
            </a:br>
            <a:r>
              <a:rPr lang="en-GB" dirty="0">
                <a:solidFill>
                  <a:srgbClr val="1D1D1D"/>
                </a:solidFill>
                <a:latin typeface="Power Geez Unicode1"/>
                <a:ea typeface="Calibri"/>
                <a:cs typeface="Helvetica"/>
              </a:rPr>
              <a:t/>
            </a:r>
            <a:br>
              <a:rPr lang="en-GB" dirty="0">
                <a:solidFill>
                  <a:srgbClr val="1D1D1D"/>
                </a:solidFill>
                <a:latin typeface="Power Geez Unicode1"/>
                <a:ea typeface="Calibri"/>
                <a:cs typeface="Helvetica"/>
              </a:rPr>
            </a:br>
            <a:r>
              <a:rPr lang="en-GB" dirty="0" smtClean="0">
                <a:solidFill>
                  <a:srgbClr val="1D1D1D"/>
                </a:solidFill>
                <a:latin typeface="Power Geez Unicode1"/>
                <a:ea typeface="Calibri"/>
                <a:cs typeface="Ebrima"/>
              </a:rPr>
              <a:t>ሠ</a:t>
            </a:r>
            <a:r>
              <a:rPr lang="en-GB" dirty="0" smtClean="0">
                <a:solidFill>
                  <a:srgbClr val="1D1D1D"/>
                </a:solidFill>
                <a:latin typeface="Power Geez Unicode1"/>
                <a:ea typeface="Calibri"/>
                <a:cs typeface="Helvetica"/>
              </a:rPr>
              <a:t>/</a:t>
            </a:r>
            <a:r>
              <a:rPr lang="en-GB" dirty="0" err="1" smtClean="0">
                <a:solidFill>
                  <a:srgbClr val="1D1D1D"/>
                </a:solidFill>
                <a:latin typeface="Power Geez Unicode1"/>
                <a:ea typeface="Calibri"/>
                <a:cs typeface="Ebrima"/>
              </a:rPr>
              <a:t>ካህናት</a:t>
            </a:r>
            <a:r>
              <a:rPr lang="en-GB" dirty="0" smtClean="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የራስ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ጠጉራቸውን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ማሳደግና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ማጎፈር</a:t>
            </a:r>
            <a:r>
              <a:rPr lang="en-GB" dirty="0">
                <a:solidFill>
                  <a:srgbClr val="1D1D1D"/>
                </a:solidFill>
                <a:latin typeface="Power Geez Unicode1"/>
                <a:ea typeface="Calibri"/>
                <a:cs typeface="Ebrima"/>
              </a:rPr>
              <a:t> </a:t>
            </a:r>
            <a:r>
              <a:rPr lang="en-GB" dirty="0" err="1">
                <a:solidFill>
                  <a:srgbClr val="1D1D1D"/>
                </a:solidFill>
                <a:latin typeface="Power Geez Unicode1"/>
                <a:ea typeface="Calibri"/>
                <a:cs typeface="Ebrima"/>
              </a:rPr>
              <a:t>አይገባቸውም</a:t>
            </a:r>
            <a:r>
              <a:rPr lang="en-GB" dirty="0">
                <a:solidFill>
                  <a:srgbClr val="1D1D1D"/>
                </a:solidFill>
                <a:latin typeface="Power Geez Unicode1"/>
                <a:ea typeface="Calibri"/>
                <a:cs typeface="Helvetica"/>
              </a:rPr>
              <a:t>፡፡</a:t>
            </a:r>
            <a:br>
              <a:rPr lang="en-GB" dirty="0">
                <a:solidFill>
                  <a:srgbClr val="1D1D1D"/>
                </a:solidFill>
                <a:latin typeface="Power Geez Unicode1"/>
                <a:ea typeface="Calibri"/>
                <a:cs typeface="Helvetica"/>
              </a:rPr>
            </a:br>
            <a:r>
              <a:rPr lang="en-GB" dirty="0">
                <a:solidFill>
                  <a:srgbClr val="1D1D1D"/>
                </a:solidFill>
                <a:latin typeface="Power Geez Unicode1"/>
                <a:ea typeface="Calibri"/>
                <a:cs typeface="Helvetica"/>
              </a:rPr>
              <a:t/>
            </a:r>
            <a:br>
              <a:rPr lang="en-GB" dirty="0">
                <a:solidFill>
                  <a:srgbClr val="1D1D1D"/>
                </a:solidFill>
                <a:latin typeface="Power Geez Unicode1"/>
                <a:ea typeface="Calibri"/>
                <a:cs typeface="Helvetica"/>
              </a:rPr>
            </a:br>
            <a:endParaRPr lang="en-GB" dirty="0"/>
          </a:p>
        </p:txBody>
      </p:sp>
    </p:spTree>
    <p:extLst>
      <p:ext uri="{BB962C8B-B14F-4D97-AF65-F5344CB8AC3E}">
        <p14:creationId xmlns:p14="http://schemas.microsoft.com/office/powerpoint/2010/main" val="1158740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000" b="1" dirty="0" err="1">
                <a:solidFill>
                  <a:srgbClr val="1D1D1D"/>
                </a:solidFill>
                <a:latin typeface="Power Geez Unicode1"/>
                <a:ea typeface="Calibri"/>
                <a:cs typeface="Ebrima"/>
              </a:rPr>
              <a:t>ቀሳውስት</a:t>
            </a:r>
            <a:r>
              <a:rPr lang="en-GB" sz="2000" b="1" dirty="0">
                <a:solidFill>
                  <a:srgbClr val="1D1D1D"/>
                </a:solidFill>
                <a:latin typeface="Power Geez Unicode1"/>
                <a:ea typeface="Calibri"/>
                <a:cs typeface="Helvetica"/>
              </a:rPr>
              <a:t> </a:t>
            </a:r>
            <a:r>
              <a:rPr lang="en-GB" sz="2000" b="1" dirty="0" err="1">
                <a:solidFill>
                  <a:srgbClr val="1D1D1D"/>
                </a:solidFill>
                <a:latin typeface="Power Geez Unicode1"/>
                <a:ea typeface="Calibri"/>
                <a:cs typeface="Ebrima"/>
              </a:rPr>
              <a:t>ከሹመት</a:t>
            </a:r>
            <a:r>
              <a:rPr lang="en-GB" sz="2000" b="1" dirty="0">
                <a:solidFill>
                  <a:srgbClr val="1D1D1D"/>
                </a:solidFill>
                <a:latin typeface="Power Geez Unicode1"/>
                <a:ea typeface="Calibri"/>
                <a:cs typeface="Helvetica"/>
              </a:rPr>
              <a:t> </a:t>
            </a:r>
            <a:r>
              <a:rPr lang="en-GB" sz="2000" b="1" dirty="0" err="1">
                <a:solidFill>
                  <a:srgbClr val="1D1D1D"/>
                </a:solidFill>
                <a:latin typeface="Power Geez Unicode1"/>
                <a:ea typeface="Calibri"/>
                <a:cs typeface="Ebrima"/>
              </a:rPr>
              <a:t>የሚሻሩበት</a:t>
            </a:r>
            <a:r>
              <a:rPr lang="en-GB" sz="2000" b="1" dirty="0">
                <a:solidFill>
                  <a:srgbClr val="1D1D1D"/>
                </a:solidFill>
                <a:latin typeface="Power Geez Unicode1"/>
                <a:ea typeface="Calibri"/>
                <a:cs typeface="Helvetica"/>
              </a:rPr>
              <a:t> </a:t>
            </a:r>
            <a:r>
              <a:rPr lang="en-GB" sz="2000" b="1" dirty="0" err="1">
                <a:solidFill>
                  <a:srgbClr val="1D1D1D"/>
                </a:solidFill>
                <a:latin typeface="Power Geez Unicode1"/>
                <a:ea typeface="Calibri"/>
                <a:cs typeface="Ebrima"/>
              </a:rPr>
              <a:t>ሥርዓት</a:t>
            </a:r>
            <a:r>
              <a:rPr lang="en-GB" sz="2000" b="1" dirty="0">
                <a:solidFill>
                  <a:srgbClr val="1D1D1D"/>
                </a:solidFill>
                <a:latin typeface="Power Geez Unicode1"/>
                <a:ea typeface="Calibri"/>
                <a:cs typeface="Helvetica"/>
              </a:rPr>
              <a:t/>
            </a:r>
            <a:br>
              <a:rPr lang="en-GB" sz="2000" b="1" dirty="0">
                <a:solidFill>
                  <a:srgbClr val="1D1D1D"/>
                </a:solidFill>
                <a:latin typeface="Power Geez Unicode1"/>
                <a:ea typeface="Calibri"/>
                <a:cs typeface="Helvetica"/>
              </a:rPr>
            </a:br>
            <a:r>
              <a:rPr lang="en-GB" sz="2000" dirty="0">
                <a:solidFill>
                  <a:srgbClr val="1D1D1D"/>
                </a:solidFill>
                <a:latin typeface="Power Geez Unicode1"/>
                <a:ea typeface="Calibri"/>
                <a:cs typeface="Helvetica"/>
              </a:rPr>
              <a:t/>
            </a:r>
            <a:br>
              <a:rPr lang="en-GB" sz="2000" dirty="0">
                <a:solidFill>
                  <a:srgbClr val="1D1D1D"/>
                </a:solidFill>
                <a:latin typeface="Power Geez Unicode1"/>
                <a:ea typeface="Calibri"/>
                <a:cs typeface="Helvetica"/>
              </a:rPr>
            </a:br>
            <a:endParaRPr lang="en-GB" sz="2000"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GB" dirty="0">
                <a:solidFill>
                  <a:srgbClr val="1D1D1D"/>
                </a:solidFill>
                <a:latin typeface="Power Geez Unicode1"/>
                <a:ea typeface="Calibri"/>
                <a:cs typeface="Ebrima"/>
              </a:rPr>
              <a:t>ሀ</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በሥርዓተ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ቤተ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ክርስቲያን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ሊጠብቀው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የታዝዘውን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የማይጠብቅ</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እንዳይሠራው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የተከለከለውን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የሚሠራ</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በሥርዓተ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ቤተ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ክርስቲያን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ሕዝቡን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የማያስተምርና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የማይመራ</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ቄስ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ቢኖር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ከክህነቱ</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ይሻራል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ፍት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አን</a:t>
            </a:r>
            <a:r>
              <a:rPr lang="en-GB" dirty="0">
                <a:solidFill>
                  <a:srgbClr val="1D1D1D"/>
                </a:solidFill>
                <a:latin typeface="Power Geez Unicode1"/>
                <a:ea typeface="Calibri"/>
                <a:cs typeface="Helvetica"/>
              </a:rPr>
              <a:t>. 6 </a:t>
            </a:r>
            <a:r>
              <a:rPr lang="en-GB" dirty="0" err="1">
                <a:solidFill>
                  <a:srgbClr val="1D1D1D"/>
                </a:solidFill>
                <a:latin typeface="Power Geez Unicode1"/>
                <a:ea typeface="Calibri"/>
                <a:cs typeface="Ebrima"/>
              </a:rPr>
              <a:t>ክፍል</a:t>
            </a:r>
            <a:r>
              <a:rPr lang="en-GB" dirty="0">
                <a:solidFill>
                  <a:srgbClr val="1D1D1D"/>
                </a:solidFill>
                <a:latin typeface="Power Geez Unicode1"/>
                <a:ea typeface="Calibri"/>
                <a:cs typeface="Helvetica"/>
              </a:rPr>
              <a:t> 5/ </a:t>
            </a:r>
            <a:br>
              <a:rPr lang="en-GB" dirty="0">
                <a:solidFill>
                  <a:srgbClr val="1D1D1D"/>
                </a:solidFill>
                <a:latin typeface="Power Geez Unicode1"/>
                <a:ea typeface="Calibri"/>
                <a:cs typeface="Helvetica"/>
              </a:rPr>
            </a:br>
            <a:r>
              <a:rPr lang="en-GB" dirty="0">
                <a:solidFill>
                  <a:srgbClr val="1D1D1D"/>
                </a:solidFill>
                <a:latin typeface="Power Geez Unicode1"/>
                <a:ea typeface="Calibri"/>
                <a:cs typeface="Helvetica"/>
              </a:rPr>
              <a:t/>
            </a:r>
            <a:br>
              <a:rPr lang="en-GB" dirty="0">
                <a:solidFill>
                  <a:srgbClr val="1D1D1D"/>
                </a:solidFill>
                <a:latin typeface="Power Geez Unicode1"/>
                <a:ea typeface="Calibri"/>
                <a:cs typeface="Helvetica"/>
              </a:rPr>
            </a:br>
            <a:r>
              <a:rPr lang="en-GB" dirty="0">
                <a:solidFill>
                  <a:srgbClr val="1D1D1D"/>
                </a:solidFill>
                <a:latin typeface="Power Geez Unicode1"/>
                <a:ea typeface="Calibri"/>
                <a:cs typeface="Ebrima"/>
              </a:rPr>
              <a:t>ለ</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ሁለት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ጊዜ</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የተሾመ</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ሁለት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ጊዜ</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ያገባ</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ወይም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ሁለት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ሚስት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ያለው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ሕዝቡን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የማያስተምር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የተቸገሩትን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ካህናት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የማይረዳ</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ጉቦ</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ሰጥቶ</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የተሾመ</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የኃጢአተኛውን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ንስሐ</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የማይቀበል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በሐሰት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የሚመሰክር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ሰውን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የሚያጣላ</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የሚኮራ</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የክፋትን</a:t>
            </a:r>
            <a:r>
              <a:rPr lang="en-GB" dirty="0">
                <a:solidFill>
                  <a:srgbClr val="1D1D1D"/>
                </a:solidFill>
                <a:latin typeface="Power Geez Unicode1"/>
                <a:ea typeface="Calibri"/>
                <a:cs typeface="Ebrima"/>
              </a:rPr>
              <a:t> </a:t>
            </a:r>
            <a:r>
              <a:rPr lang="en-GB" dirty="0" err="1">
                <a:solidFill>
                  <a:srgbClr val="1D1D1D"/>
                </a:solidFill>
                <a:latin typeface="Power Geez Unicode1"/>
                <a:ea typeface="Calibri"/>
                <a:cs typeface="Ebrima"/>
              </a:rPr>
              <a:t>ሥራ</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የሚሠራ</a:t>
            </a:r>
            <a:r>
              <a:rPr lang="en-GB" dirty="0">
                <a:solidFill>
                  <a:srgbClr val="1D1D1D"/>
                </a:solidFill>
                <a:latin typeface="Power Geez Unicode1"/>
                <a:ea typeface="Calibri"/>
                <a:cs typeface="Helvetica"/>
              </a:rPr>
              <a:t>፣ </a:t>
            </a:r>
            <a:endParaRPr lang="en-GB" dirty="0"/>
          </a:p>
        </p:txBody>
      </p:sp>
    </p:spTree>
    <p:extLst>
      <p:ext uri="{BB962C8B-B14F-4D97-AF65-F5344CB8AC3E}">
        <p14:creationId xmlns:p14="http://schemas.microsoft.com/office/powerpoint/2010/main" val="2168307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85000" lnSpcReduction="20000"/>
          </a:bodyPr>
          <a:lstStyle/>
          <a:p>
            <a:pPr algn="just"/>
            <a:r>
              <a:rPr lang="en-GB" dirty="0" err="1">
                <a:solidFill>
                  <a:srgbClr val="1D1D1D"/>
                </a:solidFill>
                <a:latin typeface="Power Geez Unicode1"/>
                <a:ea typeface="Calibri"/>
                <a:cs typeface="Ebrima"/>
              </a:rPr>
              <a:t>የሚሰክር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ኮከብ</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የሚቆጥር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አራጣ</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ወለድ</a:t>
            </a:r>
            <a:r>
              <a:rPr lang="en-GB" dirty="0">
                <a:solidFill>
                  <a:srgbClr val="1D1D1D"/>
                </a:solidFill>
                <a:latin typeface="Power Geez Unicode1"/>
                <a:ea typeface="Calibri"/>
                <a:cs typeface="Helvetica"/>
              </a:rPr>
              <a:t>/</a:t>
            </a:r>
            <a:r>
              <a:rPr lang="en-GB" dirty="0" err="1">
                <a:solidFill>
                  <a:srgbClr val="1D1D1D"/>
                </a:solidFill>
                <a:latin typeface="Power Geez Unicode1"/>
                <a:ea typeface="Calibri"/>
                <a:cs typeface="Ebrima"/>
              </a:rPr>
              <a:t>የሚቀበል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በሐሰት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የሚምል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የጠንቋዮችን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ነገር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እውነት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ነው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ብሎ</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የሚቀበል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ከሴሰኛ</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ሴት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የደረሰ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ሥር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የማሰ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ቅጠል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የበጠሰ</a:t>
            </a:r>
            <a:r>
              <a:rPr lang="en-GB" dirty="0">
                <a:solidFill>
                  <a:srgbClr val="1D1D1D"/>
                </a:solidFill>
                <a:latin typeface="Power Geez Unicode1"/>
                <a:ea typeface="Calibri"/>
                <a:cs typeface="Ebrima"/>
              </a:rPr>
              <a:t>፣</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ሰውን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የሚማታ</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ከመናፍቃን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የተጠመቀ</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የሰረቀ</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የመናፍቃንን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ቁርባን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የተቀበለ</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አብሮአቸው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የጸለየ</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ዐባለ</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ዘሩን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የሰለበ</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ሲሰስን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በሐሰት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ሲምል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የተገኘ</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በገበያ</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መካከል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የሚበላ</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በመሸታ</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ቤት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ገብቶ</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የሚጠጣ</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የበከተውንና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የአውሬውን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ትራፊ</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የሚበላ</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ከአይሁድ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ምኩራብ</a:t>
            </a:r>
            <a:r>
              <a:rPr lang="en-GB" dirty="0">
                <a:solidFill>
                  <a:srgbClr val="1D1D1D"/>
                </a:solidFill>
                <a:latin typeface="Power Geez Unicode1"/>
                <a:ea typeface="Calibri"/>
                <a:cs typeface="Ebrima"/>
              </a:rPr>
              <a:t> </a:t>
            </a:r>
            <a:r>
              <a:rPr lang="en-GB" dirty="0" err="1">
                <a:solidFill>
                  <a:srgbClr val="1D1D1D"/>
                </a:solidFill>
                <a:latin typeface="Power Geez Unicode1"/>
                <a:ea typeface="Calibri"/>
                <a:cs typeface="Ebrima"/>
              </a:rPr>
              <a:t>እና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ከዐላውያን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ቤተ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ክርስቲያን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የሚገባ</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የአይሁድን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Helvetica"/>
              </a:rPr>
              <a:t>ጾም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የሚጾም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በዓላቸውን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የሚያከብር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የበዓላቸውን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እጅ</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መንሻ</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የሚቀበል</a:t>
            </a:r>
            <a:r>
              <a:rPr lang="en-GB" dirty="0">
                <a:solidFill>
                  <a:srgbClr val="1D1D1D"/>
                </a:solidFill>
                <a:latin typeface="Power Geez Unicode1"/>
                <a:ea typeface="Calibri"/>
                <a:cs typeface="Helvetica"/>
              </a:rPr>
              <a:t>፣ </a:t>
            </a:r>
            <a:endParaRPr lang="en-GB" dirty="0"/>
          </a:p>
        </p:txBody>
      </p:sp>
    </p:spTree>
    <p:extLst>
      <p:ext uri="{BB962C8B-B14F-4D97-AF65-F5344CB8AC3E}">
        <p14:creationId xmlns:p14="http://schemas.microsoft.com/office/powerpoint/2010/main" val="2702098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just">
              <a:buNone/>
            </a:pPr>
            <a:r>
              <a:rPr lang="en-GB" dirty="0" err="1">
                <a:solidFill>
                  <a:srgbClr val="1D1D1D"/>
                </a:solidFill>
                <a:latin typeface="Power Geez Unicode1"/>
                <a:ea typeface="Calibri"/>
                <a:cs typeface="Ebrima"/>
              </a:rPr>
              <a:t>ሃይማኖታቸውን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ወደለወጡ</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ሰዎች</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ቤተ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ክርስቲያን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እጅ</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መንሻ</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የሚወስድ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ከተወገዘ</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ሰው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ጋር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የተነጋገረ</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አብሮት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የጸለየ</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የኤጲስ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ቆጶሱን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ደብዳቤ</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ሳይዝ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ሩቅ</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አገር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የሄደ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በአገልግሎት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ምክንያት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ሚስቱን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የተለየና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የፈታ</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እመነኩሳለሁ</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ተባሕትዎ</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እይዛለሁ</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ብሎ</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ሚስቱን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የተወ</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ያሰናበተ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ካህን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ከሹመቱ</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ይሻራል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ፍት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ነገ</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አን</a:t>
            </a:r>
            <a:r>
              <a:rPr lang="en-GB" dirty="0">
                <a:solidFill>
                  <a:srgbClr val="1D1D1D"/>
                </a:solidFill>
                <a:latin typeface="Power Geez Unicode1"/>
                <a:ea typeface="Calibri"/>
                <a:cs typeface="Helvetica"/>
              </a:rPr>
              <a:t>. 6 </a:t>
            </a:r>
            <a:r>
              <a:rPr lang="en-GB" dirty="0" err="1">
                <a:solidFill>
                  <a:srgbClr val="1D1D1D"/>
                </a:solidFill>
                <a:latin typeface="Power Geez Unicode1"/>
                <a:ea typeface="Calibri"/>
                <a:cs typeface="Ebrima"/>
              </a:rPr>
              <a:t>ክፍ</a:t>
            </a:r>
            <a:r>
              <a:rPr lang="en-GB" dirty="0">
                <a:solidFill>
                  <a:srgbClr val="1D1D1D"/>
                </a:solidFill>
                <a:latin typeface="Power Geez Unicode1"/>
                <a:ea typeface="Calibri"/>
                <a:cs typeface="Helvetica"/>
              </a:rPr>
              <a:t>. 5 </a:t>
            </a:r>
            <a:r>
              <a:rPr lang="en-GB" dirty="0">
                <a:solidFill>
                  <a:srgbClr val="1D1D1D"/>
                </a:solidFill>
                <a:latin typeface="Power Geez Unicode1"/>
                <a:ea typeface="Calibri"/>
                <a:cs typeface="Ebrima"/>
              </a:rPr>
              <a:t>፤</a:t>
            </a:r>
            <a:r>
              <a:rPr lang="en-GB" dirty="0">
                <a:solidFill>
                  <a:srgbClr val="1D1D1D"/>
                </a:solidFill>
                <a:latin typeface="Power Geez Unicode1"/>
                <a:ea typeface="Calibri"/>
                <a:cs typeface="Helvetica"/>
              </a:rPr>
              <a:t> 2</a:t>
            </a:r>
            <a:r>
              <a:rPr lang="en-GB" dirty="0">
                <a:solidFill>
                  <a:srgbClr val="1D1D1D"/>
                </a:solidFill>
                <a:latin typeface="Power Geez Unicode1"/>
                <a:ea typeface="Calibri"/>
                <a:cs typeface="Ebrima"/>
              </a:rPr>
              <a:t>ቀሌ</a:t>
            </a:r>
            <a:r>
              <a:rPr lang="en-GB" dirty="0">
                <a:solidFill>
                  <a:srgbClr val="1D1D1D"/>
                </a:solidFill>
                <a:latin typeface="Power Geez Unicode1"/>
                <a:ea typeface="Calibri"/>
                <a:cs typeface="Helvetica"/>
              </a:rPr>
              <a:t> 3 </a:t>
            </a:r>
            <a:r>
              <a:rPr lang="en-GB" dirty="0">
                <a:solidFill>
                  <a:srgbClr val="1D1D1D"/>
                </a:solidFill>
                <a:latin typeface="Power Geez Unicode1"/>
                <a:ea typeface="Calibri"/>
                <a:cs typeface="Ebrima"/>
              </a:rPr>
              <a:t>፥</a:t>
            </a:r>
            <a:r>
              <a:rPr lang="en-GB" dirty="0">
                <a:solidFill>
                  <a:srgbClr val="1D1D1D"/>
                </a:solidFill>
                <a:latin typeface="Power Geez Unicode1"/>
                <a:ea typeface="Calibri"/>
                <a:cs typeface="Helvetica"/>
              </a:rPr>
              <a:t> 3</a:t>
            </a:r>
            <a:r>
              <a:rPr lang="en-GB" dirty="0">
                <a:solidFill>
                  <a:srgbClr val="1D1D1D"/>
                </a:solidFill>
                <a:latin typeface="Power Geez Unicode1"/>
                <a:ea typeface="Calibri"/>
                <a:cs typeface="Ebrima"/>
              </a:rPr>
              <a:t>ቀሌ</a:t>
            </a:r>
            <a:r>
              <a:rPr lang="en-GB" dirty="0">
                <a:solidFill>
                  <a:srgbClr val="1D1D1D"/>
                </a:solidFill>
                <a:latin typeface="Power Geez Unicode1"/>
                <a:ea typeface="Calibri"/>
                <a:cs typeface="Helvetica"/>
              </a:rPr>
              <a:t> 5/ </a:t>
            </a:r>
            <a:br>
              <a:rPr lang="en-GB" dirty="0">
                <a:solidFill>
                  <a:srgbClr val="1D1D1D"/>
                </a:solidFill>
                <a:latin typeface="Power Geez Unicode1"/>
                <a:ea typeface="Calibri"/>
                <a:cs typeface="Helvetica"/>
              </a:rPr>
            </a:br>
            <a:endParaRPr lang="en-GB" dirty="0"/>
          </a:p>
        </p:txBody>
      </p:sp>
    </p:spTree>
    <p:extLst>
      <p:ext uri="{BB962C8B-B14F-4D97-AF65-F5344CB8AC3E}">
        <p14:creationId xmlns:p14="http://schemas.microsoft.com/office/powerpoint/2010/main" val="2125532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20000"/>
          </a:bodyPr>
          <a:lstStyle/>
          <a:p>
            <a:pPr marL="0" indent="0">
              <a:buNone/>
            </a:pPr>
            <a:r>
              <a:rPr lang="en-GB" dirty="0">
                <a:solidFill>
                  <a:srgbClr val="1D1D1D"/>
                </a:solidFill>
                <a:latin typeface="Power Geez Unicode1"/>
                <a:ea typeface="Calibri"/>
                <a:cs typeface="Ebrima"/>
              </a:rPr>
              <a:t>ሐ</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ቄስም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ሆነ</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ዲያቆን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ከሹመቱ</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በኃጢአት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ከተሻረ</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በኋላ</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ደፍሮ</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ለአገልግሎት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ቢገባ</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ከቤተ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ክርስቲያን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ተወግዞ</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ከምእመናን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ይለያል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a:t>
            </a:r>
            <a:r>
              <a:rPr lang="en-GB" dirty="0" err="1">
                <a:solidFill>
                  <a:srgbClr val="1D1D1D"/>
                </a:solidFill>
                <a:latin typeface="Power Geez Unicode1"/>
                <a:ea typeface="SimSun"/>
                <a:cs typeface="SimSun"/>
              </a:rPr>
              <a:t>ያወቁ</a:t>
            </a:r>
            <a:r>
              <a:rPr lang="en-GB" dirty="0">
                <a:solidFill>
                  <a:srgbClr val="1D1D1D"/>
                </a:solidFill>
                <a:latin typeface="Power Geez Unicode1"/>
                <a:ea typeface="SimSun"/>
                <a:cs typeface="SimSun"/>
              </a:rPr>
              <a:t> </a:t>
            </a:r>
            <a:r>
              <a:rPr lang="en-GB" dirty="0" err="1">
                <a:solidFill>
                  <a:srgbClr val="1D1D1D"/>
                </a:solidFill>
                <a:latin typeface="Power Geez Unicode1"/>
                <a:ea typeface="Calibri"/>
                <a:cs typeface="Ebrima"/>
              </a:rPr>
              <a:t>በዚህ</a:t>
            </a:r>
            <a:r>
              <a:rPr lang="en-GB" dirty="0">
                <a:solidFill>
                  <a:srgbClr val="1D1D1D"/>
                </a:solidFill>
                <a:latin typeface="Power Geez Unicode1"/>
                <a:ea typeface="Calibri"/>
                <a:cs typeface="Ebrima"/>
              </a:rPr>
              <a:t> </a:t>
            </a:r>
            <a:r>
              <a:rPr lang="en-GB" dirty="0" err="1">
                <a:solidFill>
                  <a:srgbClr val="1D1D1D"/>
                </a:solidFill>
                <a:latin typeface="Power Geez Unicode1"/>
                <a:ea typeface="Calibri"/>
                <a:cs typeface="Ebrima"/>
              </a:rPr>
              <a:t>ድፍረቱ</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የተባበሩት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ሁሉ</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ከምእመናን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ይለያሉ</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Helvetica"/>
              </a:rPr>
              <a:t>ፍት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Helvetica"/>
              </a:rPr>
              <a:t>መን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Helvetica"/>
              </a:rPr>
              <a:t>አን</a:t>
            </a:r>
            <a:r>
              <a:rPr lang="en-GB" dirty="0">
                <a:solidFill>
                  <a:srgbClr val="1D1D1D"/>
                </a:solidFill>
                <a:latin typeface="Power Geez Unicode1"/>
                <a:ea typeface="Calibri"/>
                <a:cs typeface="Helvetica"/>
              </a:rPr>
              <a:t>. 6</a:t>
            </a:r>
            <a:br>
              <a:rPr lang="en-GB" dirty="0">
                <a:solidFill>
                  <a:srgbClr val="1D1D1D"/>
                </a:solidFill>
                <a:latin typeface="Power Geez Unicode1"/>
                <a:ea typeface="Calibri"/>
                <a:cs typeface="Helvetica"/>
              </a:rPr>
            </a:br>
            <a:r>
              <a:rPr lang="en-GB" dirty="0">
                <a:solidFill>
                  <a:srgbClr val="1D1D1D"/>
                </a:solidFill>
                <a:latin typeface="Power Geez Unicode1"/>
                <a:ea typeface="Calibri"/>
                <a:cs typeface="Helvetica"/>
              </a:rPr>
              <a:t/>
            </a:r>
            <a:br>
              <a:rPr lang="en-GB" dirty="0">
                <a:solidFill>
                  <a:srgbClr val="1D1D1D"/>
                </a:solidFill>
                <a:latin typeface="Power Geez Unicode1"/>
                <a:ea typeface="Calibri"/>
                <a:cs typeface="Helvetica"/>
              </a:rPr>
            </a:br>
            <a:r>
              <a:rPr lang="en-GB" dirty="0">
                <a:solidFill>
                  <a:srgbClr val="1D1D1D"/>
                </a:solidFill>
                <a:latin typeface="Power Geez Unicode1"/>
                <a:ea typeface="Calibri"/>
                <a:cs typeface="Ebrima"/>
              </a:rPr>
              <a:t>መ</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ቄስ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ወይም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ዲያቆን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በሀገሩ</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የተሾመውን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ኤጲስ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ቆጶስ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ንቆ</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አቃሎ</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ለብቻው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ቤተ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ክርስቲያን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ከሠራ</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ኤጲስ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ቆጶሱ</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እስከ</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ሦስት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ጊዜ</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ጠርቶት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ካልመጣ</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እሱና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የመሳሰሉት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ከሹመታቸው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ይሽራሉ</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ፍት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መን</a:t>
            </a:r>
            <a:r>
              <a:rPr lang="en-GB" dirty="0">
                <a:solidFill>
                  <a:srgbClr val="1D1D1D"/>
                </a:solidFill>
                <a:latin typeface="Power Geez Unicode1"/>
                <a:ea typeface="Calibri"/>
                <a:cs typeface="Helvetica"/>
              </a:rPr>
              <a:t>. 6 </a:t>
            </a:r>
            <a:r>
              <a:rPr lang="en-GB" dirty="0">
                <a:solidFill>
                  <a:srgbClr val="1D1D1D"/>
                </a:solidFill>
                <a:latin typeface="Power Geez Unicode1"/>
                <a:ea typeface="Calibri"/>
                <a:cs typeface="Ebrima"/>
              </a:rPr>
              <a:t>፣</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ረስጠብ</a:t>
            </a:r>
            <a:r>
              <a:rPr lang="en-GB" dirty="0">
                <a:solidFill>
                  <a:srgbClr val="1D1D1D"/>
                </a:solidFill>
                <a:latin typeface="Power Geez Unicode1"/>
                <a:ea typeface="Calibri"/>
                <a:cs typeface="Helvetica"/>
              </a:rPr>
              <a:t> (2</a:t>
            </a:r>
            <a:r>
              <a:rPr lang="en-GB" dirty="0">
                <a:solidFill>
                  <a:srgbClr val="1D1D1D"/>
                </a:solidFill>
                <a:latin typeface="Power Geez Unicode1"/>
                <a:ea typeface="Calibri"/>
                <a:cs typeface="Ebrima"/>
              </a:rPr>
              <a:t>ቀሌ</a:t>
            </a:r>
            <a:r>
              <a:rPr lang="en-GB" dirty="0">
                <a:solidFill>
                  <a:srgbClr val="1D1D1D"/>
                </a:solidFill>
                <a:latin typeface="Power Geez Unicode1"/>
                <a:ea typeface="Calibri"/>
                <a:cs typeface="Helvetica"/>
              </a:rPr>
              <a:t>) 22/ </a:t>
            </a:r>
            <a:br>
              <a:rPr lang="en-GB" dirty="0">
                <a:solidFill>
                  <a:srgbClr val="1D1D1D"/>
                </a:solidFill>
                <a:latin typeface="Power Geez Unicode1"/>
                <a:ea typeface="Calibri"/>
                <a:cs typeface="Helvetica"/>
              </a:rPr>
            </a:br>
            <a:endParaRPr lang="en-GB" dirty="0"/>
          </a:p>
        </p:txBody>
      </p:sp>
    </p:spTree>
    <p:extLst>
      <p:ext uri="{BB962C8B-B14F-4D97-AF65-F5344CB8AC3E}">
        <p14:creationId xmlns:p14="http://schemas.microsoft.com/office/powerpoint/2010/main" val="3051926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Autofit/>
          </a:bodyPr>
          <a:lstStyle/>
          <a:p>
            <a:pPr marL="0" indent="0">
              <a:lnSpc>
                <a:spcPct val="115000"/>
              </a:lnSpc>
              <a:spcAft>
                <a:spcPts val="1000"/>
              </a:spcAft>
              <a:buNone/>
            </a:pPr>
            <a:r>
              <a:rPr lang="en-GB" sz="2300" dirty="0">
                <a:solidFill>
                  <a:srgbClr val="1D1D1D"/>
                </a:solidFill>
                <a:latin typeface="Power Geez Unicode1"/>
                <a:ea typeface="Calibri"/>
                <a:cs typeface="Ebrima"/>
              </a:rPr>
              <a:t>ሠ</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ቄስ</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ያለበትን</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ቤተ</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ክርስቲያን</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ትቶ</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ወደ</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ሌላ</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ቤተ</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ክርስቲያን</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Helvetica"/>
              </a:rPr>
              <a:t>ከሄደ</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እንዲመለስ</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ተነግሮት</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ካልተመለሰ</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ከሹመቱ</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ይሻራል</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ፍት</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ነገ</a:t>
            </a:r>
            <a:r>
              <a:rPr lang="en-GB" sz="2300" dirty="0">
                <a:solidFill>
                  <a:srgbClr val="1D1D1D"/>
                </a:solidFill>
                <a:latin typeface="Power Geez Unicode1"/>
                <a:ea typeface="Calibri"/>
                <a:cs typeface="Helvetica"/>
              </a:rPr>
              <a:t>. 6 </a:t>
            </a:r>
            <a:r>
              <a:rPr lang="en-GB" sz="2300" dirty="0">
                <a:solidFill>
                  <a:srgbClr val="1D1D1D"/>
                </a:solidFill>
                <a:latin typeface="Power Geez Unicode1"/>
                <a:ea typeface="Calibri"/>
                <a:cs typeface="Ebrima"/>
              </a:rPr>
              <a:t>፥</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ረስጠብ</a:t>
            </a:r>
            <a:r>
              <a:rPr lang="en-GB" sz="2300" dirty="0">
                <a:solidFill>
                  <a:srgbClr val="1D1D1D"/>
                </a:solidFill>
                <a:latin typeface="Power Geez Unicode1"/>
                <a:ea typeface="Calibri"/>
                <a:cs typeface="Helvetica"/>
              </a:rPr>
              <a:t> (1</a:t>
            </a:r>
            <a:r>
              <a:rPr lang="en-GB" sz="2300" dirty="0">
                <a:solidFill>
                  <a:srgbClr val="1D1D1D"/>
                </a:solidFill>
                <a:latin typeface="Power Geez Unicode1"/>
                <a:ea typeface="Calibri"/>
                <a:cs typeface="Ebrima"/>
              </a:rPr>
              <a:t>ቀሌ</a:t>
            </a:r>
            <a:r>
              <a:rPr lang="en-GB" sz="2300" dirty="0">
                <a:solidFill>
                  <a:srgbClr val="1D1D1D"/>
                </a:solidFill>
                <a:latin typeface="Power Geez Unicode1"/>
                <a:ea typeface="Calibri"/>
                <a:cs typeface="Helvetica"/>
              </a:rPr>
              <a:t>) 14 </a:t>
            </a:r>
            <a:br>
              <a:rPr lang="en-GB" sz="2300" dirty="0">
                <a:solidFill>
                  <a:srgbClr val="1D1D1D"/>
                </a:solidFill>
                <a:latin typeface="Power Geez Unicode1"/>
                <a:ea typeface="Calibri"/>
                <a:cs typeface="Helvetica"/>
              </a:rPr>
            </a:br>
            <a:r>
              <a:rPr lang="en-GB" sz="2300" dirty="0">
                <a:solidFill>
                  <a:srgbClr val="1D1D1D"/>
                </a:solidFill>
                <a:latin typeface="Power Geez Unicode1"/>
                <a:ea typeface="Calibri"/>
                <a:cs typeface="Helvetica"/>
              </a:rPr>
              <a:t/>
            </a:r>
            <a:br>
              <a:rPr lang="en-GB" sz="2300" dirty="0">
                <a:solidFill>
                  <a:srgbClr val="1D1D1D"/>
                </a:solidFill>
                <a:latin typeface="Power Geez Unicode1"/>
                <a:ea typeface="Calibri"/>
                <a:cs typeface="Helvetica"/>
              </a:rPr>
            </a:br>
            <a:r>
              <a:rPr lang="en-GB" sz="2300" dirty="0">
                <a:solidFill>
                  <a:srgbClr val="1D1D1D"/>
                </a:solidFill>
                <a:latin typeface="Power Geez Unicode1"/>
                <a:ea typeface="Calibri"/>
                <a:cs typeface="Ebrima"/>
              </a:rPr>
              <a:t>ረ</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ቄስ</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በቁጣ</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ወይም</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በማናቸውም</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ምክንያት</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ምእመናንን</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ሥጋ</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ወደሙን</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ከከለከለ</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ከሥልጣኑ</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ይሻራል</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ፍት</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መን</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አን</a:t>
            </a:r>
            <a:r>
              <a:rPr lang="en-GB" sz="2300" dirty="0">
                <a:solidFill>
                  <a:srgbClr val="1D1D1D"/>
                </a:solidFill>
                <a:latin typeface="Power Geez Unicode1"/>
                <a:ea typeface="Calibri"/>
                <a:cs typeface="Helvetica"/>
              </a:rPr>
              <a:t>. 6 </a:t>
            </a:r>
            <a:r>
              <a:rPr lang="en-GB" sz="2300" dirty="0" err="1">
                <a:solidFill>
                  <a:srgbClr val="1D1D1D"/>
                </a:solidFill>
                <a:latin typeface="Power Geez Unicode1"/>
                <a:ea typeface="Calibri"/>
                <a:cs typeface="Ebrima"/>
              </a:rPr>
              <a:t>ክፍል</a:t>
            </a:r>
            <a:r>
              <a:rPr lang="en-GB" sz="2300" dirty="0">
                <a:solidFill>
                  <a:srgbClr val="1D1D1D"/>
                </a:solidFill>
                <a:latin typeface="Power Geez Unicode1"/>
                <a:ea typeface="Calibri"/>
                <a:cs typeface="Helvetica"/>
              </a:rPr>
              <a:t> 5 </a:t>
            </a:r>
            <a:br>
              <a:rPr lang="en-GB" sz="2300" dirty="0">
                <a:solidFill>
                  <a:srgbClr val="1D1D1D"/>
                </a:solidFill>
                <a:latin typeface="Power Geez Unicode1"/>
                <a:ea typeface="Calibri"/>
                <a:cs typeface="Helvetica"/>
              </a:rPr>
            </a:br>
            <a:r>
              <a:rPr lang="en-GB" sz="2300" dirty="0">
                <a:solidFill>
                  <a:srgbClr val="1D1D1D"/>
                </a:solidFill>
                <a:latin typeface="Power Geez Unicode1"/>
                <a:ea typeface="Calibri"/>
                <a:cs typeface="Helvetica"/>
              </a:rPr>
              <a:t/>
            </a:r>
            <a:br>
              <a:rPr lang="en-GB" sz="2300" dirty="0">
                <a:solidFill>
                  <a:srgbClr val="1D1D1D"/>
                </a:solidFill>
                <a:latin typeface="Power Geez Unicode1"/>
                <a:ea typeface="Calibri"/>
                <a:cs typeface="Helvetica"/>
              </a:rPr>
            </a:br>
            <a:r>
              <a:rPr lang="en-GB" sz="2300" dirty="0">
                <a:solidFill>
                  <a:srgbClr val="1D1D1D"/>
                </a:solidFill>
                <a:latin typeface="Power Geez Unicode1"/>
                <a:ea typeface="Calibri"/>
                <a:cs typeface="Ebrima"/>
              </a:rPr>
              <a:t>ሰ</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ቀሳውስትና</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ዲያቆናት</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በሥጋዊ</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ነገር</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ዋስ</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ተያዥ</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ምስክር</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አይሆኑም</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ይህን</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ያደረገ</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ከሹመቱ</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ይሻራል</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ፍት</a:t>
            </a:r>
            <a:r>
              <a:rPr lang="en-GB" sz="2300" dirty="0">
                <a:solidFill>
                  <a:srgbClr val="1D1D1D"/>
                </a:solidFill>
                <a:latin typeface="Power Geez Unicode1"/>
                <a:ea typeface="Calibri"/>
                <a:cs typeface="Helvetica"/>
              </a:rPr>
              <a:t>. </a:t>
            </a:r>
            <a:r>
              <a:rPr lang="en-GB" sz="2300" dirty="0" err="1">
                <a:solidFill>
                  <a:srgbClr val="1D1D1D"/>
                </a:solidFill>
                <a:latin typeface="Power Geez Unicode1"/>
                <a:ea typeface="Calibri"/>
                <a:cs typeface="Ebrima"/>
              </a:rPr>
              <a:t>መን</a:t>
            </a:r>
            <a:r>
              <a:rPr lang="en-GB" sz="2300" dirty="0">
                <a:solidFill>
                  <a:srgbClr val="1D1D1D"/>
                </a:solidFill>
                <a:latin typeface="Power Geez Unicode1"/>
                <a:ea typeface="Calibri"/>
                <a:cs typeface="Helvetica"/>
              </a:rPr>
              <a:t>. 6 </a:t>
            </a:r>
            <a:r>
              <a:rPr lang="en-GB" sz="2300" dirty="0" err="1">
                <a:solidFill>
                  <a:srgbClr val="1D1D1D"/>
                </a:solidFill>
                <a:latin typeface="Power Geez Unicode1"/>
                <a:ea typeface="Calibri"/>
                <a:cs typeface="Ebrima"/>
              </a:rPr>
              <a:t>ክፍል</a:t>
            </a:r>
            <a:r>
              <a:rPr lang="en-GB" sz="2300" dirty="0">
                <a:solidFill>
                  <a:srgbClr val="1D1D1D"/>
                </a:solidFill>
                <a:latin typeface="Power Geez Unicode1"/>
                <a:ea typeface="Calibri"/>
                <a:cs typeface="Helvetica"/>
              </a:rPr>
              <a:t> 5 </a:t>
            </a:r>
            <a:br>
              <a:rPr lang="en-GB" sz="2300" dirty="0">
                <a:solidFill>
                  <a:srgbClr val="1D1D1D"/>
                </a:solidFill>
                <a:latin typeface="Power Geez Unicode1"/>
                <a:ea typeface="Calibri"/>
                <a:cs typeface="Helvetica"/>
              </a:rPr>
            </a:br>
            <a:r>
              <a:rPr lang="en-GB" sz="2300" dirty="0">
                <a:solidFill>
                  <a:srgbClr val="1D1D1D"/>
                </a:solidFill>
                <a:latin typeface="Power Geez Unicode1"/>
                <a:ea typeface="Calibri"/>
                <a:cs typeface="Helvetica"/>
              </a:rPr>
              <a:t/>
            </a:r>
            <a:br>
              <a:rPr lang="en-GB" sz="2300" dirty="0">
                <a:solidFill>
                  <a:srgbClr val="1D1D1D"/>
                </a:solidFill>
                <a:latin typeface="Power Geez Unicode1"/>
                <a:ea typeface="Calibri"/>
                <a:cs typeface="Helvetica"/>
              </a:rPr>
            </a:br>
            <a:endParaRPr lang="en-GB" sz="2300" dirty="0">
              <a:ea typeface="Calibri"/>
              <a:cs typeface="Times New Roman"/>
            </a:endParaRPr>
          </a:p>
          <a:p>
            <a:endParaRPr lang="en-GB" sz="2300" dirty="0"/>
          </a:p>
        </p:txBody>
      </p:sp>
    </p:spTree>
    <p:extLst>
      <p:ext uri="{BB962C8B-B14F-4D97-AF65-F5344CB8AC3E}">
        <p14:creationId xmlns:p14="http://schemas.microsoft.com/office/powerpoint/2010/main" val="3120727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Times New Roman" pitchFamily="18" charset="0"/>
                <a:cs typeface="Times New Roman" pitchFamily="18" charset="0"/>
              </a:rPr>
              <a:t>CHAPTER SIX</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buNone/>
            </a:pPr>
            <a:endParaRPr lang="en-GB" dirty="0" smtClean="0"/>
          </a:p>
          <a:p>
            <a:pPr marL="0" indent="0">
              <a:buNone/>
            </a:pPr>
            <a:endParaRPr lang="en-GB" dirty="0"/>
          </a:p>
          <a:p>
            <a:pPr marL="0" indent="0">
              <a:buNone/>
            </a:pPr>
            <a:endParaRPr lang="en-GB" dirty="0" smtClean="0"/>
          </a:p>
          <a:p>
            <a:pPr marL="0" indent="0">
              <a:buNone/>
            </a:pPr>
            <a:r>
              <a:rPr lang="en-GB" dirty="0"/>
              <a:t> </a:t>
            </a:r>
            <a:r>
              <a:rPr lang="en-GB" dirty="0" smtClean="0"/>
              <a:t>                                     </a:t>
            </a:r>
            <a:endParaRPr lang="en-GB" dirty="0"/>
          </a:p>
        </p:txBody>
      </p:sp>
      <p:sp>
        <p:nvSpPr>
          <p:cNvPr id="6" name="Oval 5"/>
          <p:cNvSpPr/>
          <p:nvPr/>
        </p:nvSpPr>
        <p:spPr>
          <a:xfrm>
            <a:off x="827584" y="1988840"/>
            <a:ext cx="6696744" cy="3600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827584" y="1484784"/>
            <a:ext cx="7200800" cy="4536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spcBef>
                <a:spcPct val="20000"/>
              </a:spcBef>
            </a:pPr>
            <a:r>
              <a:rPr lang="en-GB" sz="3200" b="1" dirty="0">
                <a:solidFill>
                  <a:prstClr val="black"/>
                </a:solidFill>
                <a:latin typeface="Times New Roman"/>
                <a:ea typeface="Times New Roman"/>
              </a:rPr>
              <a:t>The Priest as a Peacemaker: Conflict and Conflict Resolution in Pastoral Ministry</a:t>
            </a:r>
            <a:endParaRPr lang="en-GB" sz="3200" dirty="0">
              <a:solidFill>
                <a:prstClr val="black"/>
              </a:solidFill>
            </a:endParaRPr>
          </a:p>
        </p:txBody>
      </p:sp>
    </p:spTree>
    <p:extLst>
      <p:ext uri="{BB962C8B-B14F-4D97-AF65-F5344CB8AC3E}">
        <p14:creationId xmlns:p14="http://schemas.microsoft.com/office/powerpoint/2010/main" val="3491920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b="1" dirty="0">
                <a:latin typeface="Times New Roman"/>
                <a:ea typeface="Times New Roman"/>
                <a:cs typeface="Times New Roman"/>
              </a:rPr>
              <a:t>What is Conflict?</a:t>
            </a:r>
            <a:r>
              <a:rPr lang="en-GB" sz="4000" dirty="0">
                <a:ea typeface="Calibri"/>
                <a:cs typeface="Times New Roman"/>
              </a:rPr>
              <a:t/>
            </a:r>
            <a:br>
              <a:rPr lang="en-GB" sz="4000" dirty="0">
                <a:ea typeface="Calibri"/>
                <a:cs typeface="Times New Roman"/>
              </a:rPr>
            </a:br>
            <a:endParaRPr lang="en-GB" dirty="0"/>
          </a:p>
        </p:txBody>
      </p:sp>
      <p:sp>
        <p:nvSpPr>
          <p:cNvPr id="3" name="Content Placeholder 2"/>
          <p:cNvSpPr>
            <a:spLocks noGrp="1"/>
          </p:cNvSpPr>
          <p:nvPr>
            <p:ph idx="1"/>
          </p:nvPr>
        </p:nvSpPr>
        <p:spPr/>
        <p:txBody>
          <a:bodyPr>
            <a:normAutofit fontScale="55000" lnSpcReduction="20000"/>
          </a:bodyPr>
          <a:lstStyle/>
          <a:p>
            <a:pPr marL="0" indent="0" algn="just">
              <a:lnSpc>
                <a:spcPct val="115000"/>
              </a:lnSpc>
              <a:spcAft>
                <a:spcPts val="1000"/>
              </a:spcAft>
              <a:buNone/>
            </a:pPr>
            <a:r>
              <a:rPr lang="en-GB" sz="3500" dirty="0">
                <a:latin typeface="Times New Roman" pitchFamily="18" charset="0"/>
                <a:ea typeface="Times New Roman"/>
                <a:cs typeface="Times New Roman" pitchFamily="18" charset="0"/>
              </a:rPr>
              <a:t>Conflict is a condition in which two or more people perceive a threat to their interests, values, needs, or goals. It can be verbal, emotional, spiritual, or even silent (passive conflict</a:t>
            </a:r>
            <a:r>
              <a:rPr lang="en-GB" sz="3500" dirty="0" smtClean="0">
                <a:latin typeface="Times New Roman" pitchFamily="18" charset="0"/>
                <a:ea typeface="Times New Roman"/>
                <a:cs typeface="Times New Roman" pitchFamily="18" charset="0"/>
              </a:rPr>
              <a:t>).</a:t>
            </a:r>
          </a:p>
          <a:p>
            <a:pPr marL="0" indent="0" algn="just">
              <a:lnSpc>
                <a:spcPct val="150000"/>
              </a:lnSpc>
              <a:spcAft>
                <a:spcPts val="0"/>
              </a:spcAft>
              <a:buNone/>
            </a:pPr>
            <a:r>
              <a:rPr lang="en-GB" sz="3500" dirty="0">
                <a:latin typeface="Times New Roman" pitchFamily="18" charset="0"/>
                <a:ea typeface="Times New Roman"/>
                <a:cs typeface="Times New Roman" pitchFamily="18" charset="0"/>
              </a:rPr>
              <a:t>Conflict is a natural aspect of human relationships, arising from differences in perspectives, values, interests, and beliefs. These differences often lead to friction, which manifests as conflict. Rather than being inherently negative, conflict is a normal consequence of individuals living together and underscores the need for effective communication and resolution mechanisms. Conflict can occur in any social setting, including families, communities, institutions, and religious organizations (Rahim</a:t>
            </a:r>
            <a:r>
              <a:rPr lang="en-GB" sz="3500" dirty="0" smtClean="0">
                <a:latin typeface="Times New Roman" pitchFamily="18" charset="0"/>
                <a:ea typeface="Times New Roman"/>
                <a:cs typeface="Times New Roman" pitchFamily="18" charset="0"/>
              </a:rPr>
              <a:t>,( </a:t>
            </a:r>
            <a:r>
              <a:rPr lang="en-GB" sz="3500" dirty="0">
                <a:latin typeface="Times New Roman" pitchFamily="18" charset="0"/>
                <a:ea typeface="Times New Roman"/>
                <a:cs typeface="Times New Roman" pitchFamily="18" charset="0"/>
              </a:rPr>
              <a:t>2002</a:t>
            </a:r>
            <a:r>
              <a:rPr lang="en-GB" sz="3500" dirty="0" smtClean="0">
                <a:latin typeface="Times New Roman" pitchFamily="18" charset="0"/>
                <a:ea typeface="Times New Roman"/>
                <a:cs typeface="Times New Roman" pitchFamily="18" charset="0"/>
              </a:rPr>
              <a:t>).</a:t>
            </a:r>
            <a:r>
              <a:rPr lang="en-US" sz="3500" dirty="0">
                <a:latin typeface="Times New Roman" pitchFamily="18" charset="0"/>
                <a:ea typeface="Times New Roman"/>
                <a:cs typeface="Times New Roman" pitchFamily="18" charset="0"/>
              </a:rPr>
              <a:t> </a:t>
            </a:r>
            <a:r>
              <a:rPr lang="en-US" sz="3500" dirty="0" smtClean="0">
                <a:latin typeface="Times New Roman" pitchFamily="18" charset="0"/>
                <a:ea typeface="Times New Roman"/>
                <a:cs typeface="Times New Roman" pitchFamily="18" charset="0"/>
              </a:rPr>
              <a:t>Toward </a:t>
            </a:r>
            <a:r>
              <a:rPr lang="en-US" sz="3500" dirty="0">
                <a:latin typeface="Times New Roman" pitchFamily="18" charset="0"/>
                <a:ea typeface="Times New Roman"/>
                <a:cs typeface="Times New Roman" pitchFamily="18" charset="0"/>
              </a:rPr>
              <a:t>a theory of managing organizational conflict. The International Journal of Conflict Management, 13(3), </a:t>
            </a:r>
            <a:endParaRPr lang="en-GB" sz="3500" dirty="0">
              <a:latin typeface="Times New Roman" pitchFamily="18" charset="0"/>
              <a:ea typeface="Calibri"/>
              <a:cs typeface="Times New Roman" pitchFamily="18" charset="0"/>
            </a:endParaRPr>
          </a:p>
          <a:p>
            <a:pPr marL="0" indent="0" algn="just">
              <a:lnSpc>
                <a:spcPct val="115000"/>
              </a:lnSpc>
              <a:spcAft>
                <a:spcPts val="1000"/>
              </a:spcAft>
              <a:buNone/>
            </a:pPr>
            <a:endParaRPr lang="en-GB" sz="3500" dirty="0">
              <a:latin typeface="Times New Roman" pitchFamily="18" charset="0"/>
              <a:ea typeface="Calibri"/>
              <a:cs typeface="Times New Roman" pitchFamily="18" charset="0"/>
            </a:endParaRPr>
          </a:p>
          <a:p>
            <a:pPr marL="0" indent="0" algn="just">
              <a:lnSpc>
                <a:spcPct val="115000"/>
              </a:lnSpc>
              <a:spcAft>
                <a:spcPts val="1000"/>
              </a:spcAft>
              <a:buNone/>
            </a:pPr>
            <a:endParaRPr lang="en-GB" dirty="0" smtClean="0">
              <a:latin typeface="Times New Roman"/>
              <a:ea typeface="Times New Roman"/>
              <a:cs typeface="Times New Roman"/>
            </a:endParaRPr>
          </a:p>
          <a:p>
            <a:pPr marL="0" indent="0" algn="just">
              <a:lnSpc>
                <a:spcPct val="115000"/>
              </a:lnSpc>
              <a:spcAft>
                <a:spcPts val="1000"/>
              </a:spcAft>
              <a:buNone/>
            </a:pPr>
            <a:endParaRPr lang="en-GB" sz="2800" dirty="0" smtClean="0">
              <a:ea typeface="Calibri"/>
              <a:cs typeface="Times New Roman"/>
            </a:endParaRPr>
          </a:p>
          <a:p>
            <a:endParaRPr lang="en-GB" dirty="0"/>
          </a:p>
        </p:txBody>
      </p:sp>
    </p:spTree>
    <p:extLst>
      <p:ext uri="{BB962C8B-B14F-4D97-AF65-F5344CB8AC3E}">
        <p14:creationId xmlns:p14="http://schemas.microsoft.com/office/powerpoint/2010/main" val="1776458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a:ea typeface="Times New Roman"/>
              </a:rPr>
              <a:t>Causes of Conflict</a:t>
            </a:r>
            <a:endParaRPr lang="en-GB" dirty="0"/>
          </a:p>
        </p:txBody>
      </p:sp>
      <p:sp>
        <p:nvSpPr>
          <p:cNvPr id="3" name="Content Placeholder 2"/>
          <p:cNvSpPr>
            <a:spLocks noGrp="1"/>
          </p:cNvSpPr>
          <p:nvPr>
            <p:ph idx="1"/>
          </p:nvPr>
        </p:nvSpPr>
        <p:spPr/>
        <p:txBody>
          <a:bodyPr/>
          <a:lstStyle/>
          <a:p>
            <a:pPr marL="514350" indent="-514350">
              <a:lnSpc>
                <a:spcPct val="115000"/>
              </a:lnSpc>
              <a:spcAft>
                <a:spcPts val="1000"/>
              </a:spcAft>
              <a:buAutoNum type="alphaUcPeriod"/>
            </a:pPr>
            <a:r>
              <a:rPr lang="en-GB" b="1" dirty="0" smtClean="0">
                <a:latin typeface="Times New Roman"/>
                <a:ea typeface="Times New Roman"/>
                <a:cs typeface="Times New Roman"/>
              </a:rPr>
              <a:t>Miscommunication</a:t>
            </a:r>
          </a:p>
          <a:p>
            <a:pPr>
              <a:lnSpc>
                <a:spcPct val="115000"/>
              </a:lnSpc>
              <a:spcAft>
                <a:spcPts val="1000"/>
              </a:spcAft>
            </a:pPr>
            <a:r>
              <a:rPr lang="en-GB" sz="2800" i="1" dirty="0">
                <a:latin typeface="Times New Roman"/>
                <a:ea typeface="Times New Roman"/>
              </a:rPr>
              <a:t>Proverbs 18:13</a:t>
            </a:r>
            <a:r>
              <a:rPr lang="en-GB" sz="2800" dirty="0">
                <a:latin typeface="Times New Roman"/>
                <a:ea typeface="Times New Roman"/>
              </a:rPr>
              <a:t> – “To answer before listening—that is folly and shame</a:t>
            </a:r>
            <a:r>
              <a:rPr lang="en-GB" sz="2800" dirty="0" smtClean="0">
                <a:latin typeface="Times New Roman"/>
                <a:ea typeface="Times New Roman"/>
              </a:rPr>
              <a:t>.”</a:t>
            </a:r>
          </a:p>
          <a:p>
            <a:pPr marL="0" indent="0">
              <a:lnSpc>
                <a:spcPct val="115000"/>
              </a:lnSpc>
              <a:spcAft>
                <a:spcPts val="1000"/>
              </a:spcAft>
              <a:buNone/>
            </a:pPr>
            <a:r>
              <a:rPr lang="en-GB" sz="2800" b="1" dirty="0" smtClean="0">
                <a:latin typeface="Times New Roman"/>
                <a:ea typeface="Times New Roman"/>
                <a:cs typeface="Times New Roman"/>
              </a:rPr>
              <a:t>B</a:t>
            </a:r>
            <a:r>
              <a:rPr lang="en-GB" sz="2800" b="1" dirty="0">
                <a:latin typeface="Times New Roman"/>
                <a:ea typeface="Times New Roman"/>
                <a:cs typeface="Times New Roman"/>
              </a:rPr>
              <a:t>. Pride and </a:t>
            </a:r>
            <a:r>
              <a:rPr lang="en-GB" sz="2800" b="1" dirty="0" smtClean="0">
                <a:latin typeface="Times New Roman"/>
                <a:ea typeface="Times New Roman"/>
                <a:cs typeface="Times New Roman"/>
              </a:rPr>
              <a:t>Ego</a:t>
            </a:r>
          </a:p>
          <a:p>
            <a:pPr>
              <a:lnSpc>
                <a:spcPct val="115000"/>
              </a:lnSpc>
              <a:spcAft>
                <a:spcPts val="1000"/>
              </a:spcAft>
            </a:pPr>
            <a:r>
              <a:rPr lang="en-GB" sz="2400" i="1" dirty="0">
                <a:latin typeface="Times New Roman"/>
                <a:ea typeface="Times New Roman"/>
              </a:rPr>
              <a:t>Proverbs 13:10</a:t>
            </a:r>
            <a:r>
              <a:rPr lang="en-GB" sz="2400" dirty="0">
                <a:latin typeface="Times New Roman"/>
                <a:ea typeface="Times New Roman"/>
              </a:rPr>
              <a:t> – “Where there is strife, there is pride</a:t>
            </a:r>
            <a:r>
              <a:rPr lang="en-GB" sz="2400" dirty="0" smtClean="0">
                <a:latin typeface="Times New Roman"/>
                <a:ea typeface="Times New Roman"/>
              </a:rPr>
              <a:t>…”</a:t>
            </a:r>
          </a:p>
          <a:p>
            <a:pPr marL="0" indent="0">
              <a:lnSpc>
                <a:spcPct val="115000"/>
              </a:lnSpc>
              <a:spcAft>
                <a:spcPts val="1000"/>
              </a:spcAft>
              <a:buNone/>
            </a:pPr>
            <a:r>
              <a:rPr lang="en-GB" sz="2400" b="1" dirty="0" smtClean="0">
                <a:latin typeface="Times New Roman"/>
                <a:ea typeface="Times New Roman"/>
                <a:cs typeface="Times New Roman"/>
              </a:rPr>
              <a:t>C</a:t>
            </a:r>
            <a:r>
              <a:rPr lang="en-GB" sz="2400" b="1" dirty="0">
                <a:latin typeface="Times New Roman"/>
                <a:ea typeface="Times New Roman"/>
                <a:cs typeface="Times New Roman"/>
              </a:rPr>
              <a:t>. Cultural and Generational Differences</a:t>
            </a:r>
            <a:endParaRPr lang="en-GB" sz="2000" dirty="0">
              <a:ea typeface="Calibri"/>
              <a:cs typeface="Times New Roman"/>
            </a:endParaRPr>
          </a:p>
          <a:p>
            <a:pPr marL="0" indent="0">
              <a:lnSpc>
                <a:spcPct val="115000"/>
              </a:lnSpc>
              <a:spcAft>
                <a:spcPts val="1000"/>
              </a:spcAft>
              <a:buNone/>
            </a:pPr>
            <a:endParaRPr lang="en-GB" sz="2400" dirty="0">
              <a:ea typeface="Calibri"/>
              <a:cs typeface="Times New Roman"/>
            </a:endParaRPr>
          </a:p>
          <a:p>
            <a:pPr marL="0" indent="0">
              <a:lnSpc>
                <a:spcPct val="115000"/>
              </a:lnSpc>
              <a:spcAft>
                <a:spcPts val="1000"/>
              </a:spcAft>
              <a:buNone/>
            </a:pPr>
            <a:endParaRPr lang="en-GB" sz="2800" dirty="0">
              <a:ea typeface="Calibri"/>
              <a:cs typeface="Times New Roman"/>
            </a:endParaRPr>
          </a:p>
          <a:p>
            <a:endParaRPr lang="en-GB" dirty="0"/>
          </a:p>
        </p:txBody>
      </p:sp>
    </p:spTree>
    <p:extLst>
      <p:ext uri="{BB962C8B-B14F-4D97-AF65-F5344CB8AC3E}">
        <p14:creationId xmlns:p14="http://schemas.microsoft.com/office/powerpoint/2010/main" val="198848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marL="0" indent="0">
              <a:lnSpc>
                <a:spcPct val="115000"/>
              </a:lnSpc>
              <a:spcAft>
                <a:spcPts val="1000"/>
              </a:spcAft>
              <a:buNone/>
            </a:pPr>
            <a:r>
              <a:rPr lang="en-GB" b="1" dirty="0">
                <a:latin typeface="Times New Roman"/>
                <a:ea typeface="Times New Roman"/>
                <a:cs typeface="Times New Roman"/>
              </a:rPr>
              <a:t>D. Resource </a:t>
            </a:r>
            <a:r>
              <a:rPr lang="en-GB" b="1" dirty="0" smtClean="0">
                <a:latin typeface="Times New Roman"/>
                <a:ea typeface="Times New Roman"/>
                <a:cs typeface="Times New Roman"/>
              </a:rPr>
              <a:t>Competition</a:t>
            </a:r>
          </a:p>
          <a:p>
            <a:pPr algn="just">
              <a:lnSpc>
                <a:spcPct val="115000"/>
              </a:lnSpc>
              <a:spcAft>
                <a:spcPts val="1000"/>
              </a:spcAft>
            </a:pPr>
            <a:r>
              <a:rPr lang="en-GB" sz="2800" i="1" dirty="0">
                <a:latin typeface="Times New Roman"/>
                <a:ea typeface="Times New Roman"/>
                <a:cs typeface="Times New Roman"/>
              </a:rPr>
              <a:t>James 4:1–2</a:t>
            </a:r>
            <a:r>
              <a:rPr lang="en-GB" sz="2800" dirty="0">
                <a:latin typeface="Times New Roman"/>
                <a:ea typeface="Times New Roman"/>
                <a:cs typeface="Times New Roman"/>
              </a:rPr>
              <a:t> – “What causes fights and quarrels among you? Don’t they come from your desires that battle within you</a:t>
            </a:r>
            <a:r>
              <a:rPr lang="en-GB" sz="2800" dirty="0" smtClean="0">
                <a:latin typeface="Times New Roman"/>
                <a:ea typeface="Times New Roman"/>
                <a:cs typeface="Times New Roman"/>
              </a:rPr>
              <a:t>?”</a:t>
            </a:r>
          </a:p>
          <a:p>
            <a:pPr marL="0" indent="0">
              <a:lnSpc>
                <a:spcPct val="115000"/>
              </a:lnSpc>
              <a:spcAft>
                <a:spcPts val="1000"/>
              </a:spcAft>
              <a:buNone/>
            </a:pPr>
            <a:r>
              <a:rPr lang="en-GB" sz="2400" b="1" dirty="0">
                <a:latin typeface="Times New Roman"/>
                <a:ea typeface="Times New Roman"/>
                <a:cs typeface="Times New Roman"/>
              </a:rPr>
              <a:t>E. Unresolved Past Offenses</a:t>
            </a:r>
            <a:endParaRPr lang="en-GB" sz="2000" dirty="0">
              <a:ea typeface="Calibri"/>
              <a:cs typeface="Times New Roman"/>
            </a:endParaRPr>
          </a:p>
          <a:p>
            <a:pPr algn="just">
              <a:lnSpc>
                <a:spcPct val="115000"/>
              </a:lnSpc>
              <a:spcAft>
                <a:spcPts val="1000"/>
              </a:spcAft>
            </a:pPr>
            <a:endParaRPr lang="en-GB" sz="2400" dirty="0">
              <a:ea typeface="Calibri"/>
              <a:cs typeface="Times New Roman"/>
            </a:endParaRPr>
          </a:p>
          <a:p>
            <a:pPr marL="0" indent="0">
              <a:lnSpc>
                <a:spcPct val="115000"/>
              </a:lnSpc>
              <a:spcAft>
                <a:spcPts val="1000"/>
              </a:spcAft>
              <a:buNone/>
            </a:pPr>
            <a:endParaRPr lang="en-GB" sz="2800" dirty="0">
              <a:ea typeface="Calibri"/>
              <a:cs typeface="Times New Roman"/>
            </a:endParaRPr>
          </a:p>
          <a:p>
            <a:endParaRPr lang="en-GB" dirty="0"/>
          </a:p>
        </p:txBody>
      </p:sp>
    </p:spTree>
    <p:extLst>
      <p:ext uri="{BB962C8B-B14F-4D97-AF65-F5344CB8AC3E}">
        <p14:creationId xmlns:p14="http://schemas.microsoft.com/office/powerpoint/2010/main" val="2327518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Times New Roman"/>
                <a:ea typeface="Times New Roman"/>
              </a:rPr>
              <a:t>Conflict in the Bible and the Early Church </a:t>
            </a:r>
            <a:endParaRPr lang="en-GB" dirty="0"/>
          </a:p>
        </p:txBody>
      </p:sp>
      <p:sp>
        <p:nvSpPr>
          <p:cNvPr id="3" name="Content Placeholder 2"/>
          <p:cNvSpPr>
            <a:spLocks noGrp="1"/>
          </p:cNvSpPr>
          <p:nvPr>
            <p:ph idx="1"/>
          </p:nvPr>
        </p:nvSpPr>
        <p:spPr/>
        <p:txBody>
          <a:bodyPr>
            <a:normAutofit fontScale="92500" lnSpcReduction="20000"/>
          </a:bodyPr>
          <a:lstStyle/>
          <a:p>
            <a:pPr marL="0" indent="0">
              <a:lnSpc>
                <a:spcPct val="115000"/>
              </a:lnSpc>
              <a:spcAft>
                <a:spcPts val="1000"/>
              </a:spcAft>
              <a:buNone/>
            </a:pPr>
            <a:r>
              <a:rPr lang="en-GB" b="1" dirty="0">
                <a:latin typeface="Times New Roman"/>
                <a:ea typeface="Times New Roman"/>
                <a:cs typeface="Times New Roman"/>
              </a:rPr>
              <a:t>A. Biblical Conflicts and Resolutions</a:t>
            </a:r>
            <a:endParaRPr lang="en-GB" sz="2800" dirty="0">
              <a:ea typeface="Calibri"/>
              <a:cs typeface="Times New Roman"/>
            </a:endParaRPr>
          </a:p>
          <a:p>
            <a:pPr lvl="0" algn="just">
              <a:lnSpc>
                <a:spcPct val="115000"/>
              </a:lnSpc>
              <a:spcAft>
                <a:spcPts val="1000"/>
              </a:spcAft>
              <a:buFont typeface="+mj-lt"/>
              <a:buAutoNum type="arabicPeriod"/>
              <a:tabLst>
                <a:tab pos="457200" algn="l"/>
              </a:tabLst>
            </a:pPr>
            <a:r>
              <a:rPr lang="en-GB" b="1" dirty="0">
                <a:latin typeface="Times New Roman"/>
                <a:ea typeface="Times New Roman"/>
                <a:cs typeface="Times New Roman"/>
              </a:rPr>
              <a:t>Cain and Abel</a:t>
            </a:r>
            <a:r>
              <a:rPr lang="en-GB" dirty="0">
                <a:latin typeface="Times New Roman"/>
                <a:ea typeface="Times New Roman"/>
                <a:cs typeface="Times New Roman"/>
              </a:rPr>
              <a:t> – (Genesis 4) – Conflict led to murder. Lesson: unresolved jealousy destroys.</a:t>
            </a:r>
            <a:endParaRPr lang="en-GB" sz="2800" dirty="0">
              <a:ea typeface="Calibri"/>
              <a:cs typeface="Times New Roman"/>
            </a:endParaRPr>
          </a:p>
          <a:p>
            <a:pPr lvl="0" algn="just">
              <a:lnSpc>
                <a:spcPct val="115000"/>
              </a:lnSpc>
              <a:spcAft>
                <a:spcPts val="1000"/>
              </a:spcAft>
              <a:buFont typeface="+mj-lt"/>
              <a:buAutoNum type="arabicPeriod"/>
              <a:tabLst>
                <a:tab pos="457200" algn="l"/>
              </a:tabLst>
            </a:pPr>
            <a:r>
              <a:rPr lang="en-GB" b="1" dirty="0">
                <a:latin typeface="Times New Roman"/>
                <a:ea typeface="Times New Roman"/>
                <a:cs typeface="Times New Roman"/>
              </a:rPr>
              <a:t>Paul and Barnabas</a:t>
            </a:r>
            <a:r>
              <a:rPr lang="en-GB" dirty="0">
                <a:latin typeface="Times New Roman"/>
                <a:ea typeface="Times New Roman"/>
                <a:cs typeface="Times New Roman"/>
              </a:rPr>
              <a:t> – (Acts 15:36–40) – Disagreement over John Mark. Lesson: Even holy people can disagree, but God can still use them.</a:t>
            </a:r>
            <a:endParaRPr lang="en-GB" sz="2800" dirty="0">
              <a:ea typeface="Calibri"/>
              <a:cs typeface="Times New Roman"/>
            </a:endParaRPr>
          </a:p>
          <a:p>
            <a:pPr lvl="0" algn="just">
              <a:lnSpc>
                <a:spcPct val="115000"/>
              </a:lnSpc>
              <a:spcAft>
                <a:spcPts val="1000"/>
              </a:spcAft>
              <a:buFont typeface="+mj-lt"/>
              <a:buAutoNum type="arabicPeriod"/>
              <a:tabLst>
                <a:tab pos="457200" algn="l"/>
              </a:tabLst>
            </a:pPr>
            <a:r>
              <a:rPr lang="en-GB" b="1" dirty="0" smtClean="0">
                <a:latin typeface="Times New Roman"/>
                <a:ea typeface="Times New Roman"/>
                <a:cs typeface="Times New Roman"/>
              </a:rPr>
              <a:t>Pharisees</a:t>
            </a:r>
            <a:r>
              <a:rPr lang="en-GB" dirty="0" smtClean="0">
                <a:latin typeface="Times New Roman"/>
                <a:ea typeface="Times New Roman"/>
                <a:cs typeface="Times New Roman"/>
              </a:rPr>
              <a:t> </a:t>
            </a:r>
            <a:r>
              <a:rPr lang="en-GB" dirty="0">
                <a:latin typeface="Times New Roman"/>
                <a:ea typeface="Times New Roman"/>
                <a:cs typeface="Times New Roman"/>
              </a:rPr>
              <a:t>– Conflict rooted in different views of authority and tradition.</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3031723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sz="4000" dirty="0">
                <a:ea typeface="Calibri"/>
                <a:cs typeface="Times New Roman"/>
              </a:rPr>
              <a:t/>
            </a:r>
            <a:br>
              <a:rPr lang="en-GB" sz="4000" dirty="0">
                <a:ea typeface="Calibri"/>
                <a:cs typeface="Times New Roman"/>
              </a:rPr>
            </a:br>
            <a:endParaRPr lang="en-GB" dirty="0"/>
          </a:p>
        </p:txBody>
      </p:sp>
      <p:sp>
        <p:nvSpPr>
          <p:cNvPr id="3" name="Content Placeholder 2"/>
          <p:cNvSpPr>
            <a:spLocks noGrp="1"/>
          </p:cNvSpPr>
          <p:nvPr>
            <p:ph idx="1"/>
          </p:nvPr>
        </p:nvSpPr>
        <p:spPr/>
        <p:txBody>
          <a:bodyPr>
            <a:normAutofit fontScale="55000" lnSpcReduction="20000"/>
          </a:bodyPr>
          <a:lstStyle/>
          <a:p>
            <a:pPr marL="0" indent="0">
              <a:lnSpc>
                <a:spcPct val="115000"/>
              </a:lnSpc>
              <a:spcAft>
                <a:spcPts val="1000"/>
              </a:spcAft>
              <a:buNone/>
            </a:pPr>
            <a:r>
              <a:rPr lang="en-GB" b="1" dirty="0">
                <a:latin typeface="Times New Roman"/>
                <a:ea typeface="Times New Roman"/>
                <a:cs typeface="Times New Roman"/>
              </a:rPr>
              <a:t>B. Apostolic Guidance on </a:t>
            </a:r>
            <a:r>
              <a:rPr lang="en-GB" b="1" dirty="0" smtClean="0">
                <a:latin typeface="Times New Roman"/>
                <a:ea typeface="Times New Roman"/>
                <a:cs typeface="Times New Roman"/>
              </a:rPr>
              <a:t>Conflict</a:t>
            </a:r>
          </a:p>
          <a:p>
            <a:pPr algn="just">
              <a:lnSpc>
                <a:spcPct val="115000"/>
              </a:lnSpc>
              <a:spcAft>
                <a:spcPts val="1000"/>
              </a:spcAft>
            </a:pPr>
            <a:r>
              <a:rPr lang="en-GB" sz="2900" i="1" dirty="0">
                <a:latin typeface="Times New Roman" pitchFamily="18" charset="0"/>
                <a:ea typeface="Times New Roman"/>
                <a:cs typeface="Times New Roman" pitchFamily="18" charset="0"/>
              </a:rPr>
              <a:t>Romans 12:18</a:t>
            </a:r>
            <a:r>
              <a:rPr lang="en-GB" sz="2900" dirty="0">
                <a:latin typeface="Times New Roman" pitchFamily="18" charset="0"/>
                <a:ea typeface="Times New Roman"/>
                <a:cs typeface="Times New Roman" pitchFamily="18" charset="0"/>
              </a:rPr>
              <a:t> – “If it is possible, as far as it depends on you, live at peace with everyone.”</a:t>
            </a:r>
            <a:endParaRPr lang="en-GB" sz="2900" dirty="0">
              <a:latin typeface="Times New Roman" pitchFamily="18" charset="0"/>
              <a:ea typeface="Calibri"/>
              <a:cs typeface="Times New Roman" pitchFamily="18" charset="0"/>
            </a:endParaRPr>
          </a:p>
          <a:p>
            <a:pPr algn="just">
              <a:lnSpc>
                <a:spcPct val="115000"/>
              </a:lnSpc>
              <a:spcAft>
                <a:spcPts val="1000"/>
              </a:spcAft>
            </a:pPr>
            <a:r>
              <a:rPr lang="en-GB" sz="2900" i="1" dirty="0">
                <a:latin typeface="Times New Roman" pitchFamily="18" charset="0"/>
                <a:ea typeface="Times New Roman"/>
                <a:cs typeface="Times New Roman" pitchFamily="18" charset="0"/>
              </a:rPr>
              <a:t>2 Timothy 2:24</a:t>
            </a:r>
            <a:r>
              <a:rPr lang="en-GB" sz="2900" dirty="0">
                <a:latin typeface="Times New Roman" pitchFamily="18" charset="0"/>
                <a:ea typeface="Times New Roman"/>
                <a:cs typeface="Times New Roman" pitchFamily="18" charset="0"/>
              </a:rPr>
              <a:t> – “And the Lord’s servant must not be quarrelsome but must be kind to everyone</a:t>
            </a:r>
            <a:r>
              <a:rPr lang="en-GB" sz="2900" dirty="0" smtClean="0">
                <a:latin typeface="Times New Roman" pitchFamily="18" charset="0"/>
                <a:ea typeface="Times New Roman"/>
                <a:cs typeface="Times New Roman" pitchFamily="18" charset="0"/>
              </a:rPr>
              <a:t>…”</a:t>
            </a:r>
          </a:p>
          <a:p>
            <a:pPr>
              <a:lnSpc>
                <a:spcPct val="115000"/>
              </a:lnSpc>
              <a:spcAft>
                <a:spcPts val="1000"/>
              </a:spcAft>
            </a:pPr>
            <a:r>
              <a:rPr lang="en-GB" sz="2900" b="1" dirty="0">
                <a:latin typeface="Times New Roman" pitchFamily="18" charset="0"/>
                <a:ea typeface="Times New Roman"/>
                <a:cs typeface="Times New Roman" pitchFamily="18" charset="0"/>
              </a:rPr>
              <a:t>C. Patristic Wisdom</a:t>
            </a:r>
            <a:endParaRPr lang="en-GB" sz="2900" dirty="0">
              <a:latin typeface="Times New Roman" pitchFamily="18" charset="0"/>
              <a:ea typeface="Calibri"/>
              <a:cs typeface="Times New Roman" pitchFamily="18" charset="0"/>
            </a:endParaRPr>
          </a:p>
          <a:p>
            <a:pPr lvl="0">
              <a:lnSpc>
                <a:spcPct val="115000"/>
              </a:lnSpc>
              <a:spcAft>
                <a:spcPts val="1000"/>
              </a:spcAft>
              <a:buSzPts val="1000"/>
              <a:buFont typeface="Symbol"/>
              <a:buChar char=""/>
              <a:tabLst>
                <a:tab pos="457200" algn="l"/>
              </a:tabLst>
            </a:pPr>
            <a:r>
              <a:rPr lang="en-GB" sz="2900" b="1" dirty="0">
                <a:latin typeface="Times New Roman" pitchFamily="18" charset="0"/>
                <a:ea typeface="Times New Roman"/>
                <a:cs typeface="Times New Roman" pitchFamily="18" charset="0"/>
              </a:rPr>
              <a:t>St. John Chrysostom</a:t>
            </a:r>
            <a:r>
              <a:rPr lang="en-GB" sz="2900" dirty="0">
                <a:latin typeface="Times New Roman" pitchFamily="18" charset="0"/>
                <a:ea typeface="Times New Roman"/>
                <a:cs typeface="Times New Roman" pitchFamily="18" charset="0"/>
              </a:rPr>
              <a:t>:</a:t>
            </a:r>
            <a:endParaRPr lang="en-GB" sz="2900" dirty="0">
              <a:latin typeface="Times New Roman" pitchFamily="18" charset="0"/>
              <a:ea typeface="Calibri"/>
              <a:cs typeface="Times New Roman" pitchFamily="18" charset="0"/>
            </a:endParaRPr>
          </a:p>
          <a:p>
            <a:pPr marL="914400">
              <a:lnSpc>
                <a:spcPct val="115000"/>
              </a:lnSpc>
              <a:spcAft>
                <a:spcPts val="1000"/>
              </a:spcAft>
            </a:pPr>
            <a:r>
              <a:rPr lang="en-GB" sz="2900" dirty="0">
                <a:latin typeface="Times New Roman" pitchFamily="18" charset="0"/>
                <a:ea typeface="Times New Roman"/>
                <a:cs typeface="Times New Roman" pitchFamily="18" charset="0"/>
              </a:rPr>
              <a:t>“Nothing is more unseemly than for a Christian to be bitter or angry. We must not only refrain from retaliation but also love our enemies</a:t>
            </a:r>
            <a:r>
              <a:rPr lang="en-GB" sz="2900" dirty="0" smtClean="0">
                <a:latin typeface="Times New Roman" pitchFamily="18" charset="0"/>
                <a:ea typeface="Times New Roman"/>
                <a:cs typeface="Times New Roman" pitchFamily="18" charset="0"/>
              </a:rPr>
              <a:t>.”</a:t>
            </a:r>
            <a:endParaRPr lang="en-GB" sz="2900" dirty="0" smtClean="0">
              <a:latin typeface="Times New Roman" pitchFamily="18" charset="0"/>
              <a:ea typeface="Calibri"/>
              <a:cs typeface="Times New Roman" pitchFamily="18" charset="0"/>
            </a:endParaRPr>
          </a:p>
          <a:p>
            <a:pPr marL="0" lvl="0" indent="0">
              <a:lnSpc>
                <a:spcPct val="115000"/>
              </a:lnSpc>
              <a:spcAft>
                <a:spcPts val="1000"/>
              </a:spcAft>
              <a:buSzPts val="1000"/>
              <a:buNone/>
              <a:tabLst>
                <a:tab pos="457200" algn="l"/>
              </a:tabLst>
            </a:pPr>
            <a:endParaRPr lang="en-GB" sz="2900" dirty="0" smtClean="0">
              <a:latin typeface="Times New Roman" pitchFamily="18" charset="0"/>
              <a:ea typeface="Calibri"/>
              <a:cs typeface="Times New Roman" pitchFamily="18" charset="0"/>
            </a:endParaRPr>
          </a:p>
          <a:p>
            <a:pPr lvl="0">
              <a:lnSpc>
                <a:spcPct val="115000"/>
              </a:lnSpc>
              <a:spcAft>
                <a:spcPts val="1000"/>
              </a:spcAft>
              <a:buSzPts val="1000"/>
              <a:buFont typeface="Symbol"/>
              <a:buChar char=""/>
              <a:tabLst>
                <a:tab pos="457200" algn="l"/>
              </a:tabLst>
            </a:pPr>
            <a:r>
              <a:rPr lang="en-GB" sz="2900" b="1" dirty="0" smtClean="0">
                <a:latin typeface="Times New Roman" pitchFamily="18" charset="0"/>
                <a:ea typeface="Times New Roman"/>
                <a:cs typeface="Times New Roman" pitchFamily="18" charset="0"/>
              </a:rPr>
              <a:t>St</a:t>
            </a:r>
            <a:r>
              <a:rPr lang="en-GB" sz="2900" b="1" dirty="0">
                <a:latin typeface="Times New Roman" pitchFamily="18" charset="0"/>
                <a:ea typeface="Times New Roman"/>
                <a:cs typeface="Times New Roman" pitchFamily="18" charset="0"/>
              </a:rPr>
              <a:t>. Basil the Great</a:t>
            </a:r>
            <a:r>
              <a:rPr lang="en-GB" sz="2900" dirty="0">
                <a:latin typeface="Times New Roman" pitchFamily="18" charset="0"/>
                <a:ea typeface="Times New Roman"/>
                <a:cs typeface="Times New Roman" pitchFamily="18" charset="0"/>
              </a:rPr>
              <a:t>:</a:t>
            </a:r>
            <a:endParaRPr lang="en-GB" sz="2900" dirty="0">
              <a:latin typeface="Times New Roman" pitchFamily="18" charset="0"/>
              <a:ea typeface="Calibri"/>
              <a:cs typeface="Times New Roman" pitchFamily="18" charset="0"/>
            </a:endParaRPr>
          </a:p>
          <a:p>
            <a:pPr marL="914400">
              <a:lnSpc>
                <a:spcPct val="115000"/>
              </a:lnSpc>
              <a:spcAft>
                <a:spcPts val="1000"/>
              </a:spcAft>
            </a:pPr>
            <a:r>
              <a:rPr lang="en-GB" sz="2900" dirty="0">
                <a:latin typeface="Times New Roman" pitchFamily="18" charset="0"/>
                <a:ea typeface="Times New Roman"/>
                <a:cs typeface="Times New Roman" pitchFamily="18" charset="0"/>
              </a:rPr>
              <a:t>“When disputes arise among the faithful, the priest must become like a skilled physician: diagnosing not only the wound but also the cause.”</a:t>
            </a:r>
            <a:endParaRPr lang="en-GB" sz="2900" dirty="0">
              <a:latin typeface="Times New Roman" pitchFamily="18" charset="0"/>
              <a:ea typeface="Calibri"/>
              <a:cs typeface="Times New Roman" pitchFamily="18" charset="0"/>
            </a:endParaRPr>
          </a:p>
          <a:p>
            <a:pPr algn="just">
              <a:lnSpc>
                <a:spcPct val="115000"/>
              </a:lnSpc>
              <a:spcAft>
                <a:spcPts val="1000"/>
              </a:spcAft>
            </a:pPr>
            <a:endParaRPr lang="en-GB" sz="2400" dirty="0">
              <a:ea typeface="Calibri"/>
              <a:cs typeface="Times New Roman"/>
            </a:endParaRPr>
          </a:p>
          <a:p>
            <a:pPr marL="0" indent="0">
              <a:lnSpc>
                <a:spcPct val="115000"/>
              </a:lnSpc>
              <a:spcAft>
                <a:spcPts val="1000"/>
              </a:spcAft>
              <a:buNone/>
            </a:pPr>
            <a:endParaRPr lang="en-GB" sz="2800" dirty="0">
              <a:ea typeface="Calibri"/>
              <a:cs typeface="Times New Roman"/>
            </a:endParaRPr>
          </a:p>
          <a:p>
            <a:endParaRPr lang="en-GB" dirty="0"/>
          </a:p>
        </p:txBody>
      </p:sp>
    </p:spTree>
    <p:extLst>
      <p:ext uri="{BB962C8B-B14F-4D97-AF65-F5344CB8AC3E}">
        <p14:creationId xmlns:p14="http://schemas.microsoft.com/office/powerpoint/2010/main" val="458771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a:ea typeface="Times New Roman"/>
              </a:rPr>
              <a:t>Conflict Resolution</a:t>
            </a:r>
            <a:endParaRPr lang="en-GB" dirty="0"/>
          </a:p>
        </p:txBody>
      </p:sp>
      <p:sp>
        <p:nvSpPr>
          <p:cNvPr id="3" name="Content Placeholder 2"/>
          <p:cNvSpPr>
            <a:spLocks noGrp="1"/>
          </p:cNvSpPr>
          <p:nvPr>
            <p:ph idx="1"/>
          </p:nvPr>
        </p:nvSpPr>
        <p:spPr/>
        <p:txBody>
          <a:bodyPr>
            <a:normAutofit fontScale="70000" lnSpcReduction="20000"/>
          </a:bodyPr>
          <a:lstStyle/>
          <a:p>
            <a:pPr marL="0" indent="0" algn="just">
              <a:lnSpc>
                <a:spcPct val="115000"/>
              </a:lnSpc>
              <a:spcAft>
                <a:spcPts val="1000"/>
              </a:spcAft>
              <a:buNone/>
            </a:pPr>
            <a:r>
              <a:rPr lang="en-GB" b="1" dirty="0">
                <a:latin typeface="Times New Roman"/>
                <a:ea typeface="Times New Roman"/>
                <a:cs typeface="Times New Roman"/>
              </a:rPr>
              <a:t>Definition:</a:t>
            </a:r>
            <a:r>
              <a:rPr lang="en-GB" dirty="0">
                <a:latin typeface="Times New Roman"/>
                <a:ea typeface="Times New Roman"/>
                <a:cs typeface="Times New Roman"/>
              </a:rPr>
              <a:t/>
            </a:r>
            <a:br>
              <a:rPr lang="en-GB" dirty="0">
                <a:latin typeface="Times New Roman"/>
                <a:ea typeface="Times New Roman"/>
                <a:cs typeface="Times New Roman"/>
              </a:rPr>
            </a:br>
            <a:r>
              <a:rPr lang="en-GB" dirty="0">
                <a:latin typeface="Times New Roman"/>
                <a:ea typeface="Times New Roman"/>
                <a:cs typeface="Times New Roman"/>
              </a:rPr>
              <a:t>Conflict resolution is the set of practices aimed at easing tension and finding peaceful solutions.</a:t>
            </a:r>
            <a:endParaRPr lang="en-GB" sz="2800" dirty="0">
              <a:ea typeface="Calibri"/>
              <a:cs typeface="Times New Roman"/>
            </a:endParaRPr>
          </a:p>
          <a:p>
            <a:pPr>
              <a:lnSpc>
                <a:spcPct val="115000"/>
              </a:lnSpc>
              <a:spcAft>
                <a:spcPts val="1000"/>
              </a:spcAft>
            </a:pPr>
            <a:r>
              <a:rPr lang="en-GB" b="1" dirty="0">
                <a:latin typeface="Times New Roman"/>
                <a:ea typeface="Times New Roman"/>
                <a:cs typeface="Times New Roman"/>
              </a:rPr>
              <a:t>Why it matters in the Church:</a:t>
            </a:r>
            <a:r>
              <a:rPr lang="en-GB" dirty="0">
                <a:latin typeface="Times New Roman"/>
                <a:ea typeface="Times New Roman"/>
                <a:cs typeface="Times New Roman"/>
              </a:rPr>
              <a:t/>
            </a:r>
            <a:br>
              <a:rPr lang="en-GB" dirty="0">
                <a:latin typeface="Times New Roman"/>
                <a:ea typeface="Times New Roman"/>
                <a:cs typeface="Times New Roman"/>
              </a:rPr>
            </a:br>
            <a:r>
              <a:rPr lang="en-GB" dirty="0">
                <a:latin typeface="Times New Roman"/>
                <a:ea typeface="Times New Roman"/>
                <a:cs typeface="Times New Roman"/>
              </a:rPr>
              <a:t>The Church is the Body of Christ. Division within it is spiritual illness.</a:t>
            </a:r>
            <a:endParaRPr lang="en-GB" sz="2800" dirty="0">
              <a:ea typeface="Calibri"/>
              <a:cs typeface="Times New Roman"/>
            </a:endParaRPr>
          </a:p>
          <a:p>
            <a:pPr>
              <a:lnSpc>
                <a:spcPct val="115000"/>
              </a:lnSpc>
              <a:spcAft>
                <a:spcPts val="1000"/>
              </a:spcAft>
            </a:pPr>
            <a:r>
              <a:rPr lang="en-GB" b="1" dirty="0">
                <a:latin typeface="Times New Roman"/>
                <a:ea typeface="Times New Roman"/>
                <a:cs typeface="Times New Roman"/>
              </a:rPr>
              <a:t>Main Goals:</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dirty="0">
                <a:latin typeface="Times New Roman"/>
                <a:ea typeface="Times New Roman"/>
                <a:cs typeface="Times New Roman"/>
              </a:rPr>
              <a:t>Preserve unity.</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dirty="0">
                <a:latin typeface="Times New Roman"/>
                <a:ea typeface="Times New Roman"/>
                <a:cs typeface="Times New Roman"/>
              </a:rPr>
              <a:t>Promote love.</a:t>
            </a:r>
            <a:endParaRPr lang="en-GB" sz="2800" dirty="0">
              <a:ea typeface="Calibri"/>
              <a:cs typeface="Times New Roman"/>
            </a:endParaRPr>
          </a:p>
          <a:p>
            <a:r>
              <a:rPr lang="en-GB" dirty="0">
                <a:latin typeface="Times New Roman"/>
                <a:ea typeface="Times New Roman"/>
              </a:rPr>
              <a:t>Restore relationships</a:t>
            </a:r>
            <a:endParaRPr lang="en-GB" dirty="0"/>
          </a:p>
        </p:txBody>
      </p:sp>
    </p:spTree>
    <p:extLst>
      <p:ext uri="{BB962C8B-B14F-4D97-AF65-F5344CB8AC3E}">
        <p14:creationId xmlns:p14="http://schemas.microsoft.com/office/powerpoint/2010/main" val="10780372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b="1" dirty="0">
                <a:latin typeface="Times New Roman"/>
                <a:ea typeface="Times New Roman"/>
                <a:cs typeface="Times New Roman"/>
              </a:rPr>
              <a:t>Methods:</a:t>
            </a:r>
            <a:r>
              <a:rPr lang="en-GB" sz="4000" dirty="0">
                <a:ea typeface="Calibri"/>
                <a:cs typeface="Times New Roman"/>
              </a:rPr>
              <a:t/>
            </a:r>
            <a:br>
              <a:rPr lang="en-GB" sz="4000" dirty="0">
                <a:ea typeface="Calibri"/>
                <a:cs typeface="Times New Roman"/>
              </a:rPr>
            </a:br>
            <a:endParaRPr lang="en-GB" dirty="0"/>
          </a:p>
        </p:txBody>
      </p:sp>
      <p:sp>
        <p:nvSpPr>
          <p:cNvPr id="3" name="Content Placeholder 2"/>
          <p:cNvSpPr>
            <a:spLocks noGrp="1"/>
          </p:cNvSpPr>
          <p:nvPr>
            <p:ph idx="1"/>
          </p:nvPr>
        </p:nvSpPr>
        <p:spPr/>
        <p:txBody>
          <a:bodyPr>
            <a:normAutofit fontScale="70000" lnSpcReduction="20000"/>
          </a:bodyPr>
          <a:lstStyle/>
          <a:p>
            <a:pPr>
              <a:lnSpc>
                <a:spcPct val="115000"/>
              </a:lnSpc>
              <a:spcAft>
                <a:spcPts val="1000"/>
              </a:spcAft>
            </a:pPr>
            <a:r>
              <a:rPr lang="en-GB" b="1" dirty="0">
                <a:latin typeface="Times New Roman"/>
                <a:ea typeface="Times New Roman"/>
                <a:cs typeface="Times New Roman"/>
              </a:rPr>
              <a:t>Dialogue and Active Listening</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dirty="0">
                <a:latin typeface="Times New Roman"/>
                <a:ea typeface="Times New Roman"/>
                <a:cs typeface="Times New Roman"/>
              </a:rPr>
              <a:t>“Speak less, listen more.”</a:t>
            </a:r>
            <a:endParaRPr lang="en-GB" sz="2800" dirty="0">
              <a:ea typeface="Calibri"/>
              <a:cs typeface="Times New Roman"/>
            </a:endParaRPr>
          </a:p>
          <a:p>
            <a:pPr>
              <a:lnSpc>
                <a:spcPct val="115000"/>
              </a:lnSpc>
              <a:spcAft>
                <a:spcPts val="1000"/>
              </a:spcAft>
            </a:pPr>
            <a:r>
              <a:rPr lang="en-GB" i="1" dirty="0">
                <a:latin typeface="Times New Roman"/>
                <a:ea typeface="Times New Roman"/>
                <a:cs typeface="Times New Roman"/>
              </a:rPr>
              <a:t>James 1:19</a:t>
            </a:r>
            <a:r>
              <a:rPr lang="en-GB" dirty="0">
                <a:latin typeface="Times New Roman"/>
                <a:ea typeface="Times New Roman"/>
                <a:cs typeface="Times New Roman"/>
              </a:rPr>
              <a:t> – “Everyone should be quick to listen, slow to speak and slow to become angry.”</a:t>
            </a:r>
            <a:endParaRPr lang="en-GB" sz="2800" dirty="0">
              <a:ea typeface="Calibri"/>
              <a:cs typeface="Times New Roman"/>
            </a:endParaRPr>
          </a:p>
          <a:p>
            <a:pPr>
              <a:lnSpc>
                <a:spcPct val="115000"/>
              </a:lnSpc>
              <a:spcAft>
                <a:spcPts val="1000"/>
              </a:spcAft>
            </a:pPr>
            <a:r>
              <a:rPr lang="en-GB" b="1" dirty="0">
                <a:latin typeface="Times New Roman"/>
                <a:ea typeface="Times New Roman"/>
                <a:cs typeface="Times New Roman"/>
              </a:rPr>
              <a:t>2. Mediation by a Third Party (the Priest)</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dirty="0">
                <a:latin typeface="Times New Roman"/>
                <a:ea typeface="Times New Roman"/>
                <a:cs typeface="Times New Roman"/>
              </a:rPr>
              <a:t>Neutral guidance helps overcome bias.</a:t>
            </a:r>
            <a:endParaRPr lang="en-GB" sz="2800" dirty="0">
              <a:ea typeface="Calibri"/>
              <a:cs typeface="Times New Roman"/>
            </a:endParaRPr>
          </a:p>
          <a:p>
            <a:pPr>
              <a:lnSpc>
                <a:spcPct val="115000"/>
              </a:lnSpc>
              <a:spcAft>
                <a:spcPts val="1000"/>
              </a:spcAft>
            </a:pPr>
            <a:r>
              <a:rPr lang="en-GB" b="1" dirty="0">
                <a:latin typeface="Times New Roman"/>
                <a:ea typeface="Times New Roman"/>
                <a:cs typeface="Times New Roman"/>
              </a:rPr>
              <a:t>3. Reconciliation through Forgiveness</a:t>
            </a:r>
            <a:endParaRPr lang="en-GB" sz="2800" dirty="0">
              <a:ea typeface="Calibri"/>
              <a:cs typeface="Times New Roman"/>
            </a:endParaRPr>
          </a:p>
          <a:p>
            <a:pPr>
              <a:lnSpc>
                <a:spcPct val="115000"/>
              </a:lnSpc>
              <a:spcAft>
                <a:spcPts val="1000"/>
              </a:spcAft>
            </a:pPr>
            <a:r>
              <a:rPr lang="en-GB" i="1" dirty="0">
                <a:latin typeface="Times New Roman"/>
                <a:ea typeface="Times New Roman"/>
                <a:cs typeface="Times New Roman"/>
              </a:rPr>
              <a:t>Matthew 6:14–15</a:t>
            </a:r>
            <a:r>
              <a:rPr lang="en-GB" dirty="0">
                <a:latin typeface="Times New Roman"/>
                <a:ea typeface="Times New Roman"/>
                <a:cs typeface="Times New Roman"/>
              </a:rPr>
              <a:t> – “For if you forgive other people... your heavenly Father will also forgive you.”</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1741895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nSpc>
                <a:spcPct val="115000"/>
              </a:lnSpc>
              <a:spcAft>
                <a:spcPts val="1000"/>
              </a:spcAft>
            </a:pPr>
            <a:r>
              <a:rPr lang="en-GB" b="1" dirty="0">
                <a:latin typeface="Times New Roman"/>
                <a:ea typeface="Times New Roman"/>
                <a:cs typeface="Times New Roman"/>
              </a:rPr>
              <a:t>4. Prayer and Discernment</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dirty="0">
                <a:latin typeface="Times New Roman"/>
                <a:ea typeface="Times New Roman"/>
                <a:cs typeface="Times New Roman"/>
              </a:rPr>
              <a:t>Invite the Holy Spirit to illuminate minds.</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dirty="0">
                <a:latin typeface="Times New Roman"/>
                <a:ea typeface="Times New Roman"/>
                <a:cs typeface="Times New Roman"/>
              </a:rPr>
              <a:t>Lay issues at the foot of the cross.</a:t>
            </a:r>
            <a:endParaRPr lang="en-GB" sz="2800" dirty="0">
              <a:ea typeface="Calibri"/>
              <a:cs typeface="Times New Roman"/>
            </a:endParaRPr>
          </a:p>
          <a:p>
            <a:pPr>
              <a:lnSpc>
                <a:spcPct val="115000"/>
              </a:lnSpc>
              <a:spcAft>
                <a:spcPts val="1000"/>
              </a:spcAft>
            </a:pPr>
            <a:r>
              <a:rPr lang="en-GB" b="1" dirty="0">
                <a:latin typeface="Times New Roman"/>
                <a:ea typeface="Times New Roman"/>
                <a:cs typeface="Times New Roman"/>
              </a:rPr>
              <a:t>5. Sacramental Healing</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dirty="0">
                <a:latin typeface="Times New Roman"/>
                <a:ea typeface="Times New Roman"/>
                <a:cs typeface="Times New Roman"/>
              </a:rPr>
              <a:t>Confession restores individuals.</a:t>
            </a:r>
            <a:endParaRPr lang="en-GB" sz="2800" dirty="0">
              <a:ea typeface="Calibri"/>
              <a:cs typeface="Times New Roman"/>
            </a:endParaRPr>
          </a:p>
          <a:p>
            <a:r>
              <a:rPr lang="en-GB" dirty="0">
                <a:latin typeface="Times New Roman"/>
                <a:ea typeface="Times New Roman"/>
              </a:rPr>
              <a:t>Eucharist renews unity in Christ</a:t>
            </a:r>
            <a:endParaRPr lang="en-GB" dirty="0"/>
          </a:p>
        </p:txBody>
      </p:sp>
    </p:spTree>
    <p:extLst>
      <p:ext uri="{BB962C8B-B14F-4D97-AF65-F5344CB8AC3E}">
        <p14:creationId xmlns:p14="http://schemas.microsoft.com/office/powerpoint/2010/main" val="16872892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42900" lvl="0" indent="-342900">
              <a:lnSpc>
                <a:spcPct val="115000"/>
              </a:lnSpc>
              <a:spcBef>
                <a:spcPct val="20000"/>
              </a:spcBef>
              <a:spcAft>
                <a:spcPts val="1000"/>
              </a:spcAft>
            </a:pPr>
            <a:r>
              <a:rPr lang="en-GB" sz="2300" b="1" dirty="0">
                <a:solidFill>
                  <a:prstClr val="black"/>
                </a:solidFill>
                <a:latin typeface="Times New Roman"/>
                <a:ea typeface="Times New Roman"/>
                <a:cs typeface="Times New Roman"/>
              </a:rPr>
              <a:t>5. The Priest’s Role in Conflict </a:t>
            </a:r>
            <a:r>
              <a:rPr lang="en-GB" sz="2300" b="1" dirty="0" smtClean="0">
                <a:solidFill>
                  <a:prstClr val="black"/>
                </a:solidFill>
                <a:latin typeface="Times New Roman"/>
                <a:ea typeface="Times New Roman"/>
                <a:cs typeface="Times New Roman"/>
              </a:rPr>
              <a:t>Resolution </a:t>
            </a:r>
            <a:r>
              <a:rPr lang="en-GB" sz="1800" dirty="0">
                <a:solidFill>
                  <a:prstClr val="black"/>
                </a:solidFill>
                <a:ea typeface="Calibri"/>
                <a:cs typeface="Times New Roman"/>
              </a:rPr>
              <a:t/>
            </a:r>
            <a:br>
              <a:rPr lang="en-GB" sz="1800" dirty="0">
                <a:solidFill>
                  <a:prstClr val="black"/>
                </a:solidFill>
                <a:ea typeface="Calibri"/>
                <a:cs typeface="Times New Roman"/>
              </a:rPr>
            </a:br>
            <a:r>
              <a:rPr lang="en-GB" sz="1800" dirty="0" smtClean="0">
                <a:solidFill>
                  <a:prstClr val="black"/>
                </a:solidFill>
                <a:ea typeface="Calibri"/>
                <a:cs typeface="Times New Roman"/>
              </a:rPr>
              <a:t>A/ </a:t>
            </a:r>
            <a:r>
              <a:rPr lang="en-GB" sz="1800" dirty="0" smtClean="0">
                <a:solidFill>
                  <a:prstClr val="black"/>
                </a:solidFill>
                <a:latin typeface="Times New Roman" pitchFamily="18" charset="0"/>
                <a:ea typeface="Calibri"/>
                <a:cs typeface="Times New Roman" pitchFamily="18" charset="0"/>
              </a:rPr>
              <a:t>Mediation</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pPr marL="0" indent="0">
              <a:buNone/>
            </a:pPr>
            <a:r>
              <a:rPr lang="en-GB" sz="2600" i="1" dirty="0">
                <a:solidFill>
                  <a:prstClr val="black"/>
                </a:solidFill>
                <a:latin typeface="Times New Roman"/>
                <a:ea typeface="Times New Roman"/>
                <a:cs typeface="Times New Roman"/>
              </a:rPr>
              <a:t>St. Paul’s Role Model</a:t>
            </a:r>
            <a:r>
              <a:rPr lang="en-GB" sz="2600" dirty="0">
                <a:solidFill>
                  <a:prstClr val="black"/>
                </a:solidFill>
                <a:latin typeface="Times New Roman"/>
                <a:ea typeface="Times New Roman"/>
                <a:cs typeface="Times New Roman"/>
              </a:rPr>
              <a:t> – </a:t>
            </a:r>
            <a:r>
              <a:rPr lang="en-GB" sz="2600" dirty="0" smtClean="0">
                <a:solidFill>
                  <a:prstClr val="black"/>
                </a:solidFill>
                <a:latin typeface="Times New Roman"/>
                <a:ea typeface="Times New Roman"/>
                <a:cs typeface="Times New Roman"/>
              </a:rPr>
              <a:t>1 </a:t>
            </a:r>
            <a:r>
              <a:rPr lang="en-GB" sz="2600" dirty="0">
                <a:solidFill>
                  <a:prstClr val="black"/>
                </a:solidFill>
                <a:latin typeface="Times New Roman"/>
                <a:ea typeface="Times New Roman"/>
                <a:cs typeface="Times New Roman"/>
              </a:rPr>
              <a:t>Corinthians. The Corinthian church was full </a:t>
            </a:r>
            <a:r>
              <a:rPr lang="en-GB" sz="2600" dirty="0" smtClean="0">
                <a:solidFill>
                  <a:prstClr val="black"/>
                </a:solidFill>
                <a:latin typeface="Times New Roman"/>
                <a:ea typeface="Times New Roman"/>
                <a:cs typeface="Times New Roman"/>
              </a:rPr>
              <a:t>of </a:t>
            </a:r>
            <a:r>
              <a:rPr lang="en-GB" sz="2600" dirty="0">
                <a:solidFill>
                  <a:prstClr val="black"/>
                </a:solidFill>
                <a:latin typeface="Times New Roman"/>
                <a:ea typeface="Times New Roman"/>
                <a:cs typeface="Times New Roman"/>
              </a:rPr>
              <a:t>conflicts—Paul guided them with love and </a:t>
            </a:r>
            <a:r>
              <a:rPr lang="en-GB" sz="2600" dirty="0" smtClean="0">
                <a:solidFill>
                  <a:prstClr val="black"/>
                </a:solidFill>
                <a:latin typeface="Times New Roman"/>
                <a:ea typeface="Times New Roman"/>
                <a:cs typeface="Times New Roman"/>
              </a:rPr>
              <a:t>discipline. </a:t>
            </a:r>
          </a:p>
          <a:p>
            <a:pPr marL="0" indent="0" algn="just">
              <a:buNone/>
            </a:pPr>
            <a:r>
              <a:rPr lang="en-GB" sz="2600" b="1" dirty="0">
                <a:latin typeface="Times New Roman" pitchFamily="18" charset="0"/>
                <a:cs typeface="Times New Roman" pitchFamily="18" charset="0"/>
              </a:rPr>
              <a:t>Major Conflicts in the Corinthian Church:</a:t>
            </a:r>
          </a:p>
          <a:p>
            <a:pPr marL="0" indent="0" algn="just">
              <a:buNone/>
            </a:pPr>
            <a:r>
              <a:rPr lang="en-GB" sz="2600" b="1" dirty="0" smtClean="0">
                <a:latin typeface="Times New Roman" pitchFamily="18" charset="0"/>
                <a:cs typeface="Times New Roman" pitchFamily="18" charset="0"/>
              </a:rPr>
              <a:t>1/Divisions </a:t>
            </a:r>
            <a:r>
              <a:rPr lang="en-GB" sz="2600" b="1" dirty="0">
                <a:latin typeface="Times New Roman" pitchFamily="18" charset="0"/>
                <a:cs typeface="Times New Roman" pitchFamily="18" charset="0"/>
              </a:rPr>
              <a:t>and Factions</a:t>
            </a:r>
            <a:r>
              <a:rPr lang="en-GB" sz="2600" dirty="0">
                <a:latin typeface="Times New Roman" pitchFamily="18" charset="0"/>
                <a:cs typeface="Times New Roman" pitchFamily="18" charset="0"/>
              </a:rPr>
              <a:t> (1 Corinthians 1:10–17)</a:t>
            </a:r>
          </a:p>
          <a:p>
            <a:pPr marL="0" indent="0" algn="just">
              <a:buNone/>
            </a:pPr>
            <a:r>
              <a:rPr lang="en-GB" sz="2600" dirty="0">
                <a:latin typeface="Times New Roman" pitchFamily="18" charset="0"/>
                <a:cs typeface="Times New Roman" pitchFamily="18" charset="0"/>
              </a:rPr>
              <a:t>Some said, “I follow Paul,” others “</a:t>
            </a:r>
            <a:r>
              <a:rPr lang="en-GB" sz="2600" dirty="0" err="1">
                <a:latin typeface="Times New Roman" pitchFamily="18" charset="0"/>
                <a:cs typeface="Times New Roman" pitchFamily="18" charset="0"/>
              </a:rPr>
              <a:t>Apollos</a:t>
            </a:r>
            <a:r>
              <a:rPr lang="en-GB" sz="2600" dirty="0">
                <a:latin typeface="Times New Roman" pitchFamily="18" charset="0"/>
                <a:cs typeface="Times New Roman" pitchFamily="18" charset="0"/>
              </a:rPr>
              <a:t>,” “</a:t>
            </a:r>
            <a:r>
              <a:rPr lang="en-GB" sz="2600" dirty="0" err="1">
                <a:latin typeface="Times New Roman" pitchFamily="18" charset="0"/>
                <a:cs typeface="Times New Roman" pitchFamily="18" charset="0"/>
              </a:rPr>
              <a:t>Cephas</a:t>
            </a:r>
            <a:r>
              <a:rPr lang="en-GB" sz="2600" dirty="0">
                <a:latin typeface="Times New Roman" pitchFamily="18" charset="0"/>
                <a:cs typeface="Times New Roman" pitchFamily="18" charset="0"/>
              </a:rPr>
              <a:t>,” or “Christ.”</a:t>
            </a:r>
          </a:p>
          <a:p>
            <a:pPr algn="just">
              <a:buFont typeface="Arial"/>
              <a:buChar char="•"/>
            </a:pPr>
            <a:r>
              <a:rPr lang="en-GB" sz="2600" b="1" dirty="0">
                <a:latin typeface="Times New Roman" pitchFamily="18" charset="0"/>
                <a:cs typeface="Times New Roman" pitchFamily="18" charset="0"/>
              </a:rPr>
              <a:t>Root cause</a:t>
            </a:r>
            <a:r>
              <a:rPr lang="en-GB" sz="2600" dirty="0">
                <a:latin typeface="Times New Roman" pitchFamily="18" charset="0"/>
                <a:cs typeface="Times New Roman" pitchFamily="18" charset="0"/>
              </a:rPr>
              <a:t>: Pride, competition, and misunderstanding of Christian leadership.</a:t>
            </a:r>
          </a:p>
          <a:p>
            <a:pPr algn="just">
              <a:buFont typeface="Arial"/>
              <a:buChar char="•"/>
            </a:pPr>
            <a:r>
              <a:rPr lang="en-GB" sz="2600" b="1" dirty="0">
                <a:latin typeface="Times New Roman" pitchFamily="18" charset="0"/>
                <a:cs typeface="Times New Roman" pitchFamily="18" charset="0"/>
              </a:rPr>
              <a:t>Paul’s Solution</a:t>
            </a:r>
            <a:r>
              <a:rPr lang="en-GB" sz="2600" dirty="0">
                <a:latin typeface="Times New Roman" pitchFamily="18" charset="0"/>
                <a:cs typeface="Times New Roman" pitchFamily="18" charset="0"/>
              </a:rPr>
              <a:t>: He urged unity in Christ and reminded them that it is </a:t>
            </a:r>
            <a:r>
              <a:rPr lang="en-GB" sz="2600" b="1" dirty="0">
                <a:latin typeface="Times New Roman" pitchFamily="18" charset="0"/>
                <a:cs typeface="Times New Roman" pitchFamily="18" charset="0"/>
              </a:rPr>
              <a:t>Christ who was crucified</a:t>
            </a:r>
            <a:r>
              <a:rPr lang="en-GB" sz="2600" dirty="0">
                <a:latin typeface="Times New Roman" pitchFamily="18" charset="0"/>
                <a:cs typeface="Times New Roman" pitchFamily="18" charset="0"/>
              </a:rPr>
              <a:t>, not any human leader.</a:t>
            </a:r>
          </a:p>
          <a:p>
            <a:pPr marL="0" indent="0">
              <a:buNone/>
            </a:pPr>
            <a:endParaRPr lang="en-GB" dirty="0"/>
          </a:p>
        </p:txBody>
      </p:sp>
    </p:spTree>
    <p:extLst>
      <p:ext uri="{BB962C8B-B14F-4D97-AF65-F5344CB8AC3E}">
        <p14:creationId xmlns:p14="http://schemas.microsoft.com/office/powerpoint/2010/main" val="1990407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42900" lvl="0" indent="-342900">
              <a:spcBef>
                <a:spcPct val="20000"/>
              </a:spcBef>
            </a:pPr>
            <a:r>
              <a:rPr lang="en-GB" sz="2200" b="1" dirty="0" smtClean="0">
                <a:solidFill>
                  <a:prstClr val="black"/>
                </a:solidFill>
                <a:latin typeface="Times New Roman" pitchFamily="18" charset="0"/>
                <a:ea typeface="+mn-ea"/>
                <a:cs typeface="Times New Roman" pitchFamily="18" charset="0"/>
              </a:rPr>
              <a:t>2/ Sexual </a:t>
            </a:r>
            <a:r>
              <a:rPr lang="en-GB" sz="2200" b="1" dirty="0">
                <a:solidFill>
                  <a:prstClr val="black"/>
                </a:solidFill>
                <a:latin typeface="Times New Roman" pitchFamily="18" charset="0"/>
                <a:ea typeface="+mn-ea"/>
                <a:cs typeface="Times New Roman" pitchFamily="18" charset="0"/>
              </a:rPr>
              <a:t>Immorality</a:t>
            </a:r>
            <a:r>
              <a:rPr lang="en-GB" sz="2200" dirty="0">
                <a:solidFill>
                  <a:prstClr val="black"/>
                </a:solidFill>
                <a:latin typeface="Times New Roman" pitchFamily="18" charset="0"/>
                <a:ea typeface="+mn-ea"/>
                <a:cs typeface="Times New Roman" pitchFamily="18" charset="0"/>
              </a:rPr>
              <a:t> (1 Corinthians 5:1–13; 6:12–20)</a:t>
            </a:r>
            <a:br>
              <a:rPr lang="en-GB" sz="2200" dirty="0">
                <a:solidFill>
                  <a:prstClr val="black"/>
                </a:solidFill>
                <a:latin typeface="Times New Roman" pitchFamily="18" charset="0"/>
                <a:ea typeface="+mn-ea"/>
                <a:cs typeface="Times New Roman" pitchFamily="18" charset="0"/>
              </a:rPr>
            </a:b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pPr marL="0" indent="0" algn="just">
              <a:buNone/>
            </a:pPr>
            <a:r>
              <a:rPr lang="en-GB" dirty="0" smtClean="0">
                <a:latin typeface="Times New Roman" pitchFamily="18" charset="0"/>
                <a:cs typeface="Times New Roman" pitchFamily="18" charset="0"/>
              </a:rPr>
              <a:t>A </a:t>
            </a:r>
            <a:r>
              <a:rPr lang="en-GB" dirty="0">
                <a:latin typeface="Times New Roman" pitchFamily="18" charset="0"/>
                <a:cs typeface="Times New Roman" pitchFamily="18" charset="0"/>
              </a:rPr>
              <a:t>man was living with his father’s wife, and the church tolerated it.</a:t>
            </a:r>
          </a:p>
          <a:p>
            <a:pPr algn="just">
              <a:buFont typeface="Arial"/>
              <a:buChar char="•"/>
            </a:pPr>
            <a:r>
              <a:rPr lang="en-GB" b="1" dirty="0">
                <a:latin typeface="Times New Roman" pitchFamily="18" charset="0"/>
                <a:cs typeface="Times New Roman" pitchFamily="18" charset="0"/>
              </a:rPr>
              <a:t>Root cause</a:t>
            </a:r>
            <a:r>
              <a:rPr lang="en-GB" dirty="0">
                <a:latin typeface="Times New Roman" pitchFamily="18" charset="0"/>
                <a:cs typeface="Times New Roman" pitchFamily="18" charset="0"/>
              </a:rPr>
              <a:t>: Misunderstanding Christian liberty; moral laxity.</a:t>
            </a:r>
          </a:p>
          <a:p>
            <a:pPr algn="just">
              <a:buFont typeface="Arial"/>
              <a:buChar char="•"/>
            </a:pPr>
            <a:r>
              <a:rPr lang="en-GB" b="1" dirty="0">
                <a:latin typeface="Times New Roman" pitchFamily="18" charset="0"/>
                <a:cs typeface="Times New Roman" pitchFamily="18" charset="0"/>
              </a:rPr>
              <a:t>Paul’s Solution</a:t>
            </a:r>
            <a:r>
              <a:rPr lang="en-GB" dirty="0">
                <a:latin typeface="Times New Roman" pitchFamily="18" charset="0"/>
                <a:cs typeface="Times New Roman" pitchFamily="18" charset="0"/>
              </a:rPr>
              <a:t>: He demanded </a:t>
            </a:r>
            <a:r>
              <a:rPr lang="en-GB" b="1" dirty="0">
                <a:latin typeface="Times New Roman" pitchFamily="18" charset="0"/>
                <a:cs typeface="Times New Roman" pitchFamily="18" charset="0"/>
              </a:rPr>
              <a:t>discipline and excommunication</a:t>
            </a:r>
            <a:r>
              <a:rPr lang="en-GB" dirty="0">
                <a:latin typeface="Times New Roman" pitchFamily="18" charset="0"/>
                <a:cs typeface="Times New Roman" pitchFamily="18" charset="0"/>
              </a:rPr>
              <a:t> for unrepentant sin, and taught that the body is the </a:t>
            </a:r>
            <a:r>
              <a:rPr lang="en-GB" b="1" dirty="0">
                <a:latin typeface="Times New Roman" pitchFamily="18" charset="0"/>
                <a:cs typeface="Times New Roman" pitchFamily="18" charset="0"/>
              </a:rPr>
              <a:t>temple of the Holy Spirit</a:t>
            </a:r>
            <a:r>
              <a:rPr lang="en-GB" dirty="0">
                <a:latin typeface="Times New Roman" pitchFamily="18" charset="0"/>
                <a:cs typeface="Times New Roman" pitchFamily="18" charset="0"/>
              </a:rPr>
              <a:t>.</a:t>
            </a:r>
          </a:p>
          <a:p>
            <a:pPr marL="0" indent="0" algn="just">
              <a:buNone/>
            </a:pPr>
            <a:r>
              <a:rPr lang="en-GB" b="1" dirty="0" smtClean="0">
                <a:latin typeface="Times New Roman" pitchFamily="18" charset="0"/>
                <a:cs typeface="Times New Roman" pitchFamily="18" charset="0"/>
              </a:rPr>
              <a:t>3/Lawsuits </a:t>
            </a:r>
            <a:r>
              <a:rPr lang="en-GB" b="1" dirty="0">
                <a:latin typeface="Times New Roman" pitchFamily="18" charset="0"/>
                <a:cs typeface="Times New Roman" pitchFamily="18" charset="0"/>
              </a:rPr>
              <a:t>Among Believers</a:t>
            </a:r>
            <a:r>
              <a:rPr lang="en-GB" dirty="0">
                <a:latin typeface="Times New Roman" pitchFamily="18" charset="0"/>
                <a:cs typeface="Times New Roman" pitchFamily="18" charset="0"/>
              </a:rPr>
              <a:t> (1 Corinthians 6:1–8)</a:t>
            </a:r>
          </a:p>
          <a:p>
            <a:pPr marL="0" indent="0" algn="just">
              <a:buNone/>
            </a:pPr>
            <a:r>
              <a:rPr lang="en-GB" dirty="0">
                <a:latin typeface="Times New Roman" pitchFamily="18" charset="0"/>
                <a:cs typeface="Times New Roman" pitchFamily="18" charset="0"/>
              </a:rPr>
              <a:t>Church members were suing one another in secular courts.</a:t>
            </a:r>
          </a:p>
          <a:p>
            <a:pPr algn="just">
              <a:buFont typeface="Arial"/>
              <a:buChar char="•"/>
            </a:pPr>
            <a:r>
              <a:rPr lang="en-GB" b="1" dirty="0">
                <a:latin typeface="Times New Roman" pitchFamily="18" charset="0"/>
                <a:cs typeface="Times New Roman" pitchFamily="18" charset="0"/>
              </a:rPr>
              <a:t>Root cause</a:t>
            </a:r>
            <a:r>
              <a:rPr lang="en-GB" dirty="0">
                <a:latin typeface="Times New Roman" pitchFamily="18" charset="0"/>
                <a:cs typeface="Times New Roman" pitchFamily="18" charset="0"/>
              </a:rPr>
              <a:t>: Lack of love and spiritual maturity.</a:t>
            </a:r>
          </a:p>
          <a:p>
            <a:pPr algn="just">
              <a:buFont typeface="Arial"/>
              <a:buChar char="•"/>
            </a:pPr>
            <a:r>
              <a:rPr lang="en-GB" b="1" dirty="0">
                <a:latin typeface="Times New Roman" pitchFamily="18" charset="0"/>
                <a:cs typeface="Times New Roman" pitchFamily="18" charset="0"/>
              </a:rPr>
              <a:t>Paul’s Solution</a:t>
            </a:r>
            <a:r>
              <a:rPr lang="en-GB" dirty="0">
                <a:latin typeface="Times New Roman" pitchFamily="18" charset="0"/>
                <a:cs typeface="Times New Roman" pitchFamily="18" charset="0"/>
              </a:rPr>
              <a:t>: He told them to </a:t>
            </a:r>
            <a:r>
              <a:rPr lang="en-GB" b="1" dirty="0">
                <a:latin typeface="Times New Roman" pitchFamily="18" charset="0"/>
                <a:cs typeface="Times New Roman" pitchFamily="18" charset="0"/>
              </a:rPr>
              <a:t>settle disputes inside the Church</a:t>
            </a:r>
            <a:r>
              <a:rPr lang="en-GB" dirty="0">
                <a:latin typeface="Times New Roman" pitchFamily="18" charset="0"/>
                <a:cs typeface="Times New Roman" pitchFamily="18" charset="0"/>
              </a:rPr>
              <a:t>, and even encouraged </a:t>
            </a:r>
            <a:r>
              <a:rPr lang="en-GB" b="1" dirty="0">
                <a:latin typeface="Times New Roman" pitchFamily="18" charset="0"/>
                <a:cs typeface="Times New Roman" pitchFamily="18" charset="0"/>
              </a:rPr>
              <a:t>suffering wrong</a:t>
            </a:r>
            <a:r>
              <a:rPr lang="en-GB" dirty="0">
                <a:latin typeface="Times New Roman" pitchFamily="18" charset="0"/>
                <a:cs typeface="Times New Roman" pitchFamily="18" charset="0"/>
              </a:rPr>
              <a:t> rather than damaging the Church’s witness.</a:t>
            </a:r>
          </a:p>
          <a:p>
            <a:endParaRPr lang="en-GB" dirty="0"/>
          </a:p>
        </p:txBody>
      </p:sp>
    </p:spTree>
    <p:extLst>
      <p:ext uri="{BB962C8B-B14F-4D97-AF65-F5344CB8AC3E}">
        <p14:creationId xmlns:p14="http://schemas.microsoft.com/office/powerpoint/2010/main" val="2316808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342900" lvl="0" indent="-342900">
              <a:spcBef>
                <a:spcPct val="20000"/>
              </a:spcBef>
            </a:pPr>
            <a:r>
              <a:rPr lang="en-GB" sz="2200" b="1" dirty="0" smtClean="0">
                <a:solidFill>
                  <a:prstClr val="black"/>
                </a:solidFill>
                <a:latin typeface="Times New Roman" pitchFamily="18" charset="0"/>
                <a:ea typeface="+mn-ea"/>
                <a:cs typeface="Times New Roman" pitchFamily="18" charset="0"/>
              </a:rPr>
              <a:t>4/ Disorder </a:t>
            </a:r>
            <a:r>
              <a:rPr lang="en-GB" sz="2200" b="1" dirty="0">
                <a:solidFill>
                  <a:prstClr val="black"/>
                </a:solidFill>
                <a:latin typeface="Times New Roman" pitchFamily="18" charset="0"/>
                <a:ea typeface="+mn-ea"/>
                <a:cs typeface="Times New Roman" pitchFamily="18" charset="0"/>
              </a:rPr>
              <a:t>in Worship and the Lord’s Supper</a:t>
            </a:r>
            <a:r>
              <a:rPr lang="en-GB" sz="2200" dirty="0">
                <a:solidFill>
                  <a:prstClr val="black"/>
                </a:solidFill>
                <a:latin typeface="Times New Roman" pitchFamily="18" charset="0"/>
                <a:ea typeface="+mn-ea"/>
                <a:cs typeface="Times New Roman" pitchFamily="18" charset="0"/>
              </a:rPr>
              <a:t> (1 Corinthians 11:17–34)</a:t>
            </a:r>
            <a:br>
              <a:rPr lang="en-GB" sz="2200" dirty="0">
                <a:solidFill>
                  <a:prstClr val="black"/>
                </a:solidFill>
                <a:latin typeface="Times New Roman" pitchFamily="18" charset="0"/>
                <a:ea typeface="+mn-ea"/>
                <a:cs typeface="Times New Roman" pitchFamily="18" charset="0"/>
              </a:rPr>
            </a:b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pPr marL="0" indent="0" algn="just">
              <a:buNone/>
            </a:pPr>
            <a:r>
              <a:rPr lang="en-GB" dirty="0" smtClean="0">
                <a:latin typeface="Times New Roman" pitchFamily="18" charset="0"/>
                <a:cs typeface="Times New Roman" pitchFamily="18" charset="0"/>
              </a:rPr>
              <a:t>The </a:t>
            </a:r>
            <a:r>
              <a:rPr lang="en-GB" dirty="0">
                <a:latin typeface="Times New Roman" pitchFamily="18" charset="0"/>
                <a:cs typeface="Times New Roman" pitchFamily="18" charset="0"/>
              </a:rPr>
              <a:t>rich ate well while the poor were humiliated during the communal meal.</a:t>
            </a:r>
          </a:p>
          <a:p>
            <a:pPr algn="just">
              <a:buFont typeface="Arial"/>
              <a:buChar char="•"/>
            </a:pPr>
            <a:r>
              <a:rPr lang="en-GB" b="1" dirty="0">
                <a:latin typeface="Times New Roman" pitchFamily="18" charset="0"/>
                <a:cs typeface="Times New Roman" pitchFamily="18" charset="0"/>
              </a:rPr>
              <a:t>Root cause</a:t>
            </a:r>
            <a:r>
              <a:rPr lang="en-GB" dirty="0">
                <a:latin typeface="Times New Roman" pitchFamily="18" charset="0"/>
                <a:cs typeface="Times New Roman" pitchFamily="18" charset="0"/>
              </a:rPr>
              <a:t>: Social division and lack of reverence.</a:t>
            </a:r>
          </a:p>
          <a:p>
            <a:pPr algn="just">
              <a:buFont typeface="Arial"/>
              <a:buChar char="•"/>
            </a:pPr>
            <a:r>
              <a:rPr lang="en-GB" b="1" dirty="0">
                <a:latin typeface="Times New Roman" pitchFamily="18" charset="0"/>
                <a:cs typeface="Times New Roman" pitchFamily="18" charset="0"/>
              </a:rPr>
              <a:t>Paul’s Solution</a:t>
            </a:r>
            <a:r>
              <a:rPr lang="en-GB" dirty="0">
                <a:latin typeface="Times New Roman" pitchFamily="18" charset="0"/>
                <a:cs typeface="Times New Roman" pitchFamily="18" charset="0"/>
              </a:rPr>
              <a:t>: He reminded them of the sacredness of the Lord’s Supper and called for </a:t>
            </a:r>
            <a:r>
              <a:rPr lang="en-GB" b="1" dirty="0">
                <a:latin typeface="Times New Roman" pitchFamily="18" charset="0"/>
                <a:cs typeface="Times New Roman" pitchFamily="18" charset="0"/>
              </a:rPr>
              <a:t>examination of conscience</a:t>
            </a:r>
            <a:r>
              <a:rPr lang="en-GB" dirty="0">
                <a:latin typeface="Times New Roman" pitchFamily="18" charset="0"/>
                <a:cs typeface="Times New Roman" pitchFamily="18" charset="0"/>
              </a:rPr>
              <a:t> before partaking.</a:t>
            </a:r>
          </a:p>
          <a:p>
            <a:pPr marL="0" indent="0" algn="just">
              <a:buNone/>
            </a:pPr>
            <a:r>
              <a:rPr lang="en-GB" b="1" dirty="0" smtClean="0">
                <a:latin typeface="Times New Roman" pitchFamily="18" charset="0"/>
                <a:cs typeface="Times New Roman" pitchFamily="18" charset="0"/>
              </a:rPr>
              <a:t>5/ Misuse </a:t>
            </a:r>
            <a:r>
              <a:rPr lang="en-GB" b="1" dirty="0">
                <a:latin typeface="Times New Roman" pitchFamily="18" charset="0"/>
                <a:cs typeface="Times New Roman" pitchFamily="18" charset="0"/>
              </a:rPr>
              <a:t>of Spiritual Gifts</a:t>
            </a:r>
            <a:r>
              <a:rPr lang="en-GB" dirty="0">
                <a:latin typeface="Times New Roman" pitchFamily="18" charset="0"/>
                <a:cs typeface="Times New Roman" pitchFamily="18" charset="0"/>
              </a:rPr>
              <a:t> (1 Corinthians 12–14)</a:t>
            </a:r>
          </a:p>
          <a:p>
            <a:pPr marL="0" indent="0" algn="just">
              <a:buNone/>
            </a:pPr>
            <a:r>
              <a:rPr lang="en-GB" dirty="0">
                <a:latin typeface="Times New Roman" pitchFamily="18" charset="0"/>
                <a:cs typeface="Times New Roman" pitchFamily="18" charset="0"/>
              </a:rPr>
              <a:t>Some exalted their gifts (e.g., tongues) above others.</a:t>
            </a:r>
          </a:p>
          <a:p>
            <a:pPr algn="just">
              <a:buFont typeface="Arial"/>
              <a:buChar char="•"/>
            </a:pPr>
            <a:r>
              <a:rPr lang="en-GB" b="1" dirty="0">
                <a:latin typeface="Times New Roman" pitchFamily="18" charset="0"/>
                <a:cs typeface="Times New Roman" pitchFamily="18" charset="0"/>
              </a:rPr>
              <a:t>Root cause</a:t>
            </a:r>
            <a:r>
              <a:rPr lang="en-GB" dirty="0">
                <a:latin typeface="Times New Roman" pitchFamily="18" charset="0"/>
                <a:cs typeface="Times New Roman" pitchFamily="18" charset="0"/>
              </a:rPr>
              <a:t>: Pride and misunderstanding the purpose of gifts.</a:t>
            </a:r>
          </a:p>
          <a:p>
            <a:pPr algn="just">
              <a:buFont typeface="Arial"/>
              <a:buChar char="•"/>
            </a:pPr>
            <a:r>
              <a:rPr lang="en-GB" b="1" dirty="0">
                <a:latin typeface="Times New Roman" pitchFamily="18" charset="0"/>
                <a:cs typeface="Times New Roman" pitchFamily="18" charset="0"/>
              </a:rPr>
              <a:t>Paul’s Solution</a:t>
            </a:r>
            <a:r>
              <a:rPr lang="en-GB" dirty="0">
                <a:latin typeface="Times New Roman" pitchFamily="18" charset="0"/>
                <a:cs typeface="Times New Roman" pitchFamily="18" charset="0"/>
              </a:rPr>
              <a:t>: He taught that </a:t>
            </a:r>
            <a:r>
              <a:rPr lang="en-GB" b="1" dirty="0">
                <a:latin typeface="Times New Roman" pitchFamily="18" charset="0"/>
                <a:cs typeface="Times New Roman" pitchFamily="18" charset="0"/>
              </a:rPr>
              <a:t>all gifts are from the same Spirit</a:t>
            </a:r>
            <a:r>
              <a:rPr lang="en-GB" dirty="0">
                <a:latin typeface="Times New Roman" pitchFamily="18" charset="0"/>
                <a:cs typeface="Times New Roman" pitchFamily="18" charset="0"/>
              </a:rPr>
              <a:t> and must be used </a:t>
            </a:r>
            <a:r>
              <a:rPr lang="en-GB" b="1" dirty="0">
                <a:latin typeface="Times New Roman" pitchFamily="18" charset="0"/>
                <a:cs typeface="Times New Roman" pitchFamily="18" charset="0"/>
              </a:rPr>
              <a:t>in love</a:t>
            </a:r>
            <a:r>
              <a:rPr lang="en-GB" dirty="0">
                <a:latin typeface="Times New Roman" pitchFamily="18" charset="0"/>
                <a:cs typeface="Times New Roman" pitchFamily="18" charset="0"/>
              </a:rPr>
              <a:t> for the edification of the Church.</a:t>
            </a:r>
          </a:p>
          <a:p>
            <a:endParaRPr lang="en-GB" dirty="0"/>
          </a:p>
        </p:txBody>
      </p:sp>
    </p:spTree>
    <p:extLst>
      <p:ext uri="{BB962C8B-B14F-4D97-AF65-F5344CB8AC3E}">
        <p14:creationId xmlns:p14="http://schemas.microsoft.com/office/powerpoint/2010/main" val="2128278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342900" lvl="0" indent="-342900">
              <a:spcBef>
                <a:spcPct val="20000"/>
              </a:spcBef>
            </a:pPr>
            <a:r>
              <a:rPr lang="en-GB" sz="3200" b="1" dirty="0" smtClean="0">
                <a:solidFill>
                  <a:prstClr val="black"/>
                </a:solidFill>
                <a:latin typeface="Times New Roman" pitchFamily="18" charset="0"/>
                <a:ea typeface="+mn-ea"/>
                <a:cs typeface="Times New Roman" pitchFamily="18" charset="0"/>
              </a:rPr>
              <a:t>6/ Doubts </a:t>
            </a:r>
            <a:r>
              <a:rPr lang="en-GB" sz="3200" b="1" dirty="0">
                <a:solidFill>
                  <a:prstClr val="black"/>
                </a:solidFill>
                <a:latin typeface="Times New Roman" pitchFamily="18" charset="0"/>
                <a:ea typeface="+mn-ea"/>
                <a:cs typeface="Times New Roman" pitchFamily="18" charset="0"/>
              </a:rPr>
              <a:t>about the Resurrection</a:t>
            </a:r>
            <a:r>
              <a:rPr lang="en-GB" sz="3200" dirty="0">
                <a:solidFill>
                  <a:prstClr val="black"/>
                </a:solidFill>
                <a:latin typeface="Times New Roman" pitchFamily="18" charset="0"/>
                <a:ea typeface="+mn-ea"/>
                <a:cs typeface="Times New Roman" pitchFamily="18" charset="0"/>
              </a:rPr>
              <a:t> (1 Corinthians 15)</a:t>
            </a:r>
            <a:br>
              <a:rPr lang="en-GB" sz="3200" dirty="0">
                <a:solidFill>
                  <a:prstClr val="black"/>
                </a:solidFill>
                <a:latin typeface="Times New Roman" pitchFamily="18" charset="0"/>
                <a:ea typeface="+mn-ea"/>
                <a:cs typeface="Times New Roman" pitchFamily="18" charset="0"/>
              </a:rPr>
            </a:b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pPr lvl="1" algn="just">
              <a:buFont typeface="+mj-lt"/>
              <a:buAutoNum type="arabicPeriod"/>
            </a:pPr>
            <a:r>
              <a:rPr lang="en-GB" dirty="0" smtClean="0">
                <a:latin typeface="Times New Roman" pitchFamily="18" charset="0"/>
                <a:cs typeface="Times New Roman" pitchFamily="18" charset="0"/>
              </a:rPr>
              <a:t>Some </a:t>
            </a:r>
            <a:r>
              <a:rPr lang="en-GB" dirty="0">
                <a:latin typeface="Times New Roman" pitchFamily="18" charset="0"/>
                <a:cs typeface="Times New Roman" pitchFamily="18" charset="0"/>
              </a:rPr>
              <a:t>denied the bodily resurrection.</a:t>
            </a:r>
          </a:p>
          <a:p>
            <a:pPr lvl="1" algn="just">
              <a:buFont typeface="+mj-lt"/>
              <a:buAutoNum type="arabicPeriod"/>
            </a:pPr>
            <a:r>
              <a:rPr lang="en-GB" b="1" dirty="0">
                <a:latin typeface="Times New Roman" pitchFamily="18" charset="0"/>
                <a:cs typeface="Times New Roman" pitchFamily="18" charset="0"/>
              </a:rPr>
              <a:t>Root cause</a:t>
            </a:r>
            <a:r>
              <a:rPr lang="en-GB" dirty="0">
                <a:latin typeface="Times New Roman" pitchFamily="18" charset="0"/>
                <a:cs typeface="Times New Roman" pitchFamily="18" charset="0"/>
              </a:rPr>
              <a:t>: Greek influence and faulty theology.</a:t>
            </a:r>
          </a:p>
          <a:p>
            <a:pPr lvl="1" algn="just">
              <a:buFont typeface="+mj-lt"/>
              <a:buAutoNum type="arabicPeriod"/>
            </a:pPr>
            <a:r>
              <a:rPr lang="en-GB" b="1" dirty="0">
                <a:latin typeface="Times New Roman" pitchFamily="18" charset="0"/>
                <a:cs typeface="Times New Roman" pitchFamily="18" charset="0"/>
              </a:rPr>
              <a:t>Paul’s Solution</a:t>
            </a:r>
            <a:r>
              <a:rPr lang="en-GB" dirty="0">
                <a:latin typeface="Times New Roman" pitchFamily="18" charset="0"/>
                <a:cs typeface="Times New Roman" pitchFamily="18" charset="0"/>
              </a:rPr>
              <a:t>: A firm theological argument: if Christ is not raised, our faith is in vain. He defends the resurrection as central to Christian hope.</a:t>
            </a:r>
          </a:p>
          <a:p>
            <a:pPr marL="0" indent="0" algn="just">
              <a:buNone/>
            </a:pPr>
            <a:r>
              <a:rPr lang="en-GB" b="1" dirty="0" smtClean="0">
                <a:latin typeface="Times New Roman" pitchFamily="18" charset="0"/>
                <a:cs typeface="Times New Roman" pitchFamily="18" charset="0"/>
              </a:rPr>
              <a:t>Generally Paul </a:t>
            </a:r>
            <a:r>
              <a:rPr lang="en-GB" b="1" dirty="0">
                <a:latin typeface="Times New Roman" pitchFamily="18" charset="0"/>
                <a:cs typeface="Times New Roman" pitchFamily="18" charset="0"/>
              </a:rPr>
              <a:t>Solved These Conflicts:</a:t>
            </a:r>
          </a:p>
          <a:p>
            <a:pPr algn="just">
              <a:buFont typeface="Arial"/>
              <a:buChar char="•"/>
            </a:pPr>
            <a:r>
              <a:rPr lang="en-GB" b="1" dirty="0">
                <a:latin typeface="Times New Roman" pitchFamily="18" charset="0"/>
                <a:cs typeface="Times New Roman" pitchFamily="18" charset="0"/>
              </a:rPr>
              <a:t>With Love and Discipline</a:t>
            </a:r>
            <a:r>
              <a:rPr lang="en-GB" dirty="0">
                <a:latin typeface="Times New Roman" pitchFamily="18" charset="0"/>
                <a:cs typeface="Times New Roman" pitchFamily="18" charset="0"/>
              </a:rPr>
              <a:t>: He combined pastoral gentleness with strong correction (1 Cor. 13 – the “love chapter” is central).</a:t>
            </a:r>
          </a:p>
          <a:p>
            <a:pPr algn="just">
              <a:buFont typeface="Arial"/>
              <a:buChar char="•"/>
            </a:pPr>
            <a:r>
              <a:rPr lang="en-GB" b="1" dirty="0">
                <a:latin typeface="Times New Roman" pitchFamily="18" charset="0"/>
                <a:cs typeface="Times New Roman" pitchFamily="18" charset="0"/>
              </a:rPr>
              <a:t>By Re-</a:t>
            </a:r>
            <a:r>
              <a:rPr lang="en-GB" b="1" dirty="0" err="1">
                <a:latin typeface="Times New Roman" pitchFamily="18" charset="0"/>
                <a:cs typeface="Times New Roman" pitchFamily="18" charset="0"/>
              </a:rPr>
              <a:t>centering</a:t>
            </a:r>
            <a:r>
              <a:rPr lang="en-GB" b="1" dirty="0">
                <a:latin typeface="Times New Roman" pitchFamily="18" charset="0"/>
                <a:cs typeface="Times New Roman" pitchFamily="18" charset="0"/>
              </a:rPr>
              <a:t> Christ</a:t>
            </a:r>
            <a:r>
              <a:rPr lang="en-GB" dirty="0">
                <a:latin typeface="Times New Roman" pitchFamily="18" charset="0"/>
                <a:cs typeface="Times New Roman" pitchFamily="18" charset="0"/>
              </a:rPr>
              <a:t>: Paul constantly pointed them back to the cross and resurrection of Jesus.</a:t>
            </a:r>
          </a:p>
          <a:p>
            <a:pPr algn="just">
              <a:buFont typeface="Arial"/>
              <a:buChar char="•"/>
            </a:pPr>
            <a:r>
              <a:rPr lang="en-GB" b="1" dirty="0">
                <a:latin typeface="Times New Roman" pitchFamily="18" charset="0"/>
                <a:cs typeface="Times New Roman" pitchFamily="18" charset="0"/>
              </a:rPr>
              <a:t>By Teaching Doctrine</a:t>
            </a:r>
            <a:r>
              <a:rPr lang="en-GB" dirty="0">
                <a:latin typeface="Times New Roman" pitchFamily="18" charset="0"/>
                <a:cs typeface="Times New Roman" pitchFamily="18" charset="0"/>
              </a:rPr>
              <a:t>: He corrected errors with strong theological arguments.</a:t>
            </a:r>
          </a:p>
          <a:p>
            <a:pPr algn="just">
              <a:buFont typeface="Arial"/>
              <a:buChar char="•"/>
            </a:pPr>
            <a:r>
              <a:rPr lang="en-GB" b="1" dirty="0">
                <a:latin typeface="Times New Roman" pitchFamily="18" charset="0"/>
                <a:cs typeface="Times New Roman" pitchFamily="18" charset="0"/>
              </a:rPr>
              <a:t>By Promoting Unity</a:t>
            </a:r>
            <a:r>
              <a:rPr lang="en-GB" dirty="0">
                <a:latin typeface="Times New Roman" pitchFamily="18" charset="0"/>
                <a:cs typeface="Times New Roman" pitchFamily="18" charset="0"/>
              </a:rPr>
              <a:t>: He emphasized that all are one body in Christ, and no one should boast over another.</a:t>
            </a:r>
          </a:p>
          <a:p>
            <a:pPr algn="just"/>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91215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Times New Roman"/>
                <a:ea typeface="Times New Roman"/>
              </a:rPr>
              <a:t>6. Practical Areas of Conflict and How to Handle Them</a:t>
            </a:r>
            <a:endParaRPr lang="en-GB" dirty="0"/>
          </a:p>
        </p:txBody>
      </p:sp>
      <p:sp>
        <p:nvSpPr>
          <p:cNvPr id="3" name="Content Placeholder 2"/>
          <p:cNvSpPr>
            <a:spLocks noGrp="1"/>
          </p:cNvSpPr>
          <p:nvPr>
            <p:ph idx="1"/>
          </p:nvPr>
        </p:nvSpPr>
        <p:spPr/>
        <p:txBody>
          <a:bodyPr>
            <a:normAutofit fontScale="70000" lnSpcReduction="20000"/>
          </a:bodyPr>
          <a:lstStyle/>
          <a:p>
            <a:pPr marL="0" indent="0">
              <a:lnSpc>
                <a:spcPct val="115000"/>
              </a:lnSpc>
              <a:spcAft>
                <a:spcPts val="1000"/>
              </a:spcAft>
              <a:buNone/>
            </a:pPr>
            <a:r>
              <a:rPr lang="en-GB" b="1" dirty="0" smtClean="0">
                <a:latin typeface="Times New Roman"/>
                <a:ea typeface="Times New Roman"/>
                <a:cs typeface="Times New Roman"/>
              </a:rPr>
              <a:t>1.In the  </a:t>
            </a:r>
            <a:r>
              <a:rPr lang="en-GB" b="1" dirty="0">
                <a:latin typeface="Times New Roman"/>
                <a:ea typeface="Times New Roman"/>
                <a:cs typeface="Times New Roman"/>
              </a:rPr>
              <a:t>Church </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dirty="0">
                <a:latin typeface="Times New Roman"/>
                <a:ea typeface="Times New Roman"/>
                <a:cs typeface="Times New Roman"/>
              </a:rPr>
              <a:t>Example: Disagreement on song selection.</a:t>
            </a:r>
            <a:br>
              <a:rPr lang="en-GB" dirty="0">
                <a:latin typeface="Times New Roman"/>
                <a:ea typeface="Times New Roman"/>
                <a:cs typeface="Times New Roman"/>
              </a:rPr>
            </a:br>
            <a:r>
              <a:rPr lang="en-GB" i="1" dirty="0">
                <a:latin typeface="Times New Roman"/>
                <a:ea typeface="Times New Roman"/>
                <a:cs typeface="Times New Roman"/>
              </a:rPr>
              <a:t>Strategy:</a:t>
            </a:r>
            <a:r>
              <a:rPr lang="en-GB" dirty="0">
                <a:latin typeface="Times New Roman"/>
                <a:ea typeface="Times New Roman"/>
                <a:cs typeface="Times New Roman"/>
              </a:rPr>
              <a:t> Create rotation, discuss in meetings.</a:t>
            </a:r>
            <a:endParaRPr lang="en-GB" sz="2800" dirty="0">
              <a:ea typeface="Calibri"/>
              <a:cs typeface="Times New Roman"/>
            </a:endParaRPr>
          </a:p>
          <a:p>
            <a:pPr marL="0" indent="0">
              <a:lnSpc>
                <a:spcPct val="115000"/>
              </a:lnSpc>
              <a:spcAft>
                <a:spcPts val="1000"/>
              </a:spcAft>
              <a:buNone/>
            </a:pPr>
            <a:r>
              <a:rPr lang="en-GB" b="1" dirty="0">
                <a:latin typeface="Times New Roman"/>
                <a:ea typeface="Times New Roman"/>
                <a:cs typeface="Times New Roman"/>
              </a:rPr>
              <a:t>2. Family Disputes</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dirty="0">
                <a:latin typeface="Times New Roman"/>
                <a:ea typeface="Times New Roman"/>
                <a:cs typeface="Times New Roman"/>
              </a:rPr>
              <a:t>Example: A couple blaming each other in front of the priest.</a:t>
            </a:r>
            <a:br>
              <a:rPr lang="en-GB" dirty="0">
                <a:latin typeface="Times New Roman"/>
                <a:ea typeface="Times New Roman"/>
                <a:cs typeface="Times New Roman"/>
              </a:rPr>
            </a:br>
            <a:r>
              <a:rPr lang="en-GB" i="1" dirty="0">
                <a:latin typeface="Times New Roman"/>
                <a:ea typeface="Times New Roman"/>
                <a:cs typeface="Times New Roman"/>
              </a:rPr>
              <a:t>Strategy:</a:t>
            </a:r>
            <a:r>
              <a:rPr lang="en-GB" dirty="0">
                <a:latin typeface="Times New Roman"/>
                <a:ea typeface="Times New Roman"/>
                <a:cs typeface="Times New Roman"/>
              </a:rPr>
              <a:t> Listen, separate sessions, give spiritual homework.</a:t>
            </a:r>
            <a:endParaRPr lang="en-GB" sz="2800" dirty="0">
              <a:ea typeface="Calibri"/>
              <a:cs typeface="Times New Roman"/>
            </a:endParaRPr>
          </a:p>
          <a:p>
            <a:pPr marL="0" indent="0">
              <a:lnSpc>
                <a:spcPct val="115000"/>
              </a:lnSpc>
              <a:spcAft>
                <a:spcPts val="1000"/>
              </a:spcAft>
              <a:buNone/>
            </a:pPr>
            <a:r>
              <a:rPr lang="en-GB" b="1" dirty="0">
                <a:latin typeface="Times New Roman"/>
                <a:ea typeface="Times New Roman"/>
                <a:cs typeface="Times New Roman"/>
              </a:rPr>
              <a:t>3. </a:t>
            </a:r>
            <a:r>
              <a:rPr lang="en-GB" b="1" dirty="0" err="1">
                <a:latin typeface="Times New Roman"/>
                <a:ea typeface="Times New Roman"/>
                <a:cs typeface="Times New Roman"/>
              </a:rPr>
              <a:t>Neighbors</a:t>
            </a:r>
            <a:r>
              <a:rPr lang="en-GB" b="1" dirty="0">
                <a:latin typeface="Times New Roman"/>
                <a:ea typeface="Times New Roman"/>
                <a:cs typeface="Times New Roman"/>
              </a:rPr>
              <a:t> Fighting Over Land</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i="1" dirty="0">
                <a:latin typeface="Times New Roman"/>
                <a:ea typeface="Times New Roman"/>
                <a:cs typeface="Times New Roman"/>
              </a:rPr>
              <a:t>Strategy:</a:t>
            </a:r>
            <a:r>
              <a:rPr lang="en-GB" dirty="0">
                <a:latin typeface="Times New Roman"/>
                <a:ea typeface="Times New Roman"/>
                <a:cs typeface="Times New Roman"/>
              </a:rPr>
              <a:t> Teach peace over possession. Refer to elders. Use Jesus’ teaching: “Blessed are the meek…”</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24239197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a:ea typeface="Times New Roman"/>
              </a:rPr>
              <a:t>Techniques of Conflict Resolution </a:t>
            </a:r>
            <a:endParaRPr lang="en-GB" dirty="0"/>
          </a:p>
        </p:txBody>
      </p:sp>
      <p:sp>
        <p:nvSpPr>
          <p:cNvPr id="3" name="Content Placeholder 2"/>
          <p:cNvSpPr>
            <a:spLocks noGrp="1"/>
          </p:cNvSpPr>
          <p:nvPr>
            <p:ph idx="1"/>
          </p:nvPr>
        </p:nvSpPr>
        <p:spPr/>
        <p:txBody>
          <a:bodyPr>
            <a:normAutofit fontScale="70000" lnSpcReduction="20000"/>
          </a:bodyPr>
          <a:lstStyle/>
          <a:p>
            <a:pPr>
              <a:lnSpc>
                <a:spcPct val="115000"/>
              </a:lnSpc>
              <a:spcAft>
                <a:spcPts val="1000"/>
              </a:spcAft>
            </a:pPr>
            <a:r>
              <a:rPr lang="en-GB" b="1" dirty="0">
                <a:latin typeface="Times New Roman"/>
                <a:ea typeface="Times New Roman"/>
                <a:cs typeface="Times New Roman"/>
              </a:rPr>
              <a:t>1. Active Listening</a:t>
            </a:r>
            <a:endParaRPr lang="en-GB" sz="2800" dirty="0">
              <a:ea typeface="Calibri"/>
              <a:cs typeface="Times New Roman"/>
            </a:endParaRPr>
          </a:p>
          <a:p>
            <a:pPr>
              <a:lnSpc>
                <a:spcPct val="115000"/>
              </a:lnSpc>
              <a:spcAft>
                <a:spcPts val="1000"/>
              </a:spcAft>
            </a:pPr>
            <a:r>
              <a:rPr lang="en-GB" i="1" dirty="0">
                <a:latin typeface="Times New Roman"/>
                <a:ea typeface="Times New Roman"/>
                <a:cs typeface="Times New Roman"/>
              </a:rPr>
              <a:t>James 1:19</a:t>
            </a:r>
            <a:r>
              <a:rPr lang="en-GB" dirty="0">
                <a:latin typeface="Times New Roman"/>
                <a:ea typeface="Times New Roman"/>
                <a:cs typeface="Times New Roman"/>
              </a:rPr>
              <a:t> – “Let every person be quick to hear, slow to speak, slow to anger.”</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What it is</a:t>
            </a:r>
            <a:r>
              <a:rPr lang="en-GB" dirty="0">
                <a:latin typeface="Times New Roman"/>
                <a:ea typeface="Times New Roman"/>
                <a:cs typeface="Times New Roman"/>
              </a:rPr>
              <a:t>: Fully listening to both parties without interrupting.</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Priest’s Role</a:t>
            </a:r>
            <a:r>
              <a:rPr lang="en-GB" dirty="0">
                <a:latin typeface="Times New Roman"/>
                <a:ea typeface="Times New Roman"/>
                <a:cs typeface="Times New Roman"/>
              </a:rPr>
              <a:t>: Be an impartial listener. Repeat what each person says to confirm understanding.</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Example</a:t>
            </a:r>
            <a:r>
              <a:rPr lang="en-GB" dirty="0">
                <a:latin typeface="Times New Roman"/>
                <a:ea typeface="Times New Roman"/>
                <a:cs typeface="Times New Roman"/>
              </a:rPr>
              <a:t>: A married couple arguing—each thinks they’re not being heard. The priest creates a space where both feel safe to speak.</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694267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pPr marL="0" indent="0">
              <a:lnSpc>
                <a:spcPct val="115000"/>
              </a:lnSpc>
              <a:spcAft>
                <a:spcPts val="1000"/>
              </a:spcAft>
              <a:buNone/>
            </a:pPr>
            <a:r>
              <a:rPr lang="en-GB" b="1" dirty="0">
                <a:latin typeface="Times New Roman"/>
                <a:ea typeface="Times New Roman"/>
                <a:cs typeface="Times New Roman"/>
              </a:rPr>
              <a:t>2. Mediation</a:t>
            </a:r>
            <a:endParaRPr lang="en-GB" sz="2800" dirty="0">
              <a:ea typeface="Calibri"/>
              <a:cs typeface="Times New Roman"/>
            </a:endParaRPr>
          </a:p>
          <a:p>
            <a:pPr>
              <a:lnSpc>
                <a:spcPct val="115000"/>
              </a:lnSpc>
              <a:spcAft>
                <a:spcPts val="1000"/>
              </a:spcAft>
            </a:pPr>
            <a:r>
              <a:rPr lang="en-GB" i="1" dirty="0">
                <a:latin typeface="Times New Roman"/>
                <a:ea typeface="Times New Roman"/>
                <a:cs typeface="Times New Roman"/>
              </a:rPr>
              <a:t>Matthew 18:15–16</a:t>
            </a:r>
            <a:r>
              <a:rPr lang="en-GB" dirty="0">
                <a:latin typeface="Times New Roman"/>
                <a:ea typeface="Times New Roman"/>
                <a:cs typeface="Times New Roman"/>
              </a:rPr>
              <a:t> – “If your brother sins against you… take one or two others along…”</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What it is</a:t>
            </a:r>
            <a:r>
              <a:rPr lang="en-GB" dirty="0">
                <a:latin typeface="Times New Roman"/>
                <a:ea typeface="Times New Roman"/>
                <a:cs typeface="Times New Roman"/>
              </a:rPr>
              <a:t>: A neutral third party helps both sides reach an agreement.</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Priest’s Role</a:t>
            </a:r>
            <a:r>
              <a:rPr lang="en-GB" dirty="0">
                <a:latin typeface="Times New Roman"/>
                <a:ea typeface="Times New Roman"/>
                <a:cs typeface="Times New Roman"/>
              </a:rPr>
              <a:t>: As mediator, guide the conversation with humility and fairness.</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Example</a:t>
            </a:r>
            <a:r>
              <a:rPr lang="en-GB" dirty="0">
                <a:latin typeface="Times New Roman"/>
                <a:ea typeface="Times New Roman"/>
                <a:cs typeface="Times New Roman"/>
              </a:rPr>
              <a:t>: Conflict between choir leaders about rehearsal times—invite both to meet and mediate calmly.</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7797792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15000"/>
              </a:lnSpc>
              <a:spcAft>
                <a:spcPts val="1000"/>
              </a:spcAft>
            </a:pPr>
            <a:r>
              <a:rPr lang="en-GB" b="1" dirty="0">
                <a:latin typeface="Times New Roman"/>
                <a:ea typeface="Times New Roman"/>
                <a:cs typeface="Times New Roman"/>
              </a:rPr>
              <a:t>3. Reconciliation and Forgiveness</a:t>
            </a:r>
            <a:endParaRPr lang="en-GB" sz="4000" dirty="0">
              <a:ea typeface="Calibri"/>
              <a:cs typeface="Times New Roman"/>
            </a:endParaRPr>
          </a:p>
        </p:txBody>
      </p:sp>
      <p:sp>
        <p:nvSpPr>
          <p:cNvPr id="3" name="Content Placeholder 2"/>
          <p:cNvSpPr>
            <a:spLocks noGrp="1"/>
          </p:cNvSpPr>
          <p:nvPr>
            <p:ph idx="1"/>
          </p:nvPr>
        </p:nvSpPr>
        <p:spPr/>
        <p:txBody>
          <a:bodyPr>
            <a:normAutofit fontScale="92500" lnSpcReduction="20000"/>
          </a:bodyPr>
          <a:lstStyle/>
          <a:p>
            <a:pPr>
              <a:lnSpc>
                <a:spcPct val="115000"/>
              </a:lnSpc>
              <a:spcAft>
                <a:spcPts val="1000"/>
              </a:spcAft>
            </a:pPr>
            <a:r>
              <a:rPr lang="en-GB" i="1" dirty="0">
                <a:latin typeface="Times New Roman"/>
                <a:ea typeface="Times New Roman"/>
                <a:cs typeface="Times New Roman"/>
              </a:rPr>
              <a:t>Matthew 5:23–24</a:t>
            </a:r>
            <a:r>
              <a:rPr lang="en-GB" dirty="0">
                <a:latin typeface="Times New Roman"/>
                <a:ea typeface="Times New Roman"/>
                <a:cs typeface="Times New Roman"/>
              </a:rPr>
              <a:t> – Reconcile before offering your gift at the altar.</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What it is</a:t>
            </a:r>
            <a:r>
              <a:rPr lang="en-GB" dirty="0">
                <a:latin typeface="Times New Roman"/>
                <a:ea typeface="Times New Roman"/>
                <a:cs typeface="Times New Roman"/>
              </a:rPr>
              <a:t>: The goal is restored relationships, not just silence or “winning.”</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Priest’s Role</a:t>
            </a:r>
            <a:r>
              <a:rPr lang="en-GB" dirty="0">
                <a:latin typeface="Times New Roman"/>
                <a:ea typeface="Times New Roman"/>
                <a:cs typeface="Times New Roman"/>
              </a:rPr>
              <a:t>: Teach forgiveness and help both sides confess their faults.</a:t>
            </a:r>
            <a:endParaRPr lang="en-GB" sz="2800" dirty="0">
              <a:ea typeface="Calibri"/>
              <a:cs typeface="Times New Roman"/>
            </a:endParaRPr>
          </a:p>
          <a:p>
            <a:r>
              <a:rPr lang="en-GB" b="1" dirty="0">
                <a:latin typeface="Times New Roman"/>
                <a:ea typeface="Times New Roman"/>
              </a:rPr>
              <a:t>Example</a:t>
            </a:r>
            <a:r>
              <a:rPr lang="en-GB" dirty="0">
                <a:latin typeface="Times New Roman"/>
                <a:ea typeface="Times New Roman"/>
              </a:rPr>
              <a:t>: A parishioner insulted another in public—guide them to apologize and bless each other</a:t>
            </a:r>
            <a:endParaRPr lang="en-GB" dirty="0"/>
          </a:p>
        </p:txBody>
      </p:sp>
    </p:spTree>
    <p:extLst>
      <p:ext uri="{BB962C8B-B14F-4D97-AF65-F5344CB8AC3E}">
        <p14:creationId xmlns:p14="http://schemas.microsoft.com/office/powerpoint/2010/main" val="1567452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15000"/>
              </a:lnSpc>
              <a:spcAft>
                <a:spcPts val="1000"/>
              </a:spcAft>
            </a:pPr>
            <a:r>
              <a:rPr lang="en-GB" b="1" dirty="0">
                <a:latin typeface="Times New Roman"/>
                <a:ea typeface="Times New Roman"/>
                <a:cs typeface="Times New Roman"/>
              </a:rPr>
              <a:t>4. Collaborative Problem Solving</a:t>
            </a:r>
            <a:endParaRPr lang="en-GB" sz="4000" dirty="0">
              <a:ea typeface="Calibri"/>
              <a:cs typeface="Times New Roman"/>
            </a:endParaRPr>
          </a:p>
        </p:txBody>
      </p:sp>
      <p:sp>
        <p:nvSpPr>
          <p:cNvPr id="3" name="Content Placeholder 2"/>
          <p:cNvSpPr>
            <a:spLocks noGrp="1"/>
          </p:cNvSpPr>
          <p:nvPr>
            <p:ph idx="1"/>
          </p:nvPr>
        </p:nvSpPr>
        <p:spPr/>
        <p:txBody>
          <a:bodyPr>
            <a:normAutofit lnSpcReduction="10000"/>
          </a:bodyPr>
          <a:lstStyle/>
          <a:p>
            <a:pPr algn="just">
              <a:lnSpc>
                <a:spcPct val="115000"/>
              </a:lnSpc>
              <a:spcAft>
                <a:spcPts val="1000"/>
              </a:spcAft>
            </a:pPr>
            <a:r>
              <a:rPr lang="en-GB" i="1" dirty="0">
                <a:latin typeface="Times New Roman"/>
                <a:ea typeface="Times New Roman"/>
                <a:cs typeface="Times New Roman"/>
              </a:rPr>
              <a:t>Isaiah 1:18</a:t>
            </a:r>
            <a:r>
              <a:rPr lang="en-GB" dirty="0">
                <a:latin typeface="Times New Roman"/>
                <a:ea typeface="Times New Roman"/>
                <a:cs typeface="Times New Roman"/>
              </a:rPr>
              <a:t> – “Come now, let us reason together…”</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What it is</a:t>
            </a:r>
            <a:r>
              <a:rPr lang="en-GB" dirty="0">
                <a:latin typeface="Times New Roman"/>
                <a:ea typeface="Times New Roman"/>
                <a:cs typeface="Times New Roman"/>
              </a:rPr>
              <a:t>: Both parties work together to find a win-win solution.</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Priest’s Role</a:t>
            </a:r>
            <a:r>
              <a:rPr lang="en-GB" dirty="0">
                <a:latin typeface="Times New Roman"/>
                <a:ea typeface="Times New Roman"/>
                <a:cs typeface="Times New Roman"/>
              </a:rPr>
              <a:t>: Help them define the problem, identify shared goals, and suggest compromise.</a:t>
            </a:r>
            <a:endParaRPr lang="en-GB" sz="2800" dirty="0">
              <a:ea typeface="Calibri"/>
              <a:cs typeface="Times New Roman"/>
            </a:endParaRPr>
          </a:p>
          <a:p>
            <a:pPr lvl="0">
              <a:lnSpc>
                <a:spcPct val="115000"/>
              </a:lnSpc>
              <a:spcAft>
                <a:spcPts val="1000"/>
              </a:spcAft>
              <a:buSzPts val="1000"/>
              <a:buFont typeface="Symbol"/>
              <a:buChar char=""/>
              <a:tabLst>
                <a:tab pos="457200" algn="l"/>
              </a:tabLst>
            </a:pPr>
            <a:endParaRPr lang="en-GB" sz="2800" dirty="0">
              <a:ea typeface="Calibri"/>
              <a:cs typeface="Times New Roman"/>
            </a:endParaRPr>
          </a:p>
          <a:p>
            <a:endParaRPr lang="en-GB" dirty="0"/>
          </a:p>
        </p:txBody>
      </p:sp>
    </p:spTree>
    <p:extLst>
      <p:ext uri="{BB962C8B-B14F-4D97-AF65-F5344CB8AC3E}">
        <p14:creationId xmlns:p14="http://schemas.microsoft.com/office/powerpoint/2010/main" val="4232655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nSpc>
                <a:spcPct val="115000"/>
              </a:lnSpc>
              <a:spcAft>
                <a:spcPts val="1000"/>
              </a:spcAft>
              <a:buNone/>
            </a:pPr>
            <a:r>
              <a:rPr lang="en-GB" b="1" dirty="0">
                <a:latin typeface="Times New Roman"/>
                <a:ea typeface="Times New Roman"/>
                <a:cs typeface="Times New Roman"/>
              </a:rPr>
              <a:t>5. Negotiation</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What it is</a:t>
            </a:r>
            <a:r>
              <a:rPr lang="en-GB" dirty="0">
                <a:latin typeface="Times New Roman"/>
                <a:ea typeface="Times New Roman"/>
                <a:cs typeface="Times New Roman"/>
              </a:rPr>
              <a:t>: A structured discussion to reach an agreement.</a:t>
            </a:r>
            <a:endParaRPr lang="en-GB" sz="2800" dirty="0">
              <a:ea typeface="Calibri"/>
              <a:cs typeface="Times New Roman"/>
            </a:endParaRPr>
          </a:p>
          <a:p>
            <a:pPr lvl="0">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Priest’s Role</a:t>
            </a:r>
            <a:r>
              <a:rPr lang="en-GB" dirty="0">
                <a:latin typeface="Times New Roman"/>
                <a:ea typeface="Times New Roman"/>
                <a:cs typeface="Times New Roman"/>
              </a:rPr>
              <a:t>: Set ground rules, keep emotions in check, encourage humility</a:t>
            </a:r>
            <a:r>
              <a:rPr lang="en-GB" dirty="0" smtClean="0">
                <a:latin typeface="Times New Roman"/>
                <a:ea typeface="Times New Roman"/>
                <a:cs typeface="Times New Roman"/>
              </a:rPr>
              <a:t>.</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5637256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Times New Roman" pitchFamily="18" charset="0"/>
                <a:cs typeface="Times New Roman" pitchFamily="18" charset="0"/>
              </a:rPr>
              <a:t>Conclusion</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ctr">
              <a:lnSpc>
                <a:spcPct val="115000"/>
              </a:lnSpc>
              <a:spcAft>
                <a:spcPts val="0"/>
              </a:spcAft>
            </a:pPr>
            <a:r>
              <a:rPr lang="en-US" b="1" dirty="0">
                <a:latin typeface="Times New Roman"/>
                <a:ea typeface="Calibri"/>
                <a:cs typeface="Times New Roman"/>
              </a:rPr>
              <a:t>Clergy's Roles</a:t>
            </a:r>
            <a:endParaRPr lang="en-GB" sz="2800" dirty="0">
              <a:ea typeface="Calibri"/>
              <a:cs typeface="Times New Roman"/>
            </a:endParaRPr>
          </a:p>
          <a:p>
            <a:pPr lvl="0">
              <a:lnSpc>
                <a:spcPct val="115000"/>
              </a:lnSpc>
              <a:buFont typeface="Wingdings"/>
              <a:buChar char=""/>
            </a:pPr>
            <a:r>
              <a:rPr lang="en-CA" dirty="0">
                <a:latin typeface="Times New Roman"/>
                <a:ea typeface="Times New Roman"/>
                <a:cs typeface="Times New Roman"/>
              </a:rPr>
              <a:t>Mediation </a:t>
            </a:r>
            <a:endParaRPr lang="en-GB" sz="2800" dirty="0">
              <a:ea typeface="Times New Roman"/>
              <a:cs typeface="Times New Roman"/>
            </a:endParaRPr>
          </a:p>
          <a:p>
            <a:pPr lvl="0">
              <a:lnSpc>
                <a:spcPct val="115000"/>
              </a:lnSpc>
              <a:buFont typeface="Wingdings"/>
              <a:buChar char=""/>
            </a:pPr>
            <a:r>
              <a:rPr lang="en-CA" dirty="0">
                <a:latin typeface="Times New Roman"/>
                <a:ea typeface="Times New Roman"/>
                <a:cs typeface="Times New Roman"/>
              </a:rPr>
              <a:t>Spiritual Counselling </a:t>
            </a:r>
            <a:endParaRPr lang="en-GB" sz="2800" dirty="0">
              <a:ea typeface="Times New Roman"/>
              <a:cs typeface="Times New Roman"/>
            </a:endParaRPr>
          </a:p>
          <a:p>
            <a:pPr lvl="0">
              <a:lnSpc>
                <a:spcPct val="115000"/>
              </a:lnSpc>
              <a:buFont typeface="Wingdings"/>
              <a:buChar char=""/>
            </a:pPr>
            <a:r>
              <a:rPr lang="en-CA" dirty="0">
                <a:latin typeface="Times New Roman"/>
                <a:ea typeface="Times New Roman"/>
                <a:cs typeface="Times New Roman"/>
              </a:rPr>
              <a:t>Teaching Peace </a:t>
            </a:r>
            <a:endParaRPr lang="en-GB" sz="2800" dirty="0">
              <a:ea typeface="Times New Roman"/>
              <a:cs typeface="Times New Roman"/>
            </a:endParaRPr>
          </a:p>
          <a:p>
            <a:pPr lvl="0">
              <a:lnSpc>
                <a:spcPct val="115000"/>
              </a:lnSpc>
              <a:buFont typeface="Wingdings"/>
              <a:buChar char=""/>
            </a:pPr>
            <a:r>
              <a:rPr lang="en-CA" dirty="0">
                <a:latin typeface="Times New Roman"/>
                <a:ea typeface="Times New Roman"/>
                <a:cs typeface="Times New Roman"/>
              </a:rPr>
              <a:t>Scriptural Guidance </a:t>
            </a:r>
            <a:endParaRPr lang="en-GB" sz="2800" dirty="0">
              <a:ea typeface="Times New Roman"/>
              <a:cs typeface="Times New Roman"/>
            </a:endParaRPr>
          </a:p>
          <a:p>
            <a:pPr lvl="0">
              <a:lnSpc>
                <a:spcPct val="115000"/>
              </a:lnSpc>
              <a:buFont typeface="Wingdings"/>
              <a:buChar char=""/>
            </a:pPr>
            <a:r>
              <a:rPr lang="en-CA" dirty="0">
                <a:latin typeface="Times New Roman"/>
                <a:ea typeface="Times New Roman"/>
                <a:cs typeface="Times New Roman"/>
              </a:rPr>
              <a:t>Community Mobilization</a:t>
            </a:r>
            <a:endParaRPr lang="en-GB" sz="2800" dirty="0">
              <a:ea typeface="Times New Roman"/>
              <a:cs typeface="Times New Roman"/>
            </a:endParaRPr>
          </a:p>
          <a:p>
            <a:pPr lvl="0">
              <a:lnSpc>
                <a:spcPct val="115000"/>
              </a:lnSpc>
              <a:buFont typeface="Wingdings"/>
              <a:buChar char=""/>
            </a:pPr>
            <a:r>
              <a:rPr lang="en-CA" dirty="0">
                <a:latin typeface="Times New Roman"/>
                <a:ea typeface="Times New Roman"/>
                <a:cs typeface="Times New Roman"/>
              </a:rPr>
              <a:t>Praying</a:t>
            </a:r>
            <a:endParaRPr lang="en-GB" sz="2800" dirty="0">
              <a:ea typeface="Times New Roman"/>
              <a:cs typeface="Times New Roman"/>
            </a:endParaRPr>
          </a:p>
          <a:p>
            <a:endParaRPr lang="en-GB" dirty="0"/>
          </a:p>
        </p:txBody>
      </p:sp>
    </p:spTree>
    <p:extLst>
      <p:ext uri="{BB962C8B-B14F-4D97-AF65-F5344CB8AC3E}">
        <p14:creationId xmlns:p14="http://schemas.microsoft.com/office/powerpoint/2010/main" val="4253917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663</TotalTime>
  <Words>2392</Words>
  <Application>Microsoft Office PowerPoint</Application>
  <PresentationFormat>On-screen Show (4:3)</PresentationFormat>
  <Paragraphs>221</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CHAPTER FIVE</vt:lpstr>
      <vt:lpstr>1. Introduction: The Mystery and Responsibility of Priesthood</vt:lpstr>
      <vt:lpstr>2. Characteristics of a Good Priest </vt:lpstr>
      <vt:lpstr>PowerPoint Presentation</vt:lpstr>
      <vt:lpstr>B. In Church Tradition (Ethiopian Orthodox and Patristic) </vt:lpstr>
      <vt:lpstr>3. Spiritual and Moral Dangers in Priesthood </vt:lpstr>
      <vt:lpstr>PowerPoint Presentation</vt:lpstr>
      <vt:lpstr> Faithful vs Unfaithful Priests </vt:lpstr>
      <vt:lpstr>PowerPoint Presentation</vt:lpstr>
      <vt:lpstr>5. Maintaining Holiness and Avoiding Corruption </vt:lpstr>
      <vt:lpstr>PowerPoint Presentation</vt:lpstr>
      <vt:lpstr>የቀሳውስት ተግባርና ሥልጣን </vt:lpstr>
      <vt:lpstr>ትእዛዘ ቀሳውስት </vt:lpstr>
      <vt:lpstr>PowerPoint Presentation</vt:lpstr>
      <vt:lpstr>ቀሳውስት ከሹመት የሚሻሩበት ሥርዓት  </vt:lpstr>
      <vt:lpstr>PowerPoint Presentation</vt:lpstr>
      <vt:lpstr>PowerPoint Presentation</vt:lpstr>
      <vt:lpstr>PowerPoint Presentation</vt:lpstr>
      <vt:lpstr>PowerPoint Presentation</vt:lpstr>
      <vt:lpstr>CHAPTER SIX</vt:lpstr>
      <vt:lpstr>What is Conflict? </vt:lpstr>
      <vt:lpstr>Causes of Conflict</vt:lpstr>
      <vt:lpstr>PowerPoint Presentation</vt:lpstr>
      <vt:lpstr>Conflict in the Bible and the Early Church </vt:lpstr>
      <vt:lpstr> </vt:lpstr>
      <vt:lpstr>Conflict Resolution</vt:lpstr>
      <vt:lpstr>Methods: </vt:lpstr>
      <vt:lpstr>PowerPoint Presentation</vt:lpstr>
      <vt:lpstr>5. The Priest’s Role in Conflict Resolution  A/ Mediation</vt:lpstr>
      <vt:lpstr>2/ Sexual Immorality (1 Corinthians 5:1–13; 6:12–20) </vt:lpstr>
      <vt:lpstr>4/ Disorder in Worship and the Lord’s Supper (1 Corinthians 11:17–34) </vt:lpstr>
      <vt:lpstr>6/ Doubts about the Resurrection (1 Corinthians 15) </vt:lpstr>
      <vt:lpstr>6. Practical Areas of Conflict and How to Handle Them</vt:lpstr>
      <vt:lpstr>Techniques of Conflict Resolution </vt:lpstr>
      <vt:lpstr>PowerPoint Presentation</vt:lpstr>
      <vt:lpstr>3. Reconciliation and Forgiveness</vt:lpstr>
      <vt:lpstr>4. Collaborative Problem Solving</vt:lpstr>
      <vt:lpstr>PowerPoint Presentation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FIVE</dc:title>
  <dc:creator>Windows User</dc:creator>
  <cp:lastModifiedBy>Windows User</cp:lastModifiedBy>
  <cp:revision>28</cp:revision>
  <dcterms:created xsi:type="dcterms:W3CDTF">2025-05-03T00:57:23Z</dcterms:created>
  <dcterms:modified xsi:type="dcterms:W3CDTF">2025-05-13T02:50:22Z</dcterms:modified>
</cp:coreProperties>
</file>